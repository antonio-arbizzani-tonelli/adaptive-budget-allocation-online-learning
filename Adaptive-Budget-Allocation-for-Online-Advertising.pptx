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black"/>
                </a:solidFill>
                <a:latin typeface="Aptos"/>
                <a:ea typeface="Aptos"/>
                <a:cs typeface="Aptos"/>
              </a:rPr>
              <a:t>Buongiorno, presentiamo il progetto di Online Learning Applications sul budget-constrained online bidding. Un'agenzia pubblicitaria deve fare offerte in aste first-price round dopo round, imparando dal feedback delle aste e rispettando un budget limitato. La presentazione copre i quattro requisiti: per ognuno mostriamo la versione allineata ai lab, la diagnosi dei suoi limiti e un'estensione mirata, sempre a parità di ambiente e seed.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black"/>
                </a:solidFill>
                <a:latin typeface="Aptos"/>
                <a:ea typeface="Aptos"/>
                <a:cs typeface="Aptos"/>
              </a:rPr>
              <a:t>Il modello è quello della consegna. A ogni round scegliamo una bid per campagna; per ogni campagna l'incertezza è riassunta dalla highest competing bid m. Se la nostra bid la supera vinciamo, otteniamo utility v meno b e paghiamo b: bid più alte vincono di più ma consumano più budget. Il vincolo di budget è globale sull'orizzonte, con rate per round rho uguale a B su T. Nei requisiti multi-campagna entra il conflict graph: campagne in conflitto non possono avere bid positive nello stesso round, quindi la scelta diventa una super-azione combinatoria.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black"/>
                </a:solidFill>
                <a:latin typeface="Aptos"/>
                <a:ea typeface="Aptos"/>
                <a:cs typeface="Aptos"/>
              </a:rPr>
              <a:t>Il metodo di lavoro è lo stesso per tutti e quattro i requisiti. Partiamo sempre da una versione lab-aligned, costruita con gli strumenti del corso. Poi guardiamo i risultati onestamente, non solo il numero finale ma il comportamento nel tempo, e individuiamo dove l'algoritmo è conservativo. Introduciamo quindi un'estensione mirata e minimale, dichiarando esplicitamente ogni metodo fuori corso. Infine ogni scelta è difesa con un'ablation a parità di ambiente e di seed: si cambia una cosa sola alla volta.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black"/>
                </a:solidFill>
                <a:latin typeface="Aptos"/>
                <a:ea typeface="Aptos"/>
                <a:cs typeface="Aptos"/>
              </a:rPr>
              <a:t>Il requisito 1 è il caso più controllato: una sola campagna, ambiente stocastico. La highest competing bid è il massimo di tre competitor uniformi, quindi la probabilità di vincere con bid b è b al cubo: per bid basse le vittorie sono rare, e questo guiderà tutta la discussione. Budget 125 su 5000 round, quindi rho 0.025: il vincolo è attivo. Il benchmark è il clairvoyant del corso: un LP che conosce la distribuzione e mixa quasi tutto sul bid 0.4, con reward atteso circa 0.0126 per round. Il requisito chiede due algoritmi: UCB1 che ignora il budget e un'estensione UCB-like con il vincolo gestito da un LP.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black"/>
                </a:solidFill>
                <a:latin typeface="Aptos"/>
                <a:ea typeface="Aptos"/>
                <a:cs typeface="Aptos"/>
              </a:rPr>
              <a:t>Questo è il risultato onesto della versione base: le curve dei due learner sono quasi sovrapposte, regret finale 40.2 contro 39.6. Non è un errore: è il comportamento atteso. Gli intervalli di Hoeffding su reward e costo restano larghi per tutto l'orizzonte, e il lower bound sul costo viene troncato a zero perché i costi non possono essere negativi. Quindi il vincolo dell'LP è quasi sempre non informativo e il learner budgeted collassa su UCB1. Entrambi esauriscono il budget prima della fine, giocano bid nulla in circa un terzo dei round e chiudono al 36 percento del clairvoyant. La diagnosi: il collo di bottiglia non è la stima dei reward ma la gestione del budget.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black"/>
                </a:solidFill>
                <a:latin typeface="Aptos"/>
                <a:ea typeface="Aptos"/>
                <a:cs typeface="Aptos"/>
              </a:rPr>
              <a:t>L'estensione cambia solo il learner budgeted, in tre punti. Primo: a bid fissata, reward e costo dipendono solo dall'esito binario dell'asta, quindi stimiamo una cosa sola, la probabilità di vittoria, e ricaviamo reward e costo attesi. Il feedback è esattamente Bernoulli. Secondo: sostituiamo Hoeffding con il bound KL, che dichiariamo come metodo fuori corso. Il punto è che le probabilità rilevanti sono piccole, 0.027 a bid 0.3, e lì Hoeffding satura a uno: il reward ottimista ordina le bid al contrario. Il bound KL sfrutta la varianza Bernoulli che va a zero vicino agli estremi e si stringe proprio dove serve. Terzo: filtro di pagabilità, una bid è giocabile solo se il budget residuo la copre. Tutto il resto, LP, rho fisso, seed, è invariato. Avevamo provato anche il pacing dinamico: qui non cambia nulla e lo abbiamo tolto per tenere la modifica minima.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black"/>
                </a:solidFill>
                <a:latin typeface="Aptos"/>
                <a:ea typeface="Aptos"/>
                <a:cs typeface="Aptos"/>
              </a:rPr>
              <a:t>Il cambio di comportamento è netto. Il regret finale passa da 40.2 a 11.4, dal 36 all'82 percento del clairvoyant. La spesa segue il budget fino a fine orizzonte, 123 su 125, e la distribuzione delle bid si concentra attorno alla mixture del clairvoyant: bid 0.4 giocata in circa metà dei round. L'ablation risponde alla domanda naturale: il guadagno viene dal bound o dal filtro? A parità di tutto, cambiando solo il bound, KL chiude a 11.4 mentre Hoeffding a 35.7 e spende solo 45 su 125: insiste su bid troppo basse, vince poco e non riesce a spendere. Il driver è il bound KL. Il risultato è stabile ripetendo l'esperimento con T mille, tremila e cinquemila a parità di rho.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 u="none" kern="1200" cap="none" spc="0" baseline="0">
              <a:ln>
                <a:noFill/>
              </a:ln>
              <a:solidFill>
                <a:prstClr val="black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 u="none" kern="1200" cap="none" spc="0" baseline="0">
              <a:ln>
                <a:noFill/>
              </a:ln>
              <a:solidFill>
                <a:prstClr val="black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 u="none" kern="1200" cap="none" spc="0" baseline="0">
              <a:ln>
                <a:noFill/>
              </a:ln>
              <a:solidFill>
                <a:prstClr val="black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 u="none" kern="1200" cap="none" spc="0" baseline="0">
              <a:ln>
                <a:noFill/>
              </a:ln>
              <a:solidFill>
                <a:prstClr val="black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 u="none" kern="1200" cap="none" spc="0" baseline="0">
              <a:ln>
                <a:noFill/>
              </a:ln>
              <a:solidFill>
                <a:prstClr val="black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 u="none" kern="1200" cap="none" spc="0" baseline="0">
              <a:ln>
                <a:noFill/>
              </a:ln>
              <a:solidFill>
                <a:prstClr val="black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 u="none" kern="1200" cap="none" spc="0" baseline="0">
              <a:ln>
                <a:noFill/>
              </a:ln>
              <a:solidFill>
                <a:prstClr val="black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 u="none" kern="1200" cap="none" spc="0" baseline="0">
              <a:ln>
                <a:noFill/>
              </a:ln>
              <a:solidFill>
                <a:prstClr val="black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 u="none" kern="1200" cap="none" spc="0" baseline="0">
              <a:ln>
                <a:noFill/>
              </a:ln>
              <a:solidFill>
                <a:prstClr val="black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 u="none" kern="1200" cap="none" spc="0" baseline="0">
              <a:ln>
                <a:noFill/>
              </a:ln>
              <a:solidFill>
                <a:prstClr val="black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FE2088-ED2F-4946-BFE4-180D81823EE8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5104638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9FB4CC"/>
                </a:solidFill>
                <a:latin typeface="IBM Plex Mono"/>
                <a:ea typeface="IBM Plex Mono"/>
                <a:cs typeface="IBM Plex Mono"/>
              </a:rPr>
              <a:t>POLITECNICO DI MILANO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9A9283-2AB2-40D4-90F1-4201EF6E8E7B}"/>
              </a:ext>
            </a:extLst>
          </p:cNvPr>
          <p:cNvSpPr>
            <a:spLocks noGrp="1"/>
          </p:cNvSpPr>
          <p:nvPr/>
        </p:nvSpPr>
        <p:spPr>
          <a:xfrm>
            <a:off x="14020800" y="762000"/>
            <a:ext cx="364617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9FB4CC"/>
                </a:solidFill>
                <a:latin typeface="IBM Plex Mono"/>
                <a:ea typeface="IBM Plex Mono"/>
                <a:cs typeface="IBM Plex Mono"/>
              </a:rPr>
              <a:t>ONLINE LEARNING PROJECT</a:t>
            </a:r>
            <a:endParaRPr sz="18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4A510D-B0DC-4D65-A5D7-7D6E58E204DD}"/>
              </a:ext>
            </a:extLst>
          </p:cNvPr>
          <p:cNvSpPr>
            <a:spLocks noGrp="1"/>
          </p:cNvSpPr>
          <p:nvPr/>
        </p:nvSpPr>
        <p:spPr>
          <a:xfrm>
            <a:off x="952500" y="3138488"/>
            <a:ext cx="838200" cy="76200"/>
          </a:xfrm>
          <a:prstGeom prst="rect">
            <a:avLst/>
          </a:prstGeom>
          <a:solidFill>
            <a:srgbClr val="C65D3B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223C59-EEB1-4823-AE3F-564C7116192F}"/>
              </a:ext>
            </a:extLst>
          </p:cNvPr>
          <p:cNvSpPr>
            <a:spLocks noGrp="1"/>
          </p:cNvSpPr>
          <p:nvPr/>
        </p:nvSpPr>
        <p:spPr>
          <a:xfrm>
            <a:off x="952500" y="3557588"/>
            <a:ext cx="13735050" cy="19583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0282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sz="7200" b="1" spc="-75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Adaptive Budget Allocation for Online Advertising</a:t>
            </a:r>
            <a:endParaRPr sz="7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5F1795-0A92-4468-9A42-1D9D33F878C4}"/>
              </a:ext>
            </a:extLst>
          </p:cNvPr>
          <p:cNvSpPr>
            <a:spLocks noGrp="1"/>
          </p:cNvSpPr>
          <p:nvPr/>
        </p:nvSpPr>
        <p:spPr>
          <a:xfrm>
            <a:off x="952500" y="5820728"/>
            <a:ext cx="12263438" cy="97726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2550">
                <a:solidFill>
                  <a:srgbClr val="B9C8DA"/>
                </a:solidFill>
                <a:latin typeface="IBM Plex Sans"/>
                <a:ea typeface="IBM Plex Sans"/>
                <a:cs typeface="IBM Plex Sans"/>
              </a:rPr>
              <a:t>Learning to bid under a hard budget as campaign scale and market dynamics evolve</a:t>
            </a:r>
            <a:endParaRPr sz="25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82082C-1416-4E40-9088-66641126DD05}"/>
              </a:ext>
            </a:extLst>
          </p:cNvPr>
          <p:cNvSpPr>
            <a:spLocks noGrp="1"/>
          </p:cNvSpPr>
          <p:nvPr/>
        </p:nvSpPr>
        <p:spPr>
          <a:xfrm>
            <a:off x="952499" y="8839200"/>
            <a:ext cx="13735049" cy="426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Project team: Arbizzani Tonelli Antonio, Arisi Leonardo, Berra Claudia, Di Paolo Gaia.</a:t>
            </a:r>
            <a:endParaRPr sz="21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0593F93-689E-4F18-B542-A9F0C46F9135}"/>
              </a:ext>
            </a:extLst>
          </p:cNvPr>
          <p:cNvSpPr>
            <a:spLocks noGrp="1"/>
          </p:cNvSpPr>
          <p:nvPr/>
        </p:nvSpPr>
        <p:spPr>
          <a:xfrm>
            <a:off x="952500" y="9265920"/>
            <a:ext cx="7598938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9FB4CC"/>
                </a:solidFill>
                <a:latin typeface="IBM Plex Sans"/>
                <a:ea typeface="IBM Plex Sans"/>
                <a:cs typeface="IBM Plex Sans"/>
              </a:rPr>
              <a:t>A controlled study of learning, budget pacing, and adaptation</a:t>
            </a:r>
            <a:endParaRPr sz="1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66CDE20-B8BD-42B7-ABCE-7111123D7E71}"/>
              </a:ext>
            </a:extLst>
          </p:cNvPr>
          <p:cNvSpPr>
            <a:spLocks noGrp="1"/>
          </p:cNvSpPr>
          <p:nvPr/>
        </p:nvSpPr>
        <p:spPr>
          <a:xfrm>
            <a:off x="16101060" y="9265920"/>
            <a:ext cx="1357884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9FB4CC"/>
                </a:solidFill>
                <a:latin typeface="IBM Plex Mono"/>
                <a:ea typeface="IBM Plex Mono"/>
                <a:cs typeface="IBM Plex Mono"/>
              </a:rPr>
              <a:t>2026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0659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0F528C-EA74-4D74-BAF8-2FCF9CB10953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PROBLEM DEFINITION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E5EE86-EC76-4850-BCBE-BF8B7A224BC8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Auction Model and Budget Constraint</a:t>
            </a:r>
            <a:endParaRPr sz="4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9EAC12D-B4CD-44D1-B93E-2C9C18E2DF07}"/>
              </a:ext>
            </a:extLst>
          </p:cNvPr>
          <p:cNvSpPr>
            <a:spLocks noGrp="1"/>
          </p:cNvSpPr>
          <p:nvPr/>
        </p:nvSpPr>
        <p:spPr>
          <a:xfrm>
            <a:off x="952500" y="2324100"/>
            <a:ext cx="5283161" cy="2460546"/>
          </a:xfrm>
          <a:prstGeom prst="roundRect">
            <a:avLst>
              <a:gd name="adj" fmla="val 4645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A31D6D-8335-4B60-BD2D-28FE5932110D}"/>
              </a:ext>
            </a:extLst>
          </p:cNvPr>
          <p:cNvSpPr>
            <a:spLocks noGrp="1"/>
          </p:cNvSpPr>
          <p:nvPr/>
        </p:nvSpPr>
        <p:spPr>
          <a:xfrm>
            <a:off x="1283970" y="2636520"/>
            <a:ext cx="5082242" cy="3886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First-price auction, each round</a:t>
            </a:r>
            <a:endParaRPr sz="2100"/>
          </a:p>
        </p:txBody>
      </p:sp>
      <p:pic>
        <p:nvPicPr>
          <p:cNvPr id="3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70" y="3158490"/>
            <a:ext cx="3104079" cy="39624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8CBB92B0-435F-4C9E-8226-7E1997C215A5}"/>
              </a:ext>
            </a:extLst>
          </p:cNvPr>
          <p:cNvSpPr>
            <a:spLocks noGrp="1"/>
          </p:cNvSpPr>
          <p:nvPr/>
        </p:nvSpPr>
        <p:spPr>
          <a:xfrm>
            <a:off x="1283970" y="3744516"/>
            <a:ext cx="4758827" cy="76581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4383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The highest competing bid for campaign i is the only uncertain quantity in the auction.</a:t>
            </a:r>
            <a:endParaRPr sz="18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21A1D6C-ACEA-41D9-A37F-5AA968883B5C}"/>
              </a:ext>
            </a:extLst>
          </p:cNvPr>
          <p:cNvSpPr>
            <a:spLocks noGrp="1"/>
          </p:cNvSpPr>
          <p:nvPr/>
        </p:nvSpPr>
        <p:spPr>
          <a:xfrm>
            <a:off x="6502361" y="2324100"/>
            <a:ext cx="5283161" cy="2460546"/>
          </a:xfrm>
          <a:prstGeom prst="roundRect">
            <a:avLst>
              <a:gd name="adj" fmla="val 4645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33D1ECE-DCE8-433E-8EF4-6D66A635810B}"/>
              </a:ext>
            </a:extLst>
          </p:cNvPr>
          <p:cNvSpPr>
            <a:spLocks noGrp="1"/>
          </p:cNvSpPr>
          <p:nvPr/>
        </p:nvSpPr>
        <p:spPr>
          <a:xfrm>
            <a:off x="6833831" y="2636520"/>
            <a:ext cx="5082242" cy="3886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Utility and cost on a win</a:t>
            </a:r>
            <a:endParaRPr sz="2100"/>
          </a:p>
        </p:txBody>
      </p:sp>
      <p:pic>
        <p:nvPicPr>
          <p:cNvPr id="3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831" y="3158490"/>
            <a:ext cx="3396139" cy="39624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D08744A6-9392-45D6-81EA-162FDF50C4F7}"/>
              </a:ext>
            </a:extLst>
          </p:cNvPr>
          <p:cNvSpPr>
            <a:spLocks noGrp="1"/>
          </p:cNvSpPr>
          <p:nvPr/>
        </p:nvSpPr>
        <p:spPr>
          <a:xfrm>
            <a:off x="6833831" y="3744516"/>
            <a:ext cx="4758827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Higher bids win more often but earn less per win and spend more budget.</a:t>
            </a:r>
            <a:endParaRPr sz="180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DEC5DF2-B53A-4D46-A2D1-C9B892B039E1}"/>
              </a:ext>
            </a:extLst>
          </p:cNvPr>
          <p:cNvSpPr>
            <a:spLocks noGrp="1"/>
          </p:cNvSpPr>
          <p:nvPr/>
        </p:nvSpPr>
        <p:spPr>
          <a:xfrm>
            <a:off x="12052221" y="2324100"/>
            <a:ext cx="5283161" cy="2460546"/>
          </a:xfrm>
          <a:prstGeom prst="roundRect">
            <a:avLst>
              <a:gd name="adj" fmla="val 4645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E99888C-1168-40D9-BFB2-6FBAF5816524}"/>
              </a:ext>
            </a:extLst>
          </p:cNvPr>
          <p:cNvSpPr>
            <a:spLocks noGrp="1"/>
          </p:cNvSpPr>
          <p:nvPr/>
        </p:nvSpPr>
        <p:spPr>
          <a:xfrm>
            <a:off x="12383691" y="2636520"/>
            <a:ext cx="5082242" cy="3886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Global budget constraint</a:t>
            </a:r>
            <a:endParaRPr sz="2100"/>
          </a:p>
        </p:txBody>
      </p:sp>
      <p:pic>
        <p:nvPicPr>
          <p:cNvPr id="4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3691" y="3158490"/>
            <a:ext cx="3445431" cy="39624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B015FA3C-9E7F-4A53-9DF7-DDD0C75B9099}"/>
              </a:ext>
            </a:extLst>
          </p:cNvPr>
          <p:cNvSpPr>
            <a:spLocks noGrp="1"/>
          </p:cNvSpPr>
          <p:nvPr/>
        </p:nvSpPr>
        <p:spPr>
          <a:xfrm>
            <a:off x="12383691" y="3746540"/>
            <a:ext cx="4758827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929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The initial spend rate is ρ = B/T. Effective learners must reconcile it with the remaining budget.</a:t>
            </a:r>
            <a:endParaRPr sz="180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2A25F0DC-FB24-4D62-8BB8-407765101153}"/>
              </a:ext>
            </a:extLst>
          </p:cNvPr>
          <p:cNvSpPr>
            <a:spLocks noGrp="1"/>
          </p:cNvSpPr>
          <p:nvPr/>
        </p:nvSpPr>
        <p:spPr>
          <a:xfrm>
            <a:off x="952500" y="5089446"/>
            <a:ext cx="16383000" cy="134874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DD698875-D42D-4AFF-AAD3-EFCA43A80773}"/>
              </a:ext>
            </a:extLst>
          </p:cNvPr>
          <p:cNvSpPr>
            <a:spLocks noGrp="1"/>
          </p:cNvSpPr>
          <p:nvPr/>
        </p:nvSpPr>
        <p:spPr>
          <a:xfrm>
            <a:off x="1283970" y="5615226"/>
            <a:ext cx="2405634" cy="335280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CONFLICT GRAPH</a:t>
            </a:r>
            <a:endParaRPr sz="180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CFD81E67-6326-442B-BBE7-DA68EB820A1B}"/>
              </a:ext>
            </a:extLst>
          </p:cNvPr>
          <p:cNvSpPr>
            <a:spLocks noGrp="1"/>
          </p:cNvSpPr>
          <p:nvPr/>
        </p:nvSpPr>
        <p:spPr>
          <a:xfrm>
            <a:off x="952500" y="9189720"/>
            <a:ext cx="3360789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The investigation expands in scope:</a:t>
            </a:r>
            <a:endParaRPr sz="180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7346F129-E927-4438-B340-14D3E6281788}"/>
              </a:ext>
            </a:extLst>
          </p:cNvPr>
          <p:cNvSpPr>
            <a:spLocks noGrp="1"/>
          </p:cNvSpPr>
          <p:nvPr/>
        </p:nvSpPr>
        <p:spPr>
          <a:xfrm>
            <a:off x="4198263" y="9113520"/>
            <a:ext cx="2350770" cy="449580"/>
          </a:xfrm>
          <a:prstGeom prst="roundRect">
            <a:avLst>
              <a:gd name="adj" fmla="val 16949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83060C98-9234-4483-B216-CFDC9471C6D8}"/>
              </a:ext>
            </a:extLst>
          </p:cNvPr>
          <p:cNvSpPr>
            <a:spLocks noGrp="1"/>
          </p:cNvSpPr>
          <p:nvPr/>
        </p:nvSpPr>
        <p:spPr>
          <a:xfrm>
            <a:off x="4350663" y="9189720"/>
            <a:ext cx="212217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sz="180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1 to 4 campaigns</a:t>
            </a:r>
            <a:endParaRPr sz="180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F3AAD006-F8D7-498D-BDA3-626C044EA5EE}"/>
              </a:ext>
            </a:extLst>
          </p:cNvPr>
          <p:cNvSpPr>
            <a:spLocks noGrp="1"/>
          </p:cNvSpPr>
          <p:nvPr/>
        </p:nvSpPr>
        <p:spPr>
          <a:xfrm>
            <a:off x="6739533" y="9113520"/>
            <a:ext cx="3996690" cy="449580"/>
          </a:xfrm>
          <a:prstGeom prst="roundRect">
            <a:avLst>
              <a:gd name="adj" fmla="val 16949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66FCE860-DDA3-49FB-BDF0-3DC0F8420082}"/>
              </a:ext>
            </a:extLst>
          </p:cNvPr>
          <p:cNvSpPr>
            <a:spLocks noGrp="1"/>
          </p:cNvSpPr>
          <p:nvPr/>
        </p:nvSpPr>
        <p:spPr>
          <a:xfrm>
            <a:off x="6891933" y="9189720"/>
            <a:ext cx="3811791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sz="180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stochastic to changing markets</a:t>
            </a:r>
            <a:endParaRPr sz="180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739E5AF6-222B-4532-824C-0461DD843A75}"/>
              </a:ext>
            </a:extLst>
          </p:cNvPr>
          <p:cNvSpPr>
            <a:spLocks noGrp="1"/>
          </p:cNvSpPr>
          <p:nvPr/>
        </p:nvSpPr>
        <p:spPr>
          <a:xfrm>
            <a:off x="10926723" y="9113520"/>
            <a:ext cx="3996690" cy="449580"/>
          </a:xfrm>
          <a:prstGeom prst="roundRect">
            <a:avLst>
              <a:gd name="adj" fmla="val 16949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340D9B55-7172-45D9-A67B-DE987E48298F}"/>
              </a:ext>
            </a:extLst>
          </p:cNvPr>
          <p:cNvSpPr>
            <a:spLocks noGrp="1"/>
          </p:cNvSpPr>
          <p:nvPr/>
        </p:nvSpPr>
        <p:spPr>
          <a:xfrm>
            <a:off x="11079123" y="9189720"/>
            <a:ext cx="3811791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sz="180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semi-bandit and full feedback</a:t>
            </a:r>
            <a:endParaRPr sz="180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FA105F2F-00F4-3BA8-08D6-50D29050B1B4}"/>
              </a:ext>
            </a:extLst>
          </p:cNvPr>
          <p:cNvSpPr>
            <a:spLocks noGrp="1"/>
          </p:cNvSpPr>
          <p:nvPr/>
        </p:nvSpPr>
        <p:spPr>
          <a:xfrm>
            <a:off x="3775710" y="5305425"/>
            <a:ext cx="13625170" cy="94249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20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With multiple campaigns, the learner selects a super-action: one feasible bid per campaign subject to the conflict graph.</a:t>
            </a:r>
          </a:p>
        </p:txBody>
      </p:sp>
    </p:spTree>
    <p:extLst>
      <p:ext uri="{BB962C8B-B14F-4D97-AF65-F5344CB8AC3E}">
        <p14:creationId xmlns:p14="http://schemas.microsoft.com/office/powerpoint/2010/main" val="1851158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156CA7-B183-4993-BD00-7BADAA2EC1D6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EXPERIMENTAL DESIGN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F5C200-8993-44F1-B846-71F3A68BD324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Failure Diagnosis and Controlled Improvement</a:t>
            </a:r>
            <a:endParaRPr sz="4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90540C2-1C16-48A1-BB8A-B98536B84C36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3924300" cy="3055620"/>
          </a:xfrm>
          <a:prstGeom prst="roundRect">
            <a:avLst>
              <a:gd name="adj" fmla="val 3741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C164BD-F93C-4C5C-A26C-99D781C28AD7}"/>
              </a:ext>
            </a:extLst>
          </p:cNvPr>
          <p:cNvSpPr>
            <a:spLocks noGrp="1"/>
          </p:cNvSpPr>
          <p:nvPr/>
        </p:nvSpPr>
        <p:spPr>
          <a:xfrm>
            <a:off x="952500" y="5448300"/>
            <a:ext cx="3924300" cy="952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CA0BF02-0116-4EE2-AB9F-23ED27C9624C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3924300" cy="5334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62AEC66-4365-4404-965F-8182991728F3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9525" cy="305562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5CF65A2-B23D-4D38-B664-A5AF393A45D5}"/>
              </a:ext>
            </a:extLst>
          </p:cNvPr>
          <p:cNvSpPr>
            <a:spLocks noGrp="1"/>
          </p:cNvSpPr>
          <p:nvPr/>
        </p:nvSpPr>
        <p:spPr>
          <a:xfrm>
            <a:off x="4869180" y="2400300"/>
            <a:ext cx="9525" cy="305562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30F92E0-4965-4768-BB66-E173C0F9CFB1}"/>
              </a:ext>
            </a:extLst>
          </p:cNvPr>
          <p:cNvSpPr>
            <a:spLocks noGrp="1"/>
          </p:cNvSpPr>
          <p:nvPr/>
        </p:nvSpPr>
        <p:spPr>
          <a:xfrm>
            <a:off x="1245870" y="2739390"/>
            <a:ext cx="367131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STEP 1</a:t>
            </a:r>
            <a:endParaRPr sz="18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1F856C7-BD9D-47FD-B4C5-06205DFD0D2E}"/>
              </a:ext>
            </a:extLst>
          </p:cNvPr>
          <p:cNvSpPr>
            <a:spLocks noGrp="1"/>
          </p:cNvSpPr>
          <p:nvPr/>
        </p:nvSpPr>
        <p:spPr>
          <a:xfrm>
            <a:off x="1245870" y="3188970"/>
            <a:ext cx="3671316" cy="4038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Reference learner</a:t>
            </a:r>
            <a:endParaRPr sz="22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F14F2B7-5C9B-4590-BDE9-72AD619CAC8A}"/>
              </a:ext>
            </a:extLst>
          </p:cNvPr>
          <p:cNvSpPr>
            <a:spLocks noGrp="1"/>
          </p:cNvSpPr>
          <p:nvPr/>
        </p:nvSpPr>
        <p:spPr>
          <a:xfrm>
            <a:off x="1245870" y="3707130"/>
            <a:ext cx="3437687" cy="14554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9585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Start from established methods: UCB, linear programs over distributions, Hedge, and online gradient descent.</a:t>
            </a:r>
            <a:endParaRPr sz="18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0B0EF35-4D40-44E6-8D45-7F6CF0EF81B7}"/>
              </a:ext>
            </a:extLst>
          </p:cNvPr>
          <p:cNvSpPr>
            <a:spLocks noGrp="1"/>
          </p:cNvSpPr>
          <p:nvPr/>
        </p:nvSpPr>
        <p:spPr>
          <a:xfrm>
            <a:off x="5105400" y="2400300"/>
            <a:ext cx="3924300" cy="3055620"/>
          </a:xfrm>
          <a:prstGeom prst="roundRect">
            <a:avLst>
              <a:gd name="adj" fmla="val 3741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3EF7B1E-27EA-45A0-8F71-38CA0F1E9977}"/>
              </a:ext>
            </a:extLst>
          </p:cNvPr>
          <p:cNvSpPr>
            <a:spLocks noGrp="1"/>
          </p:cNvSpPr>
          <p:nvPr/>
        </p:nvSpPr>
        <p:spPr>
          <a:xfrm>
            <a:off x="5105400" y="5448300"/>
            <a:ext cx="3924300" cy="952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40F454C-4A6A-4ECE-9BB8-CE12C03E52F5}"/>
              </a:ext>
            </a:extLst>
          </p:cNvPr>
          <p:cNvSpPr>
            <a:spLocks noGrp="1"/>
          </p:cNvSpPr>
          <p:nvPr/>
        </p:nvSpPr>
        <p:spPr>
          <a:xfrm>
            <a:off x="5105400" y="2400300"/>
            <a:ext cx="3924300" cy="5334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C99469B-A0AA-4F30-B431-590C8B18BA19}"/>
              </a:ext>
            </a:extLst>
          </p:cNvPr>
          <p:cNvSpPr>
            <a:spLocks noGrp="1"/>
          </p:cNvSpPr>
          <p:nvPr/>
        </p:nvSpPr>
        <p:spPr>
          <a:xfrm>
            <a:off x="5105400" y="2400300"/>
            <a:ext cx="9525" cy="305562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F88F45E-69A7-4323-B28D-3ACCBC82F0F4}"/>
              </a:ext>
            </a:extLst>
          </p:cNvPr>
          <p:cNvSpPr>
            <a:spLocks noGrp="1"/>
          </p:cNvSpPr>
          <p:nvPr/>
        </p:nvSpPr>
        <p:spPr>
          <a:xfrm>
            <a:off x="9022080" y="2400300"/>
            <a:ext cx="9525" cy="305562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54014E5-D2D3-4BAC-AF13-EADA7CA67CCA}"/>
              </a:ext>
            </a:extLst>
          </p:cNvPr>
          <p:cNvSpPr>
            <a:spLocks noGrp="1"/>
          </p:cNvSpPr>
          <p:nvPr/>
        </p:nvSpPr>
        <p:spPr>
          <a:xfrm>
            <a:off x="5398770" y="2739390"/>
            <a:ext cx="367131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STEP 2</a:t>
            </a:r>
            <a:endParaRPr sz="18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C7A01AF-C625-4343-878B-AE5829E85C11}"/>
              </a:ext>
            </a:extLst>
          </p:cNvPr>
          <p:cNvSpPr>
            <a:spLocks noGrp="1"/>
          </p:cNvSpPr>
          <p:nvPr/>
        </p:nvSpPr>
        <p:spPr>
          <a:xfrm>
            <a:off x="5398770" y="3188970"/>
            <a:ext cx="3671316" cy="4038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Failure diagnosis</a:t>
            </a:r>
            <a:endParaRPr sz="22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0741A51-7592-4F1D-BDD3-58DACA694AAD}"/>
              </a:ext>
            </a:extLst>
          </p:cNvPr>
          <p:cNvSpPr>
            <a:spLocks noGrp="1"/>
          </p:cNvSpPr>
          <p:nvPr/>
        </p:nvSpPr>
        <p:spPr>
          <a:xfrm>
            <a:off x="5398770" y="3707130"/>
            <a:ext cx="3437687" cy="14554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Track regret, expenditure, selected bids, and policy evolution to identify the binding limitation.</a:t>
            </a:r>
            <a:endParaRPr sz="18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8331A2E-BBAB-4DA4-923C-973F377C48C1}"/>
              </a:ext>
            </a:extLst>
          </p:cNvPr>
          <p:cNvSpPr>
            <a:spLocks noGrp="1"/>
          </p:cNvSpPr>
          <p:nvPr/>
        </p:nvSpPr>
        <p:spPr>
          <a:xfrm>
            <a:off x="9258300" y="2400300"/>
            <a:ext cx="3924300" cy="3055620"/>
          </a:xfrm>
          <a:prstGeom prst="roundRect">
            <a:avLst>
              <a:gd name="adj" fmla="val 3741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40FFCC2-C462-49BE-92B7-E2B891247700}"/>
              </a:ext>
            </a:extLst>
          </p:cNvPr>
          <p:cNvSpPr>
            <a:spLocks noGrp="1"/>
          </p:cNvSpPr>
          <p:nvPr/>
        </p:nvSpPr>
        <p:spPr>
          <a:xfrm>
            <a:off x="9258300" y="5448300"/>
            <a:ext cx="3924300" cy="952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F595651-81B3-44DA-976A-DC2BD4365E23}"/>
              </a:ext>
            </a:extLst>
          </p:cNvPr>
          <p:cNvSpPr>
            <a:spLocks noGrp="1"/>
          </p:cNvSpPr>
          <p:nvPr/>
        </p:nvSpPr>
        <p:spPr>
          <a:xfrm>
            <a:off x="9258300" y="2400300"/>
            <a:ext cx="3924300" cy="53340"/>
          </a:xfrm>
          <a:prstGeom prst="rect">
            <a:avLst/>
          </a:prstGeom>
          <a:solidFill>
            <a:srgbClr val="C65D3B"/>
          </a:solidFill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98FE2AE-5838-44F3-807C-C6908555A31F}"/>
              </a:ext>
            </a:extLst>
          </p:cNvPr>
          <p:cNvSpPr>
            <a:spLocks noGrp="1"/>
          </p:cNvSpPr>
          <p:nvPr/>
        </p:nvSpPr>
        <p:spPr>
          <a:xfrm>
            <a:off x="9258300" y="2400300"/>
            <a:ext cx="9525" cy="305562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D614FCD-A711-490A-9C94-A100EEB1E4D2}"/>
              </a:ext>
            </a:extLst>
          </p:cNvPr>
          <p:cNvSpPr>
            <a:spLocks noGrp="1"/>
          </p:cNvSpPr>
          <p:nvPr/>
        </p:nvSpPr>
        <p:spPr>
          <a:xfrm>
            <a:off x="13174980" y="2400300"/>
            <a:ext cx="9525" cy="305562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45CBD0C-03A8-48D0-90A8-662D7C454FAF}"/>
              </a:ext>
            </a:extLst>
          </p:cNvPr>
          <p:cNvSpPr>
            <a:spLocks noGrp="1"/>
          </p:cNvSpPr>
          <p:nvPr/>
        </p:nvSpPr>
        <p:spPr>
          <a:xfrm>
            <a:off x="9551670" y="2739390"/>
            <a:ext cx="367131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STEP 3</a:t>
            </a:r>
            <a:endParaRPr sz="18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212F298-9742-4D2F-8A5C-BBAA887A3454}"/>
              </a:ext>
            </a:extLst>
          </p:cNvPr>
          <p:cNvSpPr>
            <a:spLocks noGrp="1"/>
          </p:cNvSpPr>
          <p:nvPr/>
        </p:nvSpPr>
        <p:spPr>
          <a:xfrm>
            <a:off x="9551670" y="3188970"/>
            <a:ext cx="3671316" cy="4038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Targeted intervention</a:t>
            </a:r>
            <a:endParaRPr sz="22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2CDAB59-0B91-4ACA-9664-9E00AC0AFACE}"/>
              </a:ext>
            </a:extLst>
          </p:cNvPr>
          <p:cNvSpPr>
            <a:spLocks noGrp="1"/>
          </p:cNvSpPr>
          <p:nvPr/>
        </p:nvSpPr>
        <p:spPr>
          <a:xfrm>
            <a:off x="9551670" y="3707130"/>
            <a:ext cx="3437687" cy="1661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Change only the component linked to the failure while keeping the environment and benchmark fixed.</a:t>
            </a:r>
            <a:endParaRPr sz="18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E715E10-E667-414B-A7A5-FCBE686E0648}"/>
              </a:ext>
            </a:extLst>
          </p:cNvPr>
          <p:cNvSpPr>
            <a:spLocks noGrp="1"/>
          </p:cNvSpPr>
          <p:nvPr/>
        </p:nvSpPr>
        <p:spPr>
          <a:xfrm>
            <a:off x="13411200" y="2400300"/>
            <a:ext cx="3924300" cy="3055620"/>
          </a:xfrm>
          <a:prstGeom prst="roundRect">
            <a:avLst>
              <a:gd name="adj" fmla="val 3741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AE80422-90A7-48A2-90E0-454C6C66C0D4}"/>
              </a:ext>
            </a:extLst>
          </p:cNvPr>
          <p:cNvSpPr>
            <a:spLocks noGrp="1"/>
          </p:cNvSpPr>
          <p:nvPr/>
        </p:nvSpPr>
        <p:spPr>
          <a:xfrm>
            <a:off x="13411200" y="5448300"/>
            <a:ext cx="3924300" cy="952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8D2C9F7-B9C2-4A9B-AA0B-E43446527B4F}"/>
              </a:ext>
            </a:extLst>
          </p:cNvPr>
          <p:cNvSpPr>
            <a:spLocks noGrp="1"/>
          </p:cNvSpPr>
          <p:nvPr/>
        </p:nvSpPr>
        <p:spPr>
          <a:xfrm>
            <a:off x="13411200" y="2400300"/>
            <a:ext cx="3924300" cy="53340"/>
          </a:xfrm>
          <a:prstGeom prst="rect">
            <a:avLst/>
          </a:prstGeom>
          <a:solidFill>
            <a:srgbClr val="C65D3B"/>
          </a:solidFill>
        </p:spPr>
        <p:txBody>
          <a:bodyPr/>
          <a:lstStyle/>
          <a:p>
            <a:endParaRPr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4C0B528-30EA-4741-9663-76593F8B87E4}"/>
              </a:ext>
            </a:extLst>
          </p:cNvPr>
          <p:cNvSpPr>
            <a:spLocks noGrp="1"/>
          </p:cNvSpPr>
          <p:nvPr/>
        </p:nvSpPr>
        <p:spPr>
          <a:xfrm>
            <a:off x="13411200" y="2400300"/>
            <a:ext cx="9525" cy="305562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526F54A-D16D-46C4-85B8-074FF255BE0F}"/>
              </a:ext>
            </a:extLst>
          </p:cNvPr>
          <p:cNvSpPr>
            <a:spLocks noGrp="1"/>
          </p:cNvSpPr>
          <p:nvPr/>
        </p:nvSpPr>
        <p:spPr>
          <a:xfrm>
            <a:off x="17327880" y="2400300"/>
            <a:ext cx="9525" cy="305562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3DEFC60-5BE7-4050-89FC-A3F5101A6F4A}"/>
              </a:ext>
            </a:extLst>
          </p:cNvPr>
          <p:cNvSpPr>
            <a:spLocks noGrp="1"/>
          </p:cNvSpPr>
          <p:nvPr/>
        </p:nvSpPr>
        <p:spPr>
          <a:xfrm>
            <a:off x="13704570" y="2739390"/>
            <a:ext cx="367131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STEP 4</a:t>
            </a:r>
            <a:endParaRPr sz="18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0EE9183-25EF-4955-8AA4-C46A6D139CD5}"/>
              </a:ext>
            </a:extLst>
          </p:cNvPr>
          <p:cNvSpPr>
            <a:spLocks noGrp="1"/>
          </p:cNvSpPr>
          <p:nvPr/>
        </p:nvSpPr>
        <p:spPr>
          <a:xfrm>
            <a:off x="13704570" y="3188970"/>
            <a:ext cx="3671316" cy="4038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Controlled ablation</a:t>
            </a:r>
            <a:endParaRPr sz="225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2D4285E-3465-4055-ABB6-635EF60F8833}"/>
              </a:ext>
            </a:extLst>
          </p:cNvPr>
          <p:cNvSpPr>
            <a:spLocks noGrp="1"/>
          </p:cNvSpPr>
          <p:nvPr/>
        </p:nvSpPr>
        <p:spPr>
          <a:xfrm>
            <a:off x="13704570" y="3707130"/>
            <a:ext cx="3437687" cy="11010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7923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Run the same environments and seeds while changing one component at a time.</a:t>
            </a:r>
            <a:endParaRPr sz="180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9835190-F77B-4CE8-82C3-9361C47A5FCF}"/>
              </a:ext>
            </a:extLst>
          </p:cNvPr>
          <p:cNvSpPr>
            <a:spLocks noGrp="1"/>
          </p:cNvSpPr>
          <p:nvPr/>
        </p:nvSpPr>
        <p:spPr>
          <a:xfrm>
            <a:off x="952500" y="5989320"/>
            <a:ext cx="16383000" cy="1333500"/>
          </a:xfrm>
          <a:prstGeom prst="roundRect">
            <a:avLst>
              <a:gd name="adj" fmla="val 8571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5768FED-B30A-4793-9144-EE2C4D86A361}"/>
              </a:ext>
            </a:extLst>
          </p:cNvPr>
          <p:cNvSpPr>
            <a:spLocks noGrp="1"/>
          </p:cNvSpPr>
          <p:nvPr/>
        </p:nvSpPr>
        <p:spPr>
          <a:xfrm>
            <a:off x="1276350" y="6256020"/>
            <a:ext cx="16207359" cy="838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21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Every comparison is paired. Baseline and revised learners see the same environment realizations, so the curves isolate algorithmic differences.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29143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6D66CF-47AA-41C4-9066-3D85798DC8B3}"/>
              </a:ext>
            </a:extLst>
          </p:cNvPr>
          <p:cNvSpPr>
            <a:spLocks noGrp="1"/>
          </p:cNvSpPr>
          <p:nvPr/>
        </p:nvSpPr>
        <p:spPr>
          <a:xfrm>
            <a:off x="13215938" y="374240"/>
            <a:ext cx="5280660" cy="403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31500" b="1" dirty="0">
                <a:solidFill>
                  <a:srgbClr val="FFFFFF">
                    <a:alpha val="6000"/>
                  </a:srgbClr>
                </a:solidFill>
                <a:latin typeface="IBM Plex Mono"/>
                <a:ea typeface="IBM Plex Mono"/>
                <a:cs typeface="IBM Plex Mono"/>
              </a:rPr>
              <a:t>01</a:t>
            </a:r>
            <a:endParaRPr sz="31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9D3EDB-3607-482D-A91A-39B314278CCC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E8A58C"/>
                </a:solidFill>
                <a:latin typeface="IBM Plex Mono"/>
                <a:ea typeface="IBM Plex Mono"/>
                <a:cs typeface="IBM Plex Mono"/>
              </a:rPr>
              <a:t>STAGE 1: SPARSE FEEDBACK</a:t>
            </a:r>
            <a:endParaRPr sz="1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360381-D22D-452C-8B5B-BDC6AEFFF652}"/>
              </a:ext>
            </a:extLst>
          </p:cNvPr>
          <p:cNvSpPr>
            <a:spLocks noGrp="1"/>
          </p:cNvSpPr>
          <p:nvPr/>
        </p:nvSpPr>
        <p:spPr>
          <a:xfrm>
            <a:off x="952500" y="1211580"/>
            <a:ext cx="12263438" cy="1630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sz="57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Single Campaign Under a Hard Budget</a:t>
            </a:r>
            <a:endParaRPr sz="57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B1CFA5-FA79-457E-8993-9AD35AC2EFF3}"/>
              </a:ext>
            </a:extLst>
          </p:cNvPr>
          <p:cNvSpPr>
            <a:spLocks noGrp="1"/>
          </p:cNvSpPr>
          <p:nvPr/>
        </p:nvSpPr>
        <p:spPr>
          <a:xfrm>
            <a:off x="952500" y="3032760"/>
            <a:ext cx="12263438" cy="97726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9706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2550">
                <a:solidFill>
                  <a:srgbClr val="B9C8DA"/>
                </a:solidFill>
                <a:latin typeface="IBM Plex Sans"/>
                <a:ea typeface="IBM Plex Sans"/>
                <a:cs typeface="IBM Plex Sans"/>
              </a:rPr>
              <a:t>Two reference learners: budget-blind UCB1 and a budget-aware UCB learner whose action distribution comes from a linear program.</a:t>
            </a:r>
            <a:endParaRPr sz="25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DD5347C-2119-43DC-8908-7DB05C6916A2}"/>
              </a:ext>
            </a:extLst>
          </p:cNvPr>
          <p:cNvSpPr>
            <a:spLocks noGrp="1"/>
          </p:cNvSpPr>
          <p:nvPr/>
        </p:nvSpPr>
        <p:spPr>
          <a:xfrm>
            <a:off x="952500" y="4391025"/>
            <a:ext cx="1584960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BCB4DB4-525F-443B-838A-601DB10465C4}"/>
              </a:ext>
            </a:extLst>
          </p:cNvPr>
          <p:cNvSpPr>
            <a:spLocks noGrp="1"/>
          </p:cNvSpPr>
          <p:nvPr/>
        </p:nvSpPr>
        <p:spPr>
          <a:xfrm>
            <a:off x="1150620" y="4512945"/>
            <a:ext cx="1264920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T = 5000</a:t>
            </a:r>
            <a:endParaRPr sz="19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228E30C-11E0-4005-B993-436D06B70193}"/>
              </a:ext>
            </a:extLst>
          </p:cNvPr>
          <p:cNvSpPr>
            <a:spLocks noGrp="1"/>
          </p:cNvSpPr>
          <p:nvPr/>
        </p:nvSpPr>
        <p:spPr>
          <a:xfrm>
            <a:off x="2689860" y="4391025"/>
            <a:ext cx="3194685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948325A-65EB-42BC-961F-A2C627CD6E3E}"/>
              </a:ext>
            </a:extLst>
          </p:cNvPr>
          <p:cNvSpPr>
            <a:spLocks noGrp="1"/>
          </p:cNvSpPr>
          <p:nvPr/>
        </p:nvSpPr>
        <p:spPr>
          <a:xfrm>
            <a:off x="2887980" y="4512945"/>
            <a:ext cx="2894285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B = 125 → ρ = 0.025</a:t>
            </a:r>
            <a:endParaRPr sz="19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5808CD5-7FCC-496F-9AF5-922D6F592F8F}"/>
              </a:ext>
            </a:extLst>
          </p:cNvPr>
          <p:cNvSpPr>
            <a:spLocks noGrp="1"/>
          </p:cNvSpPr>
          <p:nvPr/>
        </p:nvSpPr>
        <p:spPr>
          <a:xfrm>
            <a:off x="6036945" y="4391025"/>
            <a:ext cx="1436370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0A26B07-B816-43E5-A234-2048454638D3}"/>
              </a:ext>
            </a:extLst>
          </p:cNvPr>
          <p:cNvSpPr>
            <a:spLocks noGrp="1"/>
          </p:cNvSpPr>
          <p:nvPr/>
        </p:nvSpPr>
        <p:spPr>
          <a:xfrm>
            <a:off x="6235065" y="4512945"/>
            <a:ext cx="1116330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v = 0.6</a:t>
            </a:r>
            <a:endParaRPr sz="19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CDC774B-B539-4F1F-BB2D-7B0B2C7570E2}"/>
              </a:ext>
            </a:extLst>
          </p:cNvPr>
          <p:cNvSpPr>
            <a:spLocks noGrp="1"/>
          </p:cNvSpPr>
          <p:nvPr/>
        </p:nvSpPr>
        <p:spPr>
          <a:xfrm>
            <a:off x="7625715" y="4391025"/>
            <a:ext cx="5584507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916DB33-3DB4-449F-A985-F7A39FE3DFAF}"/>
              </a:ext>
            </a:extLst>
          </p:cNvPr>
          <p:cNvSpPr>
            <a:spLocks noGrp="1"/>
          </p:cNvSpPr>
          <p:nvPr/>
        </p:nvSpPr>
        <p:spPr>
          <a:xfrm>
            <a:off x="7823835" y="4512945"/>
            <a:ext cx="5355803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3 uniform competitors → P(win) = b³</a:t>
            </a:r>
            <a:endParaRPr sz="19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C1E9CC0-97CC-4EE6-82E8-DF07626C6750}"/>
              </a:ext>
            </a:extLst>
          </p:cNvPr>
          <p:cNvSpPr>
            <a:spLocks noGrp="1"/>
          </p:cNvSpPr>
          <p:nvPr/>
        </p:nvSpPr>
        <p:spPr>
          <a:xfrm>
            <a:off x="13362623" y="4391025"/>
            <a:ext cx="3950018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F679D3E-8AD7-4BEF-B25A-B98C99A47660}"/>
              </a:ext>
            </a:extLst>
          </p:cNvPr>
          <p:cNvSpPr>
            <a:spLocks noGrp="1"/>
          </p:cNvSpPr>
          <p:nvPr/>
        </p:nvSpPr>
        <p:spPr>
          <a:xfrm>
            <a:off x="13560743" y="4512945"/>
            <a:ext cx="3672278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discrete bid grid, b ≤ v</a:t>
            </a:r>
            <a:endParaRPr sz="19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866928C-0227-475B-AD1B-52202B3E4EC4}"/>
              </a:ext>
            </a:extLst>
          </p:cNvPr>
          <p:cNvSpPr>
            <a:spLocks noGrp="1"/>
          </p:cNvSpPr>
          <p:nvPr/>
        </p:nvSpPr>
        <p:spPr>
          <a:xfrm>
            <a:off x="952500" y="8450580"/>
            <a:ext cx="16383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CF65DBD-42CD-45D6-9E03-41289F1DE8E1}"/>
              </a:ext>
            </a:extLst>
          </p:cNvPr>
          <p:cNvSpPr>
            <a:spLocks noGrp="1"/>
          </p:cNvSpPr>
          <p:nvPr/>
        </p:nvSpPr>
        <p:spPr>
          <a:xfrm>
            <a:off x="952500" y="9014460"/>
            <a:ext cx="1546479" cy="335280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7FC0B1"/>
                </a:solidFill>
                <a:latin typeface="IBM Plex Mono"/>
                <a:ea typeface="IBM Plex Mono"/>
                <a:cs typeface="IBM Plex Mono"/>
              </a:rPr>
              <a:t>BENCHMARK</a:t>
            </a:r>
            <a:endParaRPr sz="18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BED7E5C-D881-481E-803F-48C934AFD3BA}"/>
              </a:ext>
            </a:extLst>
          </p:cNvPr>
          <p:cNvSpPr>
            <a:spLocks noGrp="1"/>
          </p:cNvSpPr>
          <p:nvPr/>
        </p:nvSpPr>
        <p:spPr>
          <a:xfrm>
            <a:off x="2586990" y="8763000"/>
            <a:ext cx="15190966" cy="838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2100">
                <a:solidFill>
                  <a:srgbClr val="D7E2EE"/>
                </a:solidFill>
                <a:latin typeface="IBM Plex Sans"/>
                <a:ea typeface="IBM Plex Sans"/>
                <a:cs typeface="IBM Plex Sans"/>
              </a:rPr>
              <a:t>Stochastic clairvoyant: LP over bid distributions with true win probabilities, spend ≤ ρ. On this instance it mixes 96.6% on bid 0.4 — expected reward ≈ 0.0126 per round.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750124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1F7981-EEA0-4D7D-9339-6DE1F365F449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STAGE 1: FAILURE DIAGNOSIS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67A39E-6A24-4E3F-A5CB-E57CDE57473B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Wide Confidence Intervals Neutralize the Budget Constraint</a:t>
            </a:r>
            <a:endParaRPr sz="4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1353AF-0FEC-4C7F-A25A-CC167AFE3ADB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9782532" cy="735330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0620" y="2407920"/>
            <a:ext cx="9386292" cy="695706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AF570857-E2C4-4D2C-919F-726A1BF9C7E8}"/>
              </a:ext>
            </a:extLst>
          </p:cNvPr>
          <p:cNvSpPr>
            <a:spLocks noGrp="1"/>
          </p:cNvSpPr>
          <p:nvPr/>
        </p:nvSpPr>
        <p:spPr>
          <a:xfrm>
            <a:off x="11077932" y="2209800"/>
            <a:ext cx="3033474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9CF7A8D-1185-4CB4-BDD1-189A1CBD4A47}"/>
              </a:ext>
            </a:extLst>
          </p:cNvPr>
          <p:cNvSpPr>
            <a:spLocks noGrp="1"/>
          </p:cNvSpPr>
          <p:nvPr/>
        </p:nvSpPr>
        <p:spPr>
          <a:xfrm>
            <a:off x="11333202" y="2426970"/>
            <a:ext cx="2775228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900" b="1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40.2</a:t>
            </a:r>
            <a:endParaRPr sz="39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5EEABE0-9776-4934-8B31-FDD2EE0AB507}"/>
              </a:ext>
            </a:extLst>
          </p:cNvPr>
          <p:cNvSpPr>
            <a:spLocks noGrp="1"/>
          </p:cNvSpPr>
          <p:nvPr/>
        </p:nvSpPr>
        <p:spPr>
          <a:xfrm>
            <a:off x="11333202" y="3131820"/>
            <a:ext cx="2599134" cy="6324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final regret, UCB1 budget-blind</a:t>
            </a:r>
            <a:endParaRPr sz="18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223FB7D-0E34-4926-ACA0-29D585B2BA08}"/>
              </a:ext>
            </a:extLst>
          </p:cNvPr>
          <p:cNvSpPr>
            <a:spLocks noGrp="1"/>
          </p:cNvSpPr>
          <p:nvPr/>
        </p:nvSpPr>
        <p:spPr>
          <a:xfrm>
            <a:off x="14301907" y="2209800"/>
            <a:ext cx="3033594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A916A0B-48E2-4AD2-BEDD-F489E88EA8E3}"/>
              </a:ext>
            </a:extLst>
          </p:cNvPr>
          <p:cNvSpPr>
            <a:spLocks noGrp="1"/>
          </p:cNvSpPr>
          <p:nvPr/>
        </p:nvSpPr>
        <p:spPr>
          <a:xfrm>
            <a:off x="14557177" y="2426970"/>
            <a:ext cx="2775359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900" b="1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39.6</a:t>
            </a:r>
            <a:endParaRPr sz="39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0598E52-3958-4580-9548-4228516AF469}"/>
              </a:ext>
            </a:extLst>
          </p:cNvPr>
          <p:cNvSpPr>
            <a:spLocks noGrp="1"/>
          </p:cNvSpPr>
          <p:nvPr/>
        </p:nvSpPr>
        <p:spPr>
          <a:xfrm>
            <a:off x="14557177" y="3131820"/>
            <a:ext cx="2599254" cy="6324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final regret, UCB-like + budget LP</a:t>
            </a:r>
            <a:endParaRPr sz="18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1141966-D182-4948-9B0E-78858E1ACE57}"/>
              </a:ext>
            </a:extLst>
          </p:cNvPr>
          <p:cNvSpPr>
            <a:spLocks noGrp="1"/>
          </p:cNvSpPr>
          <p:nvPr/>
        </p:nvSpPr>
        <p:spPr>
          <a:xfrm>
            <a:off x="11077932" y="4171949"/>
            <a:ext cx="6257568" cy="368808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67879FB-9051-48FE-AE27-2B4E9A7BC509}"/>
              </a:ext>
            </a:extLst>
          </p:cNvPr>
          <p:cNvSpPr>
            <a:spLocks noGrp="1"/>
          </p:cNvSpPr>
          <p:nvPr/>
        </p:nvSpPr>
        <p:spPr>
          <a:xfrm>
            <a:off x="11352252" y="4427219"/>
            <a:ext cx="6279820" cy="659131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lnSpcReduction="10000"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Why the budget-aware learner behaves like UCB1</a:t>
            </a:r>
            <a:endParaRPr sz="21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B56E9A8-AB0E-4699-8098-9A70B97A1CE0}"/>
              </a:ext>
            </a:extLst>
          </p:cNvPr>
          <p:cNvSpPr>
            <a:spLocks noGrp="1"/>
          </p:cNvSpPr>
          <p:nvPr/>
        </p:nvSpPr>
        <p:spPr>
          <a:xfrm>
            <a:off x="11344632" y="5093969"/>
            <a:ext cx="5880196" cy="2514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9098" lnSpcReduction="10000"/>
          </a:bodyPr>
          <a:lstStyle/>
          <a:p>
            <a:pPr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Hoeffding intervals stay wide for most of the horizon. The cost LCB often equals zero, so the LP treats many bids as nearly free. </a:t>
            </a:r>
          </a:p>
          <a:p>
            <a:pPr>
              <a:lnSpc>
                <a:spcPct val="155000"/>
              </a:lnSpc>
              <a:buNone/>
            </a:pPr>
            <a:r>
              <a:rPr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Both learners exhaust the budget early, play the null bid in about one third of the rounds, and obtain about 36% of the clairvoyant reward.</a:t>
            </a:r>
            <a:endParaRPr/>
          </a:p>
          <a:p>
            <a:pPr marL="0" indent="0" algn="l">
              <a:lnSpc>
                <a:spcPct val="155000"/>
              </a:lnSpc>
              <a:buNone/>
            </a:pPr>
            <a:endParaRPr sz="18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30B55C6-0D50-4AEE-AE4C-EE66A3378732}"/>
              </a:ext>
            </a:extLst>
          </p:cNvPr>
          <p:cNvSpPr>
            <a:spLocks noGrp="1"/>
          </p:cNvSpPr>
          <p:nvPr/>
        </p:nvSpPr>
        <p:spPr>
          <a:xfrm>
            <a:off x="11352252" y="6145530"/>
            <a:ext cx="5880196" cy="11010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8085"/>
          </a:bodyPr>
          <a:lstStyle/>
          <a:p>
            <a:pPr marL="0" indent="0" algn="l">
              <a:lnSpc>
                <a:spcPct val="155000"/>
              </a:lnSpc>
              <a:buNone/>
            </a:pPr>
            <a:endParaRPr sz="18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5EBCF547-4A3F-468C-8887-E20E7C2BAEAB}"/>
              </a:ext>
            </a:extLst>
          </p:cNvPr>
          <p:cNvSpPr>
            <a:spLocks noGrp="1"/>
          </p:cNvSpPr>
          <p:nvPr/>
        </p:nvSpPr>
        <p:spPr>
          <a:xfrm>
            <a:off x="11077932" y="8305800"/>
            <a:ext cx="6257568" cy="868679"/>
          </a:xfrm>
          <a:prstGeom prst="roundRect">
            <a:avLst>
              <a:gd name="adj" fmla="val 9091"/>
            </a:avLst>
          </a:prstGeom>
          <a:solidFill>
            <a:srgbClr val="F3E7E1"/>
          </a:solidFill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061E17E-525E-49C2-AAE6-9DDE81E907E6}"/>
              </a:ext>
            </a:extLst>
          </p:cNvPr>
          <p:cNvSpPr>
            <a:spLocks noGrp="1"/>
          </p:cNvSpPr>
          <p:nvPr/>
        </p:nvSpPr>
        <p:spPr>
          <a:xfrm>
            <a:off x="11344632" y="8534400"/>
            <a:ext cx="5911895" cy="838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100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Budget estimation is the binding limitation.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12794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A0BC6D-049C-4A31-8A8C-2810616F8944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S1: INTERVENTION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582B1C-F959-4206-9B8C-DFF2A65D7096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A Bernoulli Model Makes Rare Wins Learnable</a:t>
            </a:r>
            <a:endParaRPr sz="4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FCB096-A93D-4EFC-8C41-F3975C01AF58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5308521" cy="2538055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D0A7B3-3AA9-4981-86D8-D0A9B2D1E288}"/>
              </a:ext>
            </a:extLst>
          </p:cNvPr>
          <p:cNvSpPr>
            <a:spLocks noGrp="1"/>
          </p:cNvSpPr>
          <p:nvPr/>
        </p:nvSpPr>
        <p:spPr>
          <a:xfrm>
            <a:off x="1245870" y="2484120"/>
            <a:ext cx="5193959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1  WIN PROBABILITY</a:t>
            </a:r>
            <a:endParaRPr sz="1800"/>
          </a:p>
        </p:txBody>
      </p:sp>
      <p:pic>
        <p:nvPicPr>
          <p:cNvPr id="4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" y="2914650"/>
            <a:ext cx="3121223" cy="35814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CE1DE423-6BF6-416C-99F2-55CD93C10EC7}"/>
              </a:ext>
            </a:extLst>
          </p:cNvPr>
          <p:cNvSpPr>
            <a:spLocks noGrp="1"/>
          </p:cNvSpPr>
          <p:nvPr/>
        </p:nvSpPr>
        <p:spPr>
          <a:xfrm>
            <a:off x="1245870" y="3417569"/>
            <a:ext cx="4863434" cy="109406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6404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At a fixed bid, one Bernoulli outcome determines both reward and cost. We estimate its probability and derive both quantities from it.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C6517E4-BC46-45DB-AA96-52025857DBF0}"/>
              </a:ext>
            </a:extLst>
          </p:cNvPr>
          <p:cNvSpPr>
            <a:spLocks noGrp="1"/>
          </p:cNvSpPr>
          <p:nvPr/>
        </p:nvSpPr>
        <p:spPr>
          <a:xfrm>
            <a:off x="6489621" y="2209800"/>
            <a:ext cx="5308640" cy="2538055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7125A8A-038B-4BF1-9E8A-F9B4049274A6}"/>
              </a:ext>
            </a:extLst>
          </p:cNvPr>
          <p:cNvSpPr>
            <a:spLocks noGrp="1"/>
          </p:cNvSpPr>
          <p:nvPr/>
        </p:nvSpPr>
        <p:spPr>
          <a:xfrm>
            <a:off x="6782991" y="2484120"/>
            <a:ext cx="519409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2  KL CONFIDENCE BOUND</a:t>
            </a:r>
            <a:endParaRPr sz="18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37BCDFA-2341-4B9A-8632-D99827EF032B}"/>
              </a:ext>
            </a:extLst>
          </p:cNvPr>
          <p:cNvSpPr>
            <a:spLocks noGrp="1"/>
          </p:cNvSpPr>
          <p:nvPr/>
        </p:nvSpPr>
        <p:spPr>
          <a:xfrm>
            <a:off x="6782991" y="3417569"/>
            <a:ext cx="4863557" cy="10896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KL bounds replace Hoeffding bounds and tighten faster when winning probabilities are small.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DBD2E0F7-F51F-4FA1-9785-B40F7BF06CA8}"/>
              </a:ext>
            </a:extLst>
          </p:cNvPr>
          <p:cNvSpPr>
            <a:spLocks noGrp="1"/>
          </p:cNvSpPr>
          <p:nvPr/>
        </p:nvSpPr>
        <p:spPr>
          <a:xfrm>
            <a:off x="12026860" y="2209800"/>
            <a:ext cx="5308640" cy="2538055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AC19F40-6AB9-4835-A7C5-F45ECCDCA485}"/>
              </a:ext>
            </a:extLst>
          </p:cNvPr>
          <p:cNvSpPr>
            <a:spLocks noGrp="1"/>
          </p:cNvSpPr>
          <p:nvPr/>
        </p:nvSpPr>
        <p:spPr>
          <a:xfrm>
            <a:off x="12320231" y="2484120"/>
            <a:ext cx="519409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3  AFFORDABILITY FILTER</a:t>
            </a:r>
            <a:endParaRPr sz="1800"/>
          </a:p>
        </p:txBody>
      </p:sp>
      <p:pic>
        <p:nvPicPr>
          <p:cNvPr id="49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0231" y="2914650"/>
            <a:ext cx="3272433" cy="35814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7CCDAB4A-B524-409D-B59A-39751645D8FE}"/>
              </a:ext>
            </a:extLst>
          </p:cNvPr>
          <p:cNvSpPr>
            <a:spLocks noGrp="1"/>
          </p:cNvSpPr>
          <p:nvPr/>
        </p:nvSpPr>
        <p:spPr>
          <a:xfrm>
            <a:off x="12320231" y="3417568"/>
            <a:ext cx="4863557" cy="1094067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664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The LP considers a bid only when the remaining budget can pay for it. Bid 0 remains the zero-cost action.</a:t>
            </a:r>
            <a:endParaRPr sz="180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086AB4FD-533D-4073-B006-957C225FA33F}"/>
              </a:ext>
            </a:extLst>
          </p:cNvPr>
          <p:cNvSpPr>
            <a:spLocks noGrp="1"/>
          </p:cNvSpPr>
          <p:nvPr/>
        </p:nvSpPr>
        <p:spPr>
          <a:xfrm>
            <a:off x="952500" y="6936135"/>
            <a:ext cx="16383000" cy="1737003"/>
          </a:xfrm>
          <a:prstGeom prst="roundRect">
            <a:avLst>
              <a:gd name="adj" fmla="val 500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67C4586-DAE9-46CB-8FCE-188C95382AE5}"/>
              </a:ext>
            </a:extLst>
          </p:cNvPr>
          <p:cNvSpPr>
            <a:spLocks noGrp="1"/>
          </p:cNvSpPr>
          <p:nvPr/>
        </p:nvSpPr>
        <p:spPr>
          <a:xfrm>
            <a:off x="1283970" y="7636937"/>
            <a:ext cx="2061972" cy="335280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 fontScale="97548"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WHY KL FITS THIS AUCTION</a:t>
            </a:r>
            <a:endParaRPr sz="18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918565EF-7CE3-4501-A0A4-3025AFF44285}"/>
              </a:ext>
            </a:extLst>
          </p:cNvPr>
          <p:cNvSpPr>
            <a:spLocks noGrp="1"/>
          </p:cNvSpPr>
          <p:nvPr/>
        </p:nvSpPr>
        <p:spPr>
          <a:xfrm>
            <a:off x="5265173" y="6936135"/>
            <a:ext cx="11918615" cy="173700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21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Relevant win probabilities are small: P(win) = b³ is 0.027 at b = 0.3 and 0.064 at b = 0.4. Hoeffding optimism saturates and can rank bids in the wrong order. The Bernoulli KL interval concentrates faster near zero.</a:t>
            </a:r>
            <a:endParaRPr sz="210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67F5E767-CA3A-423E-8022-208FA3931CA1}"/>
              </a:ext>
            </a:extLst>
          </p:cNvPr>
          <p:cNvSpPr>
            <a:spLocks noGrp="1"/>
          </p:cNvSpPr>
          <p:nvPr/>
        </p:nvSpPr>
        <p:spPr>
          <a:xfrm>
            <a:off x="952500" y="9189720"/>
            <a:ext cx="1348454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56477" lnSpcReduction="20000"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CONTROLLED VARIABLES</a:t>
            </a:r>
            <a:endParaRPr sz="180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0EA99FF7-22E4-484F-AC6F-478580E6385F}"/>
              </a:ext>
            </a:extLst>
          </p:cNvPr>
          <p:cNvSpPr>
            <a:spLocks noGrp="1"/>
          </p:cNvSpPr>
          <p:nvPr/>
        </p:nvSpPr>
        <p:spPr>
          <a:xfrm>
            <a:off x="2368867" y="9113520"/>
            <a:ext cx="3310890" cy="449580"/>
          </a:xfrm>
          <a:prstGeom prst="roundRect">
            <a:avLst>
              <a:gd name="adj" fmla="val 16949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601AE969-38FA-405D-8224-C367557ACED7}"/>
              </a:ext>
            </a:extLst>
          </p:cNvPr>
          <p:cNvSpPr>
            <a:spLocks noGrp="1"/>
          </p:cNvSpPr>
          <p:nvPr/>
        </p:nvSpPr>
        <p:spPr>
          <a:xfrm>
            <a:off x="2521267" y="9189720"/>
            <a:ext cx="3105417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sz="180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same LP and fixed ρ = B/T</a:t>
            </a:r>
            <a:endParaRPr sz="180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135A05F-EA00-41EC-AB44-482471CD1CBC}"/>
              </a:ext>
            </a:extLst>
          </p:cNvPr>
          <p:cNvSpPr>
            <a:spLocks noGrp="1"/>
          </p:cNvSpPr>
          <p:nvPr/>
        </p:nvSpPr>
        <p:spPr>
          <a:xfrm>
            <a:off x="5870257" y="9113520"/>
            <a:ext cx="3596640" cy="449580"/>
          </a:xfrm>
          <a:prstGeom prst="roundRect">
            <a:avLst>
              <a:gd name="adj" fmla="val 16949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F4B7F76-4B75-41BF-BFC9-8766A2283706}"/>
              </a:ext>
            </a:extLst>
          </p:cNvPr>
          <p:cNvSpPr>
            <a:spLocks noGrp="1"/>
          </p:cNvSpPr>
          <p:nvPr/>
        </p:nvSpPr>
        <p:spPr>
          <a:xfrm>
            <a:off x="6022657" y="9189720"/>
            <a:ext cx="3399739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sz="180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same environments and seeds</a:t>
            </a:r>
            <a:endParaRPr sz="180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07201666-1EB8-4D2F-8918-6D0CB426E838}"/>
              </a:ext>
            </a:extLst>
          </p:cNvPr>
          <p:cNvSpPr>
            <a:spLocks noGrp="1"/>
          </p:cNvSpPr>
          <p:nvPr/>
        </p:nvSpPr>
        <p:spPr>
          <a:xfrm>
            <a:off x="9657398" y="9113520"/>
            <a:ext cx="6602730" cy="449580"/>
          </a:xfrm>
          <a:prstGeom prst="roundRect">
            <a:avLst>
              <a:gd name="adj" fmla="val 16949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19677F2C-9558-47A4-97F9-6E63B6CE5732}"/>
              </a:ext>
            </a:extLst>
          </p:cNvPr>
          <p:cNvSpPr>
            <a:spLocks noGrp="1"/>
          </p:cNvSpPr>
          <p:nvPr/>
        </p:nvSpPr>
        <p:spPr>
          <a:xfrm>
            <a:off x="9809798" y="9189720"/>
            <a:ext cx="6496012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dynamic pacing tested with no material effect</a:t>
            </a:r>
            <a:endParaRPr sz="1800"/>
          </a:p>
        </p:txBody>
      </p:sp>
      <p:pic>
        <p:nvPicPr>
          <p:cNvPr id="61" name="Immagine 27"/>
          <p:cNvPicPr>
            <a:picLocks noChangeAspect="1"/>
          </p:cNvPicPr>
          <p:nvPr/>
        </p:nvPicPr>
        <p:blipFill>
          <a:blip r:embed="rId5"/>
          <a:srcRect t="24448" r="9684" b="22783"/>
          <a:stretch>
            <a:fillRect/>
          </a:stretch>
        </p:blipFill>
        <p:spPr>
          <a:xfrm>
            <a:off x="6661559" y="2948701"/>
            <a:ext cx="5106420" cy="395022"/>
          </a:xfrm>
          <a:prstGeom prst="rect">
            <a:avLst/>
          </a:prstGeom>
        </p:spPr>
      </p:pic>
      <p:sp>
        <p:nvSpPr>
          <p:cNvPr id="29" name="Shape 11">
            <a:extLst>
              <a:ext uri="{FF2B5EF4-FFF2-40B4-BE49-F238E27FC236}">
                <a16:creationId xmlns:a16="http://schemas.microsoft.com/office/drawing/2014/main" id="{3511348C-4B13-7A45-2245-0B5F4EC086FC}"/>
              </a:ext>
            </a:extLst>
          </p:cNvPr>
          <p:cNvSpPr>
            <a:spLocks noGrp="1"/>
          </p:cNvSpPr>
          <p:nvPr/>
        </p:nvSpPr>
        <p:spPr>
          <a:xfrm>
            <a:off x="952500" y="4973493"/>
            <a:ext cx="16383000" cy="1737003"/>
          </a:xfrm>
          <a:prstGeom prst="roundRect">
            <a:avLst>
              <a:gd name="adj" fmla="val 500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3A4016F9-3058-70C6-BABD-9744492FC117}"/>
              </a:ext>
            </a:extLst>
          </p:cNvPr>
          <p:cNvSpPr>
            <a:spLocks noGrp="1"/>
          </p:cNvSpPr>
          <p:nvPr/>
        </p:nvSpPr>
        <p:spPr>
          <a:xfrm>
            <a:off x="1283969" y="5674295"/>
            <a:ext cx="3321897" cy="347440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BERNOULLI KL DISTANCE</a:t>
            </a: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01AAE80F-4F6B-52BD-89AD-D2FB90179EF8}"/>
              </a:ext>
            </a:extLst>
          </p:cNvPr>
          <p:cNvSpPr>
            <a:spLocks noGrp="1"/>
          </p:cNvSpPr>
          <p:nvPr/>
        </p:nvSpPr>
        <p:spPr>
          <a:xfrm>
            <a:off x="9382879" y="5332511"/>
            <a:ext cx="8007613" cy="11107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>
              <a:lnSpc>
                <a:spcPct val="155000"/>
              </a:lnSpc>
              <a:buNone/>
            </a:pPr>
            <a:r>
              <a:rPr sz="21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KL measures the discrepancy between two Bernoulli rates. Its geometry yields tighter upper bounds near zero and one.</a:t>
            </a:r>
          </a:p>
        </p:txBody>
      </p:sp>
      <p:pic>
        <p:nvPicPr>
          <p:cNvPr id="65" name="Immagine 34"/>
          <p:cNvPicPr>
            <a:picLocks noChangeAspect="1"/>
          </p:cNvPicPr>
          <p:nvPr/>
        </p:nvPicPr>
        <p:blipFill>
          <a:blip r:embed="rId6"/>
          <a:srcRect l="2263" r="3757"/>
          <a:stretch>
            <a:fillRect/>
          </a:stretch>
        </p:blipFill>
        <p:spPr>
          <a:xfrm>
            <a:off x="4804287" y="5536634"/>
            <a:ext cx="4334868" cy="70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14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3F54A2-0F21-4805-9A14-6B03CFBBADE7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STAGE 1: EVIDENCE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F433BE-AF2C-4817-9320-67C256C04740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KL Confidence Bounds Reduce Final Regret to 11.4</a:t>
            </a:r>
            <a:endParaRPr sz="4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5A2BBA-1AE7-49CC-8E5C-DCF88A895B58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9782532" cy="735330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0620" y="2407920"/>
            <a:ext cx="9386292" cy="695706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16753DF1-651B-4FD4-8880-3B34F7D479E2}"/>
              </a:ext>
            </a:extLst>
          </p:cNvPr>
          <p:cNvSpPr>
            <a:spLocks noGrp="1"/>
          </p:cNvSpPr>
          <p:nvPr/>
        </p:nvSpPr>
        <p:spPr>
          <a:xfrm>
            <a:off x="11077932" y="2209800"/>
            <a:ext cx="6257568" cy="1402080"/>
          </a:xfrm>
          <a:prstGeom prst="roundRect">
            <a:avLst>
              <a:gd name="adj" fmla="val 8152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274F46F-2664-4D35-AF5E-7D68A5C37545}"/>
              </a:ext>
            </a:extLst>
          </p:cNvPr>
          <p:cNvSpPr>
            <a:spLocks noGrp="1"/>
          </p:cNvSpPr>
          <p:nvPr/>
        </p:nvSpPr>
        <p:spPr>
          <a:xfrm>
            <a:off x="11371302" y="2617470"/>
            <a:ext cx="1408176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40.2</a:t>
            </a:r>
            <a:endParaRPr sz="42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1C7C60B-2477-4937-BB50-54B0FB61BDB2}"/>
              </a:ext>
            </a:extLst>
          </p:cNvPr>
          <p:cNvSpPr>
            <a:spLocks noGrp="1"/>
          </p:cNvSpPr>
          <p:nvPr/>
        </p:nvSpPr>
        <p:spPr>
          <a:xfrm>
            <a:off x="12841963" y="2777490"/>
            <a:ext cx="285750" cy="533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0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→</a:t>
            </a:r>
            <a:endParaRPr sz="30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A0A33F1-8E02-4100-8AC2-C65FA15F97BD}"/>
              </a:ext>
            </a:extLst>
          </p:cNvPr>
          <p:cNvSpPr>
            <a:spLocks noGrp="1"/>
          </p:cNvSpPr>
          <p:nvPr/>
        </p:nvSpPr>
        <p:spPr>
          <a:xfrm>
            <a:off x="13242013" y="2465070"/>
            <a:ext cx="1810512" cy="929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5400" b="1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11.4</a:t>
            </a:r>
            <a:endParaRPr sz="54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E14FD89-DD1F-4160-A18F-21CFB7A39472}"/>
              </a:ext>
            </a:extLst>
          </p:cNvPr>
          <p:cNvSpPr>
            <a:spLocks noGrp="1"/>
          </p:cNvSpPr>
          <p:nvPr/>
        </p:nvSpPr>
        <p:spPr>
          <a:xfrm>
            <a:off x="15078432" y="2929890"/>
            <a:ext cx="1191339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final regret</a:t>
            </a:r>
            <a:endParaRPr sz="18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E27E072-E43E-4BDA-9D8E-04A39D96CC40}"/>
              </a:ext>
            </a:extLst>
          </p:cNvPr>
          <p:cNvSpPr>
            <a:spLocks noGrp="1"/>
          </p:cNvSpPr>
          <p:nvPr/>
        </p:nvSpPr>
        <p:spPr>
          <a:xfrm>
            <a:off x="11077932" y="3840480"/>
            <a:ext cx="3033474" cy="162687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7D7207D-51F4-48D6-8B52-B7D297E105CA}"/>
              </a:ext>
            </a:extLst>
          </p:cNvPr>
          <p:cNvSpPr>
            <a:spLocks noGrp="1"/>
          </p:cNvSpPr>
          <p:nvPr/>
        </p:nvSpPr>
        <p:spPr>
          <a:xfrm>
            <a:off x="11333202" y="4057650"/>
            <a:ext cx="2775228" cy="57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300" b="1">
                <a:solidFill>
                  <a:srgbClr val="2A8577"/>
                </a:solidFill>
                <a:latin typeface="IBM Plex Mono"/>
                <a:ea typeface="IBM Plex Mono"/>
                <a:cs typeface="IBM Plex Mono"/>
              </a:rPr>
              <a:t>82%</a:t>
            </a:r>
            <a:endParaRPr sz="33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8300CE6-9882-4776-A255-7544939B7493}"/>
              </a:ext>
            </a:extLst>
          </p:cNvPr>
          <p:cNvSpPr>
            <a:spLocks noGrp="1"/>
          </p:cNvSpPr>
          <p:nvPr/>
        </p:nvSpPr>
        <p:spPr>
          <a:xfrm>
            <a:off x="11333202" y="4655820"/>
            <a:ext cx="2599134" cy="6324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of clairvoyant reward (was 36%)</a:t>
            </a:r>
            <a:endParaRPr sz="18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1BF0F66-335D-4E27-8E56-8C826B2C4892}"/>
              </a:ext>
            </a:extLst>
          </p:cNvPr>
          <p:cNvSpPr>
            <a:spLocks noGrp="1"/>
          </p:cNvSpPr>
          <p:nvPr/>
        </p:nvSpPr>
        <p:spPr>
          <a:xfrm>
            <a:off x="14301907" y="3840480"/>
            <a:ext cx="3033594" cy="162687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C4CC842-796E-4728-8377-F5590A4DD4A6}"/>
              </a:ext>
            </a:extLst>
          </p:cNvPr>
          <p:cNvSpPr>
            <a:spLocks noGrp="1"/>
          </p:cNvSpPr>
          <p:nvPr/>
        </p:nvSpPr>
        <p:spPr>
          <a:xfrm>
            <a:off x="14557177" y="4057650"/>
            <a:ext cx="2775359" cy="57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300" b="1">
                <a:solidFill>
                  <a:srgbClr val="2A8577"/>
                </a:solidFill>
                <a:latin typeface="IBM Plex Mono"/>
                <a:ea typeface="IBM Plex Mono"/>
                <a:cs typeface="IBM Plex Mono"/>
              </a:rPr>
              <a:t>123 / 125</a:t>
            </a:r>
            <a:endParaRPr sz="33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668DB39-797E-4E71-9DD2-DE1C595660FD}"/>
              </a:ext>
            </a:extLst>
          </p:cNvPr>
          <p:cNvSpPr>
            <a:spLocks noGrp="1"/>
          </p:cNvSpPr>
          <p:nvPr/>
        </p:nvSpPr>
        <p:spPr>
          <a:xfrm>
            <a:off x="14557177" y="4655820"/>
            <a:ext cx="2599254" cy="6324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budget used while preserving affordability</a:t>
            </a:r>
            <a:endParaRPr sz="18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C2F66B9-2470-40A6-8315-2F2ED3AF119E}"/>
              </a:ext>
            </a:extLst>
          </p:cNvPr>
          <p:cNvSpPr>
            <a:spLocks noGrp="1"/>
          </p:cNvSpPr>
          <p:nvPr/>
        </p:nvSpPr>
        <p:spPr>
          <a:xfrm>
            <a:off x="11077932" y="6671309"/>
            <a:ext cx="6257568" cy="3166957"/>
          </a:xfrm>
          <a:prstGeom prst="roundRect">
            <a:avLst>
              <a:gd name="adj" fmla="val 395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F0B9177-ABDF-46B7-A811-9CFAA4642F10}"/>
              </a:ext>
            </a:extLst>
          </p:cNvPr>
          <p:cNvSpPr>
            <a:spLocks noGrp="1"/>
          </p:cNvSpPr>
          <p:nvPr/>
        </p:nvSpPr>
        <p:spPr>
          <a:xfrm>
            <a:off x="11371302" y="6926580"/>
            <a:ext cx="5840953" cy="6324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ABLATION WITH MATCHED SEEDS</a:t>
            </a:r>
            <a:endParaRPr sz="18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B166688-EFBD-40A3-87F5-401AFBE53C47}"/>
              </a:ext>
            </a:extLst>
          </p:cNvPr>
          <p:cNvSpPr>
            <a:spLocks noGrp="1"/>
          </p:cNvSpPr>
          <p:nvPr/>
        </p:nvSpPr>
        <p:spPr>
          <a:xfrm>
            <a:off x="11371302" y="7654290"/>
            <a:ext cx="5840953" cy="1691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21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KL: regret </a:t>
            </a:r>
            <a:r>
              <a:rPr sz="2100" b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11.4</a:t>
            </a:r>
            <a:r>
              <a:rPr sz="21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 and spend 123/125. Hoeffding: regret </a:t>
            </a:r>
            <a:r>
              <a:rPr sz="2100" b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35.7</a:t>
            </a:r>
            <a:r>
              <a:rPr sz="21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 and spend 45/125. Loose optimism keeps selecting low bids that rarely win.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128296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0C7704B-4FBE-445D-B9D9-39B2884D60F8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E8A58C"/>
                </a:solidFill>
                <a:latin typeface="IBM Plex Mono"/>
                <a:ea typeface="IBM Plex Mono"/>
                <a:cs typeface="IBM Plex Mono"/>
              </a:rPr>
              <a:t>STAGE 2: COMBINATORIAL SCALE</a:t>
            </a:r>
            <a:endParaRPr sz="1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2FBD02-3A25-4A99-B647-4849AA29A5C7}"/>
              </a:ext>
            </a:extLst>
          </p:cNvPr>
          <p:cNvSpPr>
            <a:spLocks noGrp="1"/>
          </p:cNvSpPr>
          <p:nvPr/>
        </p:nvSpPr>
        <p:spPr>
          <a:xfrm>
            <a:off x="952500" y="1211580"/>
            <a:ext cx="13244513" cy="1630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sz="57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Shared Budget Across Multiple Campaigns</a:t>
            </a:r>
            <a:endParaRPr sz="57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A13DA4-6B01-42D5-A27C-CA12DB074396}"/>
              </a:ext>
            </a:extLst>
          </p:cNvPr>
          <p:cNvSpPr>
            <a:spLocks noGrp="1"/>
          </p:cNvSpPr>
          <p:nvPr/>
        </p:nvSpPr>
        <p:spPr>
          <a:xfrm>
            <a:off x="952500" y="3032760"/>
            <a:ext cx="12753975" cy="97726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9706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2550">
                <a:solidFill>
                  <a:srgbClr val="B9C8DA"/>
                </a:solidFill>
                <a:latin typeface="IBM Plex Sans"/>
                <a:ea typeface="IBM Plex Sans"/>
                <a:cs typeface="IBM Plex Sans"/>
              </a:rPr>
              <a:t>Each round selects one feasible bid profile over the conflict graph. Semi-bandit feedback reveals outcomes for selected campaign-bid pairs.</a:t>
            </a:r>
            <a:endParaRPr sz="25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BB43197-43DA-42AB-B862-DF51CBF3CEF1}"/>
              </a:ext>
            </a:extLst>
          </p:cNvPr>
          <p:cNvSpPr>
            <a:spLocks noGrp="1"/>
          </p:cNvSpPr>
          <p:nvPr/>
        </p:nvSpPr>
        <p:spPr>
          <a:xfrm>
            <a:off x="952500" y="4391025"/>
            <a:ext cx="6637020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40E4279-9769-49C1-8321-96F538EA7A4D}"/>
              </a:ext>
            </a:extLst>
          </p:cNvPr>
          <p:cNvSpPr>
            <a:spLocks noGrp="1"/>
          </p:cNvSpPr>
          <p:nvPr/>
        </p:nvSpPr>
        <p:spPr>
          <a:xfrm>
            <a:off x="1150620" y="4512945"/>
            <a:ext cx="6439890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4 campaigns · v = (0.95, 0.85, 0.78, 0.90)</a:t>
            </a:r>
            <a:endParaRPr sz="19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CAC0278-C94E-4D67-83D1-01AD307A475D}"/>
              </a:ext>
            </a:extLst>
          </p:cNvPr>
          <p:cNvSpPr>
            <a:spLocks noGrp="1"/>
          </p:cNvSpPr>
          <p:nvPr/>
        </p:nvSpPr>
        <p:spPr>
          <a:xfrm>
            <a:off x="7741920" y="4391025"/>
            <a:ext cx="4816673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3363EBB-F5F1-44CE-BEEF-B7F5B9FD1B7D}"/>
              </a:ext>
            </a:extLst>
          </p:cNvPr>
          <p:cNvSpPr>
            <a:spLocks noGrp="1"/>
          </p:cNvSpPr>
          <p:nvPr/>
        </p:nvSpPr>
        <p:spPr>
          <a:xfrm>
            <a:off x="7940040" y="4512945"/>
            <a:ext cx="4564934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T = 3000 · B = 700 → ρ ≈ 0.233</a:t>
            </a:r>
            <a:endParaRPr sz="19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18B7709-8910-4F92-B83E-915FA49C682F}"/>
              </a:ext>
            </a:extLst>
          </p:cNvPr>
          <p:cNvSpPr>
            <a:spLocks noGrp="1"/>
          </p:cNvSpPr>
          <p:nvPr/>
        </p:nvSpPr>
        <p:spPr>
          <a:xfrm>
            <a:off x="12710994" y="4391025"/>
            <a:ext cx="3665220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673042C-05E0-4F41-9A2B-DA9243F4B4C3}"/>
              </a:ext>
            </a:extLst>
          </p:cNvPr>
          <p:cNvSpPr>
            <a:spLocks noGrp="1"/>
          </p:cNvSpPr>
          <p:nvPr/>
        </p:nvSpPr>
        <p:spPr>
          <a:xfrm>
            <a:off x="12909114" y="4512945"/>
            <a:ext cx="3378937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conflict chain 0–1–2–3</a:t>
            </a:r>
            <a:endParaRPr sz="19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247B661-F51A-462F-8073-873E53DE4155}"/>
              </a:ext>
            </a:extLst>
          </p:cNvPr>
          <p:cNvSpPr>
            <a:spLocks noGrp="1"/>
          </p:cNvSpPr>
          <p:nvPr/>
        </p:nvSpPr>
        <p:spPr>
          <a:xfrm>
            <a:off x="952500" y="5107305"/>
            <a:ext cx="5448300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C7C5D9D-5D6A-4887-B8B2-E30C24D0F504}"/>
              </a:ext>
            </a:extLst>
          </p:cNvPr>
          <p:cNvSpPr>
            <a:spLocks noGrp="1"/>
          </p:cNvSpPr>
          <p:nvPr/>
        </p:nvSpPr>
        <p:spPr>
          <a:xfrm>
            <a:off x="1150620" y="5229225"/>
            <a:ext cx="5215509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33 atomic arms · 250 super-actions</a:t>
            </a:r>
            <a:endParaRPr sz="19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167B015-A68B-4D03-9B67-B2F07EE923A6}"/>
              </a:ext>
            </a:extLst>
          </p:cNvPr>
          <p:cNvSpPr>
            <a:spLocks noGrp="1"/>
          </p:cNvSpPr>
          <p:nvPr/>
        </p:nvSpPr>
        <p:spPr>
          <a:xfrm>
            <a:off x="6553200" y="5107305"/>
            <a:ext cx="7355205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C993A59-A637-4406-9D79-38665C3CD450}"/>
              </a:ext>
            </a:extLst>
          </p:cNvPr>
          <p:cNvSpPr>
            <a:spLocks noGrp="1"/>
          </p:cNvSpPr>
          <p:nvPr/>
        </p:nvSpPr>
        <p:spPr>
          <a:xfrm>
            <a:off x="6751320" y="5229225"/>
            <a:ext cx="7179621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Beta marginals + 30% common factor → corr ≈ 0.3</a:t>
            </a:r>
            <a:endParaRPr sz="19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564C85E-26E9-409E-A48A-921DC918ACB0}"/>
              </a:ext>
            </a:extLst>
          </p:cNvPr>
          <p:cNvSpPr>
            <a:spLocks noGrp="1"/>
          </p:cNvSpPr>
          <p:nvPr/>
        </p:nvSpPr>
        <p:spPr>
          <a:xfrm>
            <a:off x="952500" y="8450580"/>
            <a:ext cx="16383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D89CF4E-3132-45A1-B139-9C441D354446}"/>
              </a:ext>
            </a:extLst>
          </p:cNvPr>
          <p:cNvSpPr>
            <a:spLocks noGrp="1"/>
          </p:cNvSpPr>
          <p:nvPr/>
        </p:nvSpPr>
        <p:spPr>
          <a:xfrm>
            <a:off x="952500" y="9014460"/>
            <a:ext cx="1546479" cy="335280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7FC0B1"/>
                </a:solidFill>
                <a:latin typeface="IBM Plex Mono"/>
                <a:ea typeface="IBM Plex Mono"/>
                <a:cs typeface="IBM Plex Mono"/>
              </a:rPr>
              <a:t>BENCHMARK</a:t>
            </a:r>
            <a:endParaRPr sz="18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86CD5C6-AC5F-493A-91D1-43798733C001}"/>
              </a:ext>
            </a:extLst>
          </p:cNvPr>
          <p:cNvSpPr>
            <a:spLocks noGrp="1"/>
          </p:cNvSpPr>
          <p:nvPr/>
        </p:nvSpPr>
        <p:spPr>
          <a:xfrm>
            <a:off x="2710922" y="8872764"/>
            <a:ext cx="15190966" cy="60593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/>
          </a:bodyPr>
          <a:lstStyle/>
          <a:p>
            <a:pPr marL="0" marR="0"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solidFill>
                  <a:srgbClr val="D7E2EE"/>
                </a:solidFill>
                <a:latin typeface="IBM Plex Sans"/>
                <a:ea typeface="IBM Plex Sans"/>
                <a:cs typeface="IBM Plex Sans"/>
              </a:rPr>
              <a:t>Clairvoyant LP over feasible super-actions with true expected reward and cost under the average budget rate ρ = B/T.</a:t>
            </a: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53B5CFC0-7DC4-DC52-E76E-04DFD4D51C5B}"/>
              </a:ext>
            </a:extLst>
          </p:cNvPr>
          <p:cNvSpPr>
            <a:spLocks noGrp="1"/>
          </p:cNvSpPr>
          <p:nvPr/>
        </p:nvSpPr>
        <p:spPr>
          <a:xfrm>
            <a:off x="13215938" y="374240"/>
            <a:ext cx="5280660" cy="403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31500" b="1">
                <a:solidFill>
                  <a:srgbClr val="FFFFFF">
                    <a:alpha val="6000"/>
                  </a:srgbClr>
                </a:solidFill>
                <a:latin typeface="IBM Plex Mono"/>
                <a:ea typeface="IBM Plex Mono"/>
                <a:cs typeface="IBM Plex Mono"/>
              </a:rPr>
              <a:t>02</a:t>
            </a:r>
            <a:endParaRPr sz="31500"/>
          </a:p>
        </p:txBody>
      </p:sp>
    </p:spTree>
    <p:extLst>
      <p:ext uri="{BB962C8B-B14F-4D97-AF65-F5344CB8AC3E}">
        <p14:creationId xmlns:p14="http://schemas.microsoft.com/office/powerpoint/2010/main" val="23166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4934DAE-5871-443B-B03B-037EF25E417A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STAGE 2: FAILURE DIAGNOSIS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570DB2-393C-4777-A589-C2F06A6759F4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The Learner Finds Good Actions but Spends Too Early</a:t>
            </a:r>
            <a:endParaRPr sz="4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210EC83-EAAF-4987-B537-82D675465E21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6383000" cy="5173980"/>
          </a:xfrm>
          <a:prstGeom prst="roundRect">
            <a:avLst>
              <a:gd name="adj" fmla="val 2209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0620" y="2407920"/>
            <a:ext cx="15986760" cy="477774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6C6AF255-64D2-4465-A915-E3F38FD5D8A4}"/>
              </a:ext>
            </a:extLst>
          </p:cNvPr>
          <p:cNvSpPr>
            <a:spLocks noGrp="1"/>
          </p:cNvSpPr>
          <p:nvPr/>
        </p:nvSpPr>
        <p:spPr>
          <a:xfrm>
            <a:off x="952500" y="7669530"/>
            <a:ext cx="5308521" cy="1893570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79EA086-7212-4BAA-9FD3-2D950FE86489}"/>
              </a:ext>
            </a:extLst>
          </p:cNvPr>
          <p:cNvSpPr>
            <a:spLocks noGrp="1"/>
          </p:cNvSpPr>
          <p:nvPr/>
        </p:nvSpPr>
        <p:spPr>
          <a:xfrm>
            <a:off x="1226820" y="7905750"/>
            <a:ext cx="5235869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2A8577"/>
                </a:solidFill>
                <a:latin typeface="IBM Plex Mono"/>
                <a:ea typeface="IBM Plex Mono"/>
                <a:cs typeface="IBM Plex Mono"/>
              </a:rPr>
              <a:t>MID-HORIZON</a:t>
            </a:r>
            <a:endParaRPr sz="18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F748905-B995-431F-9EFF-913B36621C8B}"/>
              </a:ext>
            </a:extLst>
          </p:cNvPr>
          <p:cNvSpPr>
            <a:spLocks noGrp="1"/>
          </p:cNvSpPr>
          <p:nvPr/>
        </p:nvSpPr>
        <p:spPr>
          <a:xfrm>
            <a:off x="1226820" y="8298180"/>
            <a:ext cx="4902677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929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Pseudo-regret stays near zero. The action estimates are already accurate.</a:t>
            </a:r>
            <a:endParaRPr sz="18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6628F8B-78BC-400C-A746-A7956C0C0B89}"/>
              </a:ext>
            </a:extLst>
          </p:cNvPr>
          <p:cNvSpPr>
            <a:spLocks noGrp="1"/>
          </p:cNvSpPr>
          <p:nvPr/>
        </p:nvSpPr>
        <p:spPr>
          <a:xfrm>
            <a:off x="6489621" y="7669530"/>
            <a:ext cx="5308640" cy="1893570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BE892F5-3F01-466E-9706-92C9CEB1FF80}"/>
              </a:ext>
            </a:extLst>
          </p:cNvPr>
          <p:cNvSpPr>
            <a:spLocks noGrp="1"/>
          </p:cNvSpPr>
          <p:nvPr/>
        </p:nvSpPr>
        <p:spPr>
          <a:xfrm>
            <a:off x="6763941" y="7905750"/>
            <a:ext cx="52360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t ≈ 1900</a:t>
            </a:r>
            <a:endParaRPr sz="18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23B42AB-38F2-45B0-80F0-24422F8B1EB5}"/>
              </a:ext>
            </a:extLst>
          </p:cNvPr>
          <p:cNvSpPr>
            <a:spLocks noGrp="1"/>
          </p:cNvSpPr>
          <p:nvPr/>
        </p:nvSpPr>
        <p:spPr>
          <a:xfrm>
            <a:off x="6763941" y="8298180"/>
            <a:ext cx="4902800" cy="1066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9804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Cost lower bounds understate expenditure. The learner exhausts the budget near round 1900 and then selects only the null action.</a:t>
            </a:r>
            <a:endParaRPr sz="18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480D1F1-8119-4AF0-A0AB-857055891D92}"/>
              </a:ext>
            </a:extLst>
          </p:cNvPr>
          <p:cNvSpPr>
            <a:spLocks noGrp="1"/>
          </p:cNvSpPr>
          <p:nvPr/>
        </p:nvSpPr>
        <p:spPr>
          <a:xfrm>
            <a:off x="12026860" y="7669530"/>
            <a:ext cx="5308640" cy="1893570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60570B3-0BC5-47DD-9EFB-2A99930A229A}"/>
              </a:ext>
            </a:extLst>
          </p:cNvPr>
          <p:cNvSpPr>
            <a:spLocks noGrp="1"/>
          </p:cNvSpPr>
          <p:nvPr/>
        </p:nvSpPr>
        <p:spPr>
          <a:xfrm>
            <a:off x="12301181" y="7905750"/>
            <a:ext cx="52360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FINAL</a:t>
            </a:r>
            <a:endParaRPr sz="18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0D05BC8-F19E-4E9B-9A24-7B4380A64E6D}"/>
              </a:ext>
            </a:extLst>
          </p:cNvPr>
          <p:cNvSpPr>
            <a:spLocks noGrp="1"/>
          </p:cNvSpPr>
          <p:nvPr/>
        </p:nvSpPr>
        <p:spPr>
          <a:xfrm>
            <a:off x="12301181" y="8298180"/>
            <a:ext cx="4902800" cy="1066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9804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Final pseudo-regret reaches about 595, compared with 0.435 per round for the random policy. Maximum spend remains 699/700.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946278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116694-C246-46B2-8FE8-0F0F8183EC86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 S2: INTERVENTION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9F882D-D3D1-4366-A885-BC6C34FD5377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Empirical Costs Align Spending with the Horizon</a:t>
            </a:r>
            <a:endParaRPr sz="4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7CC6C63-64EC-49B6-896C-96437E03E2FD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8077200" cy="2074307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9A874B-4910-46D4-8DA6-8E17DD58AFFC}"/>
              </a:ext>
            </a:extLst>
          </p:cNvPr>
          <p:cNvSpPr>
            <a:spLocks noGrp="1"/>
          </p:cNvSpPr>
          <p:nvPr/>
        </p:nvSpPr>
        <p:spPr>
          <a:xfrm>
            <a:off x="1245870" y="2465070"/>
            <a:ext cx="823950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1  WIN PROBABILITY PER ARM</a:t>
            </a:r>
            <a:endParaRPr sz="18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" y="2876550"/>
            <a:ext cx="3115270" cy="35052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D1C56A48-6A4F-4C18-8207-DABDFF84E0C6}"/>
              </a:ext>
            </a:extLst>
          </p:cNvPr>
          <p:cNvSpPr>
            <a:spLocks noGrp="1"/>
          </p:cNvSpPr>
          <p:nvPr/>
        </p:nvSpPr>
        <p:spPr>
          <a:xfrm>
            <a:off x="1245870" y="3343037"/>
            <a:ext cx="7715174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929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One Bernoulli estimate for each campaign and bid. Semi-bandit feedback supports an independent update for every selected arm.</a:t>
            </a:r>
            <a:endParaRPr sz="180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C40B1C68-E2C4-4BD2-9EF0-9BE30175D2B9}"/>
              </a:ext>
            </a:extLst>
          </p:cNvPr>
          <p:cNvSpPr>
            <a:spLocks noGrp="1"/>
          </p:cNvSpPr>
          <p:nvPr/>
        </p:nvSpPr>
        <p:spPr>
          <a:xfrm>
            <a:off x="952500" y="4512707"/>
            <a:ext cx="8077200" cy="2074307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6F6A492-27FC-423F-BE84-E7CC62EFB30B}"/>
              </a:ext>
            </a:extLst>
          </p:cNvPr>
          <p:cNvSpPr>
            <a:spLocks noGrp="1"/>
          </p:cNvSpPr>
          <p:nvPr/>
        </p:nvSpPr>
        <p:spPr>
          <a:xfrm>
            <a:off x="1245870" y="4767977"/>
            <a:ext cx="823950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3  EMPIRICAL COST IN THE LP</a:t>
            </a:r>
            <a:endParaRPr sz="1800"/>
          </a:p>
        </p:txBody>
      </p:sp>
      <p:pic>
        <p:nvPicPr>
          <p:cNvPr id="54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870" y="5179457"/>
            <a:ext cx="3530560" cy="35052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8914CFAF-5358-47B5-B1B7-922981318ACB}"/>
              </a:ext>
            </a:extLst>
          </p:cNvPr>
          <p:cNvSpPr>
            <a:spLocks noGrp="1"/>
          </p:cNvSpPr>
          <p:nvPr/>
        </p:nvSpPr>
        <p:spPr>
          <a:xfrm>
            <a:off x="1245870" y="5645944"/>
            <a:ext cx="7715174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929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The LP uses the unbiased empirical cost estimate. The ablation isolates its effect on early expenditure.</a:t>
            </a:r>
            <a:endParaRPr sz="180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1E95D7EA-4FFD-14D5-5562-1C5AF48BCA3C}"/>
              </a:ext>
            </a:extLst>
          </p:cNvPr>
          <p:cNvSpPr>
            <a:spLocks noGrp="1"/>
          </p:cNvSpPr>
          <p:nvPr/>
        </p:nvSpPr>
        <p:spPr>
          <a:xfrm>
            <a:off x="9260618" y="2209800"/>
            <a:ext cx="8077200" cy="2074307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A0B1FCA3-0462-4917-1C92-74AE28CC2E4F}"/>
              </a:ext>
            </a:extLst>
          </p:cNvPr>
          <p:cNvSpPr>
            <a:spLocks noGrp="1"/>
          </p:cNvSpPr>
          <p:nvPr/>
        </p:nvSpPr>
        <p:spPr>
          <a:xfrm>
            <a:off x="9553988" y="2465070"/>
            <a:ext cx="823950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2  KL BOUND FOR WIN PROBABILITY</a:t>
            </a:r>
            <a:endParaRPr sz="1800"/>
          </a:p>
        </p:txBody>
      </p:sp>
      <p:pic>
        <p:nvPicPr>
          <p:cNvPr id="58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988" y="2876550"/>
            <a:ext cx="4206597" cy="350520"/>
          </a:xfrm>
          <a:prstGeom prst="rect">
            <a:avLst/>
          </a:prstGeom>
        </p:spPr>
      </p:pic>
      <p:sp>
        <p:nvSpPr>
          <p:cNvPr id="31" name="Shape 11">
            <a:extLst>
              <a:ext uri="{FF2B5EF4-FFF2-40B4-BE49-F238E27FC236}">
                <a16:creationId xmlns:a16="http://schemas.microsoft.com/office/drawing/2014/main" id="{D9D0A946-79F4-5798-2549-380C50C4CC26}"/>
              </a:ext>
            </a:extLst>
          </p:cNvPr>
          <p:cNvSpPr>
            <a:spLocks noGrp="1"/>
          </p:cNvSpPr>
          <p:nvPr/>
        </p:nvSpPr>
        <p:spPr>
          <a:xfrm>
            <a:off x="9260618" y="4512707"/>
            <a:ext cx="8077200" cy="2074307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93BADF4F-EAE1-55B1-83D0-42C66AFE17AA}"/>
              </a:ext>
            </a:extLst>
          </p:cNvPr>
          <p:cNvSpPr>
            <a:spLocks noGrp="1"/>
          </p:cNvSpPr>
          <p:nvPr/>
        </p:nvSpPr>
        <p:spPr>
          <a:xfrm>
            <a:off x="9553988" y="4767977"/>
            <a:ext cx="823950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4  DYNAMIC PACING</a:t>
            </a:r>
            <a:endParaRPr sz="1800"/>
          </a:p>
        </p:txBody>
      </p:sp>
      <p:pic>
        <p:nvPicPr>
          <p:cNvPr id="61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988" y="5179457"/>
            <a:ext cx="2133124" cy="350520"/>
          </a:xfrm>
          <a:prstGeom prst="rect">
            <a:avLst/>
          </a:prstGeom>
        </p:spPr>
      </p:pic>
      <p:sp>
        <p:nvSpPr>
          <p:cNvPr id="37" name="Text 13">
            <a:extLst>
              <a:ext uri="{FF2B5EF4-FFF2-40B4-BE49-F238E27FC236}">
                <a16:creationId xmlns:a16="http://schemas.microsoft.com/office/drawing/2014/main" id="{63B366BD-2852-538F-22FA-12B984BFA5AB}"/>
              </a:ext>
            </a:extLst>
          </p:cNvPr>
          <p:cNvSpPr>
            <a:spLocks noGrp="1"/>
          </p:cNvSpPr>
          <p:nvPr/>
        </p:nvSpPr>
        <p:spPr>
          <a:xfrm>
            <a:off x="9553988" y="5645944"/>
            <a:ext cx="7715174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6873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The spend cap becomes remaining budget divided by remaining rounds. The LP also excludes unaffordable super-actions.</a:t>
            </a:r>
            <a:endParaRPr sz="1800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80091F84-3DE3-935D-633D-BB77A623E3BC}"/>
              </a:ext>
            </a:extLst>
          </p:cNvPr>
          <p:cNvSpPr>
            <a:spLocks noGrp="1"/>
          </p:cNvSpPr>
          <p:nvPr/>
        </p:nvSpPr>
        <p:spPr>
          <a:xfrm>
            <a:off x="953294" y="6931152"/>
            <a:ext cx="16386048" cy="502581"/>
          </a:xfrm>
          <a:prstGeom prst="roundRect">
            <a:avLst>
              <a:gd name="adj" fmla="val 12954"/>
            </a:avLst>
          </a:prstGeom>
          <a:solidFill>
            <a:srgbClr val="E8EEF5"/>
          </a:solidFill>
        </p:spPr>
        <p:txBody>
          <a:bodyPr/>
          <a:lstStyle/>
          <a:p>
            <a:pPr algn="ctr">
              <a:buNone/>
            </a:pPr>
            <a:r>
              <a:rPr sz="2000" b="1" i="0">
                <a:solidFill>
                  <a:srgbClr val="464A52"/>
                </a:solidFill>
              </a:rPr>
              <a:t>The linear program remains unchanged. Only its statistical estimates and budget cap change.</a:t>
            </a:r>
            <a:endParaRPr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31E8F37A-34CF-7B65-AF72-6A400C0B8794}"/>
              </a:ext>
            </a:extLst>
          </p:cNvPr>
          <p:cNvSpPr>
            <a:spLocks noGrp="1"/>
          </p:cNvSpPr>
          <p:nvPr/>
        </p:nvSpPr>
        <p:spPr>
          <a:xfrm>
            <a:off x="9441631" y="3284220"/>
            <a:ext cx="7827531" cy="1145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17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KL bounds improve the ranking of campaign-bid pairs with small winning probabilities.</a:t>
            </a:r>
          </a:p>
          <a:p>
            <a:pPr marL="0" indent="0" algn="l">
              <a:lnSpc>
                <a:spcPct val="150000"/>
              </a:lnSpc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754577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4823D8-B9F1-46AD-9A78-434C2B19CF36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STAGE 2: EVIDENCE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B833FB-840A-4FD8-AB24-57A38698AA1F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Dynamic Pacing Extends Strong Performance to the Horizon</a:t>
            </a:r>
            <a:endParaRPr sz="4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403D8CC-0FAF-450C-921E-940ADE11C818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6383000" cy="5101590"/>
          </a:xfrm>
          <a:prstGeom prst="roundRect">
            <a:avLst>
              <a:gd name="adj" fmla="val 224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0620" y="2407920"/>
            <a:ext cx="15986760" cy="470535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D456411B-A5B0-4A1F-9F15-464F29D73A6F}"/>
              </a:ext>
            </a:extLst>
          </p:cNvPr>
          <p:cNvSpPr>
            <a:spLocks noGrp="1"/>
          </p:cNvSpPr>
          <p:nvPr/>
        </p:nvSpPr>
        <p:spPr>
          <a:xfrm>
            <a:off x="816615" y="7639050"/>
            <a:ext cx="6167200" cy="19659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FFFE535-B2AC-4645-A8D6-611F7BE95011}"/>
              </a:ext>
            </a:extLst>
          </p:cNvPr>
          <p:cNvSpPr>
            <a:spLocks noGrp="1"/>
          </p:cNvSpPr>
          <p:nvPr/>
        </p:nvSpPr>
        <p:spPr>
          <a:xfrm>
            <a:off x="1181781" y="7834630"/>
            <a:ext cx="2305770" cy="9334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 marL="0" indent="0" algn="l">
              <a:buNone/>
            </a:pPr>
            <a:r>
              <a:rPr sz="4000" b="1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≈ 595</a:t>
            </a:r>
            <a:endParaRPr sz="4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275A04A-A956-4DC1-8EAA-5C999AF59E0F}"/>
              </a:ext>
            </a:extLst>
          </p:cNvPr>
          <p:cNvSpPr>
            <a:spLocks noGrp="1"/>
          </p:cNvSpPr>
          <p:nvPr/>
        </p:nvSpPr>
        <p:spPr>
          <a:xfrm>
            <a:off x="2990691" y="7834630"/>
            <a:ext cx="935858" cy="78295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0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→</a:t>
            </a:r>
            <a:endParaRPr sz="40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FEE0B35-01E9-4547-BA94-68C7172FFE69}"/>
              </a:ext>
            </a:extLst>
          </p:cNvPr>
          <p:cNvSpPr>
            <a:spLocks noGrp="1"/>
          </p:cNvSpPr>
          <p:nvPr/>
        </p:nvSpPr>
        <p:spPr>
          <a:xfrm>
            <a:off x="3580265" y="7834630"/>
            <a:ext cx="1494036" cy="83534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000" b="1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≈ 72</a:t>
            </a:r>
            <a:endParaRPr sz="40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3AE4577-509C-4FD3-A9AA-B3E465290055}"/>
              </a:ext>
            </a:extLst>
          </p:cNvPr>
          <p:cNvSpPr>
            <a:spLocks noGrp="1"/>
          </p:cNvSpPr>
          <p:nvPr/>
        </p:nvSpPr>
        <p:spPr>
          <a:xfrm>
            <a:off x="1264620" y="8459893"/>
            <a:ext cx="4662047" cy="3069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lnSpcReduction="10000"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final pseudo-regret with matched seeds</a:t>
            </a:r>
            <a:endParaRPr sz="18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524A48A-5B2B-48A2-97F8-A0754B8585A1}"/>
              </a:ext>
            </a:extLst>
          </p:cNvPr>
          <p:cNvSpPr>
            <a:spLocks noGrp="1"/>
          </p:cNvSpPr>
          <p:nvPr/>
        </p:nvSpPr>
        <p:spPr>
          <a:xfrm>
            <a:off x="7348300" y="7597140"/>
            <a:ext cx="4879300" cy="19659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146B386-AB45-40AD-8180-9C5B5FFE85E5}"/>
              </a:ext>
            </a:extLst>
          </p:cNvPr>
          <p:cNvSpPr>
            <a:spLocks noGrp="1"/>
          </p:cNvSpPr>
          <p:nvPr/>
        </p:nvSpPr>
        <p:spPr>
          <a:xfrm>
            <a:off x="7641670" y="7833360"/>
            <a:ext cx="4721816" cy="57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300" b="1">
                <a:solidFill>
                  <a:srgbClr val="2A8577"/>
                </a:solidFill>
                <a:latin typeface="IBM Plex Mono"/>
                <a:ea typeface="IBM Plex Mono"/>
                <a:cs typeface="IBM Plex Mono"/>
              </a:rPr>
              <a:t>96%</a:t>
            </a:r>
            <a:endParaRPr sz="33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D8B0A0F-0377-406B-8D5B-61894AEF1408}"/>
              </a:ext>
            </a:extLst>
          </p:cNvPr>
          <p:cNvSpPr>
            <a:spLocks noGrp="1"/>
          </p:cNvSpPr>
          <p:nvPr/>
        </p:nvSpPr>
        <p:spPr>
          <a:xfrm>
            <a:off x="7641670" y="8431530"/>
            <a:ext cx="472181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of the oracle’s expected reward</a:t>
            </a:r>
            <a:endParaRPr sz="18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9D4EB1A-A47A-486A-8771-02F769385783}"/>
              </a:ext>
            </a:extLst>
          </p:cNvPr>
          <p:cNvSpPr>
            <a:spLocks noGrp="1"/>
          </p:cNvSpPr>
          <p:nvPr/>
        </p:nvSpPr>
        <p:spPr>
          <a:xfrm>
            <a:off x="12456200" y="7597140"/>
            <a:ext cx="4879300" cy="19659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2A382AB-9EEA-4196-BA5F-94278C1FD008}"/>
              </a:ext>
            </a:extLst>
          </p:cNvPr>
          <p:cNvSpPr>
            <a:spLocks noGrp="1"/>
          </p:cNvSpPr>
          <p:nvPr/>
        </p:nvSpPr>
        <p:spPr>
          <a:xfrm>
            <a:off x="12749569" y="7833360"/>
            <a:ext cx="4721816" cy="57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300" b="1">
                <a:solidFill>
                  <a:srgbClr val="2A8577"/>
                </a:solidFill>
                <a:latin typeface="IBM Plex Mono"/>
                <a:ea typeface="IBM Plex Mono"/>
                <a:cs typeface="IBM Plex Mono"/>
              </a:rPr>
              <a:t>0.024</a:t>
            </a:r>
            <a:endParaRPr sz="33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07F494D-6F3B-4BAB-A8F3-7455D269B1A5}"/>
              </a:ext>
            </a:extLst>
          </p:cNvPr>
          <p:cNvSpPr>
            <a:spLocks noGrp="1"/>
          </p:cNvSpPr>
          <p:nvPr/>
        </p:nvSpPr>
        <p:spPr>
          <a:xfrm>
            <a:off x="12749569" y="8431530"/>
            <a:ext cx="4721816" cy="381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regret per round at the horizon, still decreasing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640347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1077C6-A07E-4AFF-873D-83F2CD24EF93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S2: ABLATION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028AB8-8170-4422-AEC0-4884CC987BB4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Confidence and Cost Estimates Produce Separate Gains</a:t>
            </a:r>
            <a:endParaRPr sz="4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2B5E31-A2F8-48C8-8BA9-AD317B6E3CAF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8039100" cy="5737860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1570" y="2388870"/>
            <a:ext cx="7680960" cy="537972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A5EF0799-7A77-4877-8D61-4BC0B85B1BAA}"/>
              </a:ext>
            </a:extLst>
          </p:cNvPr>
          <p:cNvSpPr>
            <a:spLocks noGrp="1"/>
          </p:cNvSpPr>
          <p:nvPr/>
        </p:nvSpPr>
        <p:spPr>
          <a:xfrm>
            <a:off x="952500" y="8138160"/>
            <a:ext cx="8039100" cy="1424940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80B3FE6-71B9-43B0-B1E0-BC14C12A93C7}"/>
              </a:ext>
            </a:extLst>
          </p:cNvPr>
          <p:cNvSpPr>
            <a:spLocks noGrp="1"/>
          </p:cNvSpPr>
          <p:nvPr/>
        </p:nvSpPr>
        <p:spPr>
          <a:xfrm>
            <a:off x="1226820" y="8355330"/>
            <a:ext cx="1442442" cy="10287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000" b="1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72 vs 101</a:t>
            </a:r>
            <a:endParaRPr sz="3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3CF14D0-EC0E-4816-B22B-FE5D9E4A9BD9}"/>
              </a:ext>
            </a:extLst>
          </p:cNvPr>
          <p:cNvSpPr>
            <a:spLocks noGrp="1"/>
          </p:cNvSpPr>
          <p:nvPr/>
        </p:nvSpPr>
        <p:spPr>
          <a:xfrm>
            <a:off x="2821662" y="8507730"/>
            <a:ext cx="6072487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679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400" b="1" dirty="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KL versus </a:t>
            </a:r>
            <a:r>
              <a:rPr sz="1400" b="1" dirty="0" err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Hoeffding</a:t>
            </a:r>
            <a:r>
              <a:rPr sz="1400" b="1" dirty="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. Only the confidence bound changes, and KL ranks small-probability arms more accurately.</a:t>
            </a:r>
            <a:endParaRPr sz="14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AB006F4-4175-490A-A98F-74B438EA0C8C}"/>
              </a:ext>
            </a:extLst>
          </p:cNvPr>
          <p:cNvSpPr>
            <a:spLocks noGrp="1"/>
          </p:cNvSpPr>
          <p:nvPr/>
        </p:nvSpPr>
        <p:spPr>
          <a:xfrm>
            <a:off x="9296400" y="2209800"/>
            <a:ext cx="8039100" cy="5737860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75470" y="2388870"/>
            <a:ext cx="7680960" cy="5379720"/>
          </a:xfrm>
          <a:prstGeom prst="rect">
            <a:avLst/>
          </a:prstGeom>
        </p:spPr>
      </p:pic>
      <p:sp>
        <p:nvSpPr>
          <p:cNvPr id="11" name="Shape 7">
            <a:extLst>
              <a:ext uri="{FF2B5EF4-FFF2-40B4-BE49-F238E27FC236}">
                <a16:creationId xmlns:a16="http://schemas.microsoft.com/office/drawing/2014/main" id="{5BD0E48C-038F-431F-9BDD-AE41CC391223}"/>
              </a:ext>
            </a:extLst>
          </p:cNvPr>
          <p:cNvSpPr>
            <a:spLocks noGrp="1"/>
          </p:cNvSpPr>
          <p:nvPr/>
        </p:nvSpPr>
        <p:spPr>
          <a:xfrm>
            <a:off x="9296400" y="8138160"/>
            <a:ext cx="8039100" cy="1424940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2C91B4E-0A99-4D68-AB1F-7C8443386400}"/>
              </a:ext>
            </a:extLst>
          </p:cNvPr>
          <p:cNvSpPr>
            <a:spLocks noGrp="1"/>
          </p:cNvSpPr>
          <p:nvPr/>
        </p:nvSpPr>
        <p:spPr>
          <a:xfrm>
            <a:off x="9570720" y="8355330"/>
            <a:ext cx="1318260" cy="10287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000" b="1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72 vs 165</a:t>
            </a:r>
            <a:endParaRPr sz="30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ABB1D10-1DF3-4BEA-890F-220ADBE3A021}"/>
              </a:ext>
            </a:extLst>
          </p:cNvPr>
          <p:cNvSpPr>
            <a:spLocks noGrp="1"/>
          </p:cNvSpPr>
          <p:nvPr/>
        </p:nvSpPr>
        <p:spPr>
          <a:xfrm>
            <a:off x="11041381" y="8507730"/>
            <a:ext cx="6200394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400" b="1" dirty="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Empirical cost versus cost LCB. The LCB spends 241 by T/4 instead of 177, and its early advantage disappears before the horizon.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898949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34CBAE9-795F-4CB1-B123-A3E826726C2C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E8A58C"/>
                </a:solidFill>
                <a:latin typeface="IBM Plex Mono"/>
                <a:ea typeface="IBM Plex Mono"/>
                <a:cs typeface="IBM Plex Mono"/>
              </a:rPr>
              <a:t>STAGE 3: ADAPTIVE BUDGET PRICE</a:t>
            </a:r>
            <a:endParaRPr sz="1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7D0385-9C9F-4BFC-AAC9-1E2F2DCA2983}"/>
              </a:ext>
            </a:extLst>
          </p:cNvPr>
          <p:cNvSpPr>
            <a:spLocks noGrp="1"/>
          </p:cNvSpPr>
          <p:nvPr/>
        </p:nvSpPr>
        <p:spPr>
          <a:xfrm>
            <a:off x="952500" y="1211580"/>
            <a:ext cx="13244513" cy="1630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sz="57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Primal-Dual Budget Control</a:t>
            </a:r>
            <a:endParaRPr sz="57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182215-9587-4753-8B80-2B5BBFFDB713}"/>
              </a:ext>
            </a:extLst>
          </p:cNvPr>
          <p:cNvSpPr>
            <a:spLocks noGrp="1"/>
          </p:cNvSpPr>
          <p:nvPr/>
        </p:nvSpPr>
        <p:spPr>
          <a:xfrm>
            <a:off x="952500" y="3032760"/>
            <a:ext cx="12753975" cy="97726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9706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2550">
                <a:solidFill>
                  <a:srgbClr val="B9C8DA"/>
                </a:solidFill>
                <a:latin typeface="IBM Plex Sans"/>
                <a:ea typeface="IBM Plex Sans"/>
                <a:cs typeface="IBM Plex Sans"/>
              </a:rPr>
              <a:t>The same combinatorial bidding instance now provides full feedback. After each round, thresholds reveal reward and cost for every super-action.</a:t>
            </a:r>
            <a:endParaRPr sz="25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D67F64D-8515-40EC-B88A-E5C43477DDA9}"/>
              </a:ext>
            </a:extLst>
          </p:cNvPr>
          <p:cNvSpPr>
            <a:spLocks noGrp="1"/>
          </p:cNvSpPr>
          <p:nvPr/>
        </p:nvSpPr>
        <p:spPr>
          <a:xfrm>
            <a:off x="952500" y="4314825"/>
            <a:ext cx="10034944" cy="3869055"/>
          </a:xfrm>
          <a:prstGeom prst="roundRect">
            <a:avLst>
              <a:gd name="adj" fmla="val 2954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5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4900" y="4467225"/>
            <a:ext cx="9730145" cy="3564255"/>
          </a:xfrm>
          <a:prstGeom prst="rect">
            <a:avLst/>
          </a:prstGeom>
        </p:spPr>
      </p:pic>
      <p:sp>
        <p:nvSpPr>
          <p:cNvPr id="14" name="Shape 11">
            <a:extLst>
              <a:ext uri="{FF2B5EF4-FFF2-40B4-BE49-F238E27FC236}">
                <a16:creationId xmlns:a16="http://schemas.microsoft.com/office/drawing/2014/main" id="{40A7F294-7F8E-41BF-8582-C0A977217ED9}"/>
              </a:ext>
            </a:extLst>
          </p:cNvPr>
          <p:cNvSpPr>
            <a:spLocks noGrp="1"/>
          </p:cNvSpPr>
          <p:nvPr/>
        </p:nvSpPr>
        <p:spPr>
          <a:xfrm>
            <a:off x="952500" y="8488680"/>
            <a:ext cx="16383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DDAF322-53E7-4E0C-8E86-6A15725F7B9F}"/>
              </a:ext>
            </a:extLst>
          </p:cNvPr>
          <p:cNvSpPr>
            <a:spLocks noGrp="1"/>
          </p:cNvSpPr>
          <p:nvPr/>
        </p:nvSpPr>
        <p:spPr>
          <a:xfrm>
            <a:off x="952500" y="9014460"/>
            <a:ext cx="1546479" cy="335280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7FC0B1"/>
                </a:solidFill>
                <a:latin typeface="IBM Plex Mono"/>
                <a:ea typeface="IBM Plex Mono"/>
                <a:cs typeface="IBM Plex Mono"/>
              </a:rPr>
              <a:t>BENCHMARK</a:t>
            </a:r>
            <a:endParaRPr sz="18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CF30729-794A-47FA-92FB-1461460EF80F}"/>
              </a:ext>
            </a:extLst>
          </p:cNvPr>
          <p:cNvSpPr>
            <a:spLocks noGrp="1"/>
          </p:cNvSpPr>
          <p:nvPr/>
        </p:nvSpPr>
        <p:spPr>
          <a:xfrm>
            <a:off x="2586990" y="8763000"/>
            <a:ext cx="15190966" cy="838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1891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2100">
                <a:solidFill>
                  <a:srgbClr val="D7E2EE"/>
                </a:solidFill>
                <a:latin typeface="IBM Plex Sans"/>
                <a:ea typeface="IBM Plex Sans"/>
                <a:cs typeface="IBM Plex Sans"/>
              </a:rPr>
              <a:t>Best fixed distribution in hindsight under the expected budget constraint. We compare against full OPT, a stricter target than ρ times OPT in the adversarial guarantee.</a:t>
            </a:r>
            <a:endParaRPr sz="210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A3F6A486-3B9A-C016-EEFB-2CFA5666E14E}"/>
              </a:ext>
            </a:extLst>
          </p:cNvPr>
          <p:cNvSpPr>
            <a:spLocks noGrp="1"/>
          </p:cNvSpPr>
          <p:nvPr/>
        </p:nvSpPr>
        <p:spPr>
          <a:xfrm>
            <a:off x="11420904" y="4817744"/>
            <a:ext cx="6081356" cy="883920"/>
          </a:xfrm>
          <a:prstGeom prst="roundRect">
            <a:avLst>
              <a:gd name="adj" fmla="val 8621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56AFF1D1-3376-1624-9592-2F7FFB0CB408}"/>
              </a:ext>
            </a:extLst>
          </p:cNvPr>
          <p:cNvSpPr>
            <a:spLocks noGrp="1"/>
          </p:cNvSpPr>
          <p:nvPr/>
        </p:nvSpPr>
        <p:spPr>
          <a:xfrm>
            <a:off x="11619024" y="4939664"/>
            <a:ext cx="5867556" cy="6781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Stochastic: Beta marginals + common factor</a:t>
            </a:r>
            <a:endParaRPr sz="1950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1F7C72C8-FE1F-2145-FC28-8C9B09CC1C99}"/>
              </a:ext>
            </a:extLst>
          </p:cNvPr>
          <p:cNvSpPr>
            <a:spLocks noGrp="1"/>
          </p:cNvSpPr>
          <p:nvPr/>
        </p:nvSpPr>
        <p:spPr>
          <a:xfrm>
            <a:off x="11420904" y="5854064"/>
            <a:ext cx="6081356" cy="883920"/>
          </a:xfrm>
          <a:prstGeom prst="roundRect">
            <a:avLst>
              <a:gd name="adj" fmla="val 8621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007B7C47-192D-2254-1151-E42F67778771}"/>
              </a:ext>
            </a:extLst>
          </p:cNvPr>
          <p:cNvSpPr>
            <a:spLocks noGrp="1"/>
          </p:cNvSpPr>
          <p:nvPr/>
        </p:nvSpPr>
        <p:spPr>
          <a:xfrm>
            <a:off x="11619024" y="5975984"/>
            <a:ext cx="5867556" cy="6781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Highly non-stationary: oblivious fast sinusoids + small noise</a:t>
            </a:r>
            <a:endParaRPr sz="1950"/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673E1E54-2063-C4B5-EB35-DDF77C93A7FC}"/>
              </a:ext>
            </a:extLst>
          </p:cNvPr>
          <p:cNvSpPr>
            <a:spLocks noGrp="1"/>
          </p:cNvSpPr>
          <p:nvPr/>
        </p:nvSpPr>
        <p:spPr>
          <a:xfrm>
            <a:off x="11420904" y="6890383"/>
            <a:ext cx="6081356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3A8015B2-DAB4-9A8A-2E8E-9C6A0624EA00}"/>
              </a:ext>
            </a:extLst>
          </p:cNvPr>
          <p:cNvSpPr>
            <a:spLocks noGrp="1"/>
          </p:cNvSpPr>
          <p:nvPr/>
        </p:nvSpPr>
        <p:spPr>
          <a:xfrm>
            <a:off x="11619024" y="7012303"/>
            <a:ext cx="5867556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T = 3000 · B = 700 · 250 super-actions</a:t>
            </a:r>
            <a:endParaRPr sz="1950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A0CF02D5-BC3E-DC79-CF6D-085E102DFD95}"/>
              </a:ext>
            </a:extLst>
          </p:cNvPr>
          <p:cNvSpPr>
            <a:spLocks noGrp="1"/>
          </p:cNvSpPr>
          <p:nvPr/>
        </p:nvSpPr>
        <p:spPr>
          <a:xfrm>
            <a:off x="11420904" y="7567612"/>
            <a:ext cx="6081356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86797B85-4F4C-864A-1FD0-1C9EB04CCAE1}"/>
              </a:ext>
            </a:extLst>
          </p:cNvPr>
          <p:cNvSpPr>
            <a:spLocks noGrp="1"/>
          </p:cNvSpPr>
          <p:nvPr/>
        </p:nvSpPr>
        <p:spPr>
          <a:xfrm>
            <a:off x="11619024" y="7675243"/>
            <a:ext cx="5867556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Hard budget enforcement</a:t>
            </a:r>
            <a:endParaRPr sz="195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23016F8-51AD-4402-06EA-80E46866BE6A}"/>
              </a:ext>
            </a:extLst>
          </p:cNvPr>
          <p:cNvSpPr>
            <a:spLocks noGrp="1"/>
          </p:cNvSpPr>
          <p:nvPr/>
        </p:nvSpPr>
        <p:spPr>
          <a:xfrm>
            <a:off x="13215938" y="374240"/>
            <a:ext cx="5280660" cy="403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31500" b="1">
                <a:solidFill>
                  <a:srgbClr val="FFFFFF">
                    <a:alpha val="6000"/>
                  </a:srgbClr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5439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944384-CD3C-477C-BA10-7CD68D254180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STAGE 3: FAILURE DIAGNOSIS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D0F592-F35E-44E2-8D8B-A76EE11F10CA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Conservative Normalization Leaves Budget Unused</a:t>
            </a:r>
            <a:endParaRPr sz="4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3EDEC7-A598-4CE0-8C06-856671241819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8600004" cy="1332071"/>
          </a:xfrm>
          <a:prstGeom prst="roundRect">
            <a:avLst>
              <a:gd name="adj" fmla="val 858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FEAE0B-618F-444A-8F05-67916B4D2449}"/>
              </a:ext>
            </a:extLst>
          </p:cNvPr>
          <p:cNvSpPr>
            <a:spLocks noGrp="1"/>
          </p:cNvSpPr>
          <p:nvPr/>
        </p:nvSpPr>
        <p:spPr>
          <a:xfrm>
            <a:off x="1245870" y="2465070"/>
            <a:ext cx="881459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PRIMAL LEARNER: HEDGE ON 250 SUPER-ACTIONS</a:t>
            </a:r>
            <a:endParaRPr sz="1800"/>
          </a:p>
        </p:txBody>
      </p:sp>
      <p:pic>
        <p:nvPicPr>
          <p:cNvPr id="4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" y="2895600"/>
            <a:ext cx="4378166" cy="38862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2DABD032-98F4-495E-B368-9C3CC5C243E5}"/>
              </a:ext>
            </a:extLst>
          </p:cNvPr>
          <p:cNvSpPr>
            <a:spLocks noGrp="1"/>
          </p:cNvSpPr>
          <p:nvPr/>
        </p:nvSpPr>
        <p:spPr>
          <a:xfrm>
            <a:off x="952500" y="3732371"/>
            <a:ext cx="8600004" cy="1347311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E6CF353-631A-4E6D-9EAA-A0E53B45DF6F}"/>
              </a:ext>
            </a:extLst>
          </p:cNvPr>
          <p:cNvSpPr>
            <a:spLocks noGrp="1"/>
          </p:cNvSpPr>
          <p:nvPr/>
        </p:nvSpPr>
        <p:spPr>
          <a:xfrm>
            <a:off x="1245870" y="3987641"/>
            <a:ext cx="8814590" cy="350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DUAL LEARNER: PROJECTED OGD, λ ∈ [0, 1/ρ]</a:t>
            </a:r>
            <a:endParaRPr sz="1800"/>
          </a:p>
        </p:txBody>
      </p:sp>
      <p:pic>
        <p:nvPicPr>
          <p:cNvPr id="4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870" y="4433411"/>
            <a:ext cx="4279583" cy="388620"/>
          </a:xfrm>
          <a:prstGeom prst="rect">
            <a:avLst/>
          </a:prstGeom>
        </p:spPr>
      </p:pic>
      <p:sp>
        <p:nvSpPr>
          <p:cNvPr id="10" name="Shape 6">
            <a:extLst>
              <a:ext uri="{FF2B5EF4-FFF2-40B4-BE49-F238E27FC236}">
                <a16:creationId xmlns:a16="http://schemas.microsoft.com/office/drawing/2014/main" id="{DD995374-9F81-49D3-8A80-5091D57B1957}"/>
              </a:ext>
            </a:extLst>
          </p:cNvPr>
          <p:cNvSpPr>
            <a:spLocks noGrp="1"/>
          </p:cNvSpPr>
          <p:nvPr/>
        </p:nvSpPr>
        <p:spPr>
          <a:xfrm>
            <a:off x="952500" y="5270182"/>
            <a:ext cx="8600004" cy="1375410"/>
          </a:xfrm>
          <a:prstGeom prst="roundRect">
            <a:avLst>
              <a:gd name="adj" fmla="val 831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471E7EF-EA27-41FC-AED2-6D6D5F0FD871}"/>
              </a:ext>
            </a:extLst>
          </p:cNvPr>
          <p:cNvSpPr>
            <a:spLocks noGrp="1"/>
          </p:cNvSpPr>
          <p:nvPr/>
        </p:nvSpPr>
        <p:spPr>
          <a:xfrm>
            <a:off x="1245870" y="5525453"/>
            <a:ext cx="881459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REFERENCE LEARNING RATES</a:t>
            </a:r>
            <a:endParaRPr sz="1800"/>
          </a:p>
        </p:txBody>
      </p:sp>
      <p:pic>
        <p:nvPicPr>
          <p:cNvPr id="47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870" y="5988248"/>
            <a:ext cx="5053370" cy="388620"/>
          </a:xfrm>
          <a:prstGeom prst="rect">
            <a:avLst/>
          </a:prstGeom>
        </p:spPr>
      </p:pic>
      <p:sp>
        <p:nvSpPr>
          <p:cNvPr id="15" name="Shape 10">
            <a:extLst>
              <a:ext uri="{FF2B5EF4-FFF2-40B4-BE49-F238E27FC236}">
                <a16:creationId xmlns:a16="http://schemas.microsoft.com/office/drawing/2014/main" id="{15076D51-1D3E-469C-BF2A-E66CE6304412}"/>
              </a:ext>
            </a:extLst>
          </p:cNvPr>
          <p:cNvSpPr>
            <a:spLocks noGrp="1"/>
          </p:cNvSpPr>
          <p:nvPr/>
        </p:nvSpPr>
        <p:spPr>
          <a:xfrm>
            <a:off x="9857304" y="2209800"/>
            <a:ext cx="7478196" cy="1306830"/>
          </a:xfrm>
          <a:prstGeom prst="roundRect">
            <a:avLst>
              <a:gd name="adj" fmla="val 874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8CA7891E-4E03-485A-B2C6-7A9EA4AD4F1D}"/>
              </a:ext>
            </a:extLst>
          </p:cNvPr>
          <p:cNvSpPr>
            <a:spLocks noGrp="1"/>
          </p:cNvSpPr>
          <p:nvPr/>
        </p:nvSpPr>
        <p:spPr>
          <a:xfrm>
            <a:off x="10112573" y="2426970"/>
            <a:ext cx="7664422" cy="5562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150" b="1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0.249 / 0.222</a:t>
            </a:r>
            <a:endParaRPr sz="315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7DB73F3-015F-4EE0-B97A-E45AAE0CC6BC}"/>
              </a:ext>
            </a:extLst>
          </p:cNvPr>
          <p:cNvSpPr>
            <a:spLocks noGrp="1"/>
          </p:cNvSpPr>
          <p:nvPr/>
        </p:nvSpPr>
        <p:spPr>
          <a:xfrm>
            <a:off x="10112573" y="3002280"/>
            <a:ext cx="7664422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regret/T — stochastic / non-stationary (random: 0.436 / 0.391)</a:t>
            </a:r>
            <a:endParaRPr sz="180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696EF045-A9D2-44D2-9AAD-C648B29F2453}"/>
              </a:ext>
            </a:extLst>
          </p:cNvPr>
          <p:cNvSpPr>
            <a:spLocks noGrp="1"/>
          </p:cNvSpPr>
          <p:nvPr/>
        </p:nvSpPr>
        <p:spPr>
          <a:xfrm>
            <a:off x="9857304" y="3707130"/>
            <a:ext cx="7478196" cy="1306830"/>
          </a:xfrm>
          <a:prstGeom prst="roundRect">
            <a:avLst>
              <a:gd name="adj" fmla="val 874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89C84634-5CC0-49C8-90DA-6E863CA18CBA}"/>
              </a:ext>
            </a:extLst>
          </p:cNvPr>
          <p:cNvSpPr>
            <a:spLocks noGrp="1"/>
          </p:cNvSpPr>
          <p:nvPr/>
        </p:nvSpPr>
        <p:spPr>
          <a:xfrm>
            <a:off x="10112573" y="3924300"/>
            <a:ext cx="7664422" cy="5562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150" b="1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569 / 558</a:t>
            </a:r>
            <a:endParaRPr sz="315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CE6CC8EB-B679-452C-BDA1-A5E7970F96D5}"/>
              </a:ext>
            </a:extLst>
          </p:cNvPr>
          <p:cNvSpPr>
            <a:spLocks noGrp="1"/>
          </p:cNvSpPr>
          <p:nvPr/>
        </p:nvSpPr>
        <p:spPr>
          <a:xfrm>
            <a:off x="10112573" y="4499610"/>
            <a:ext cx="7664422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spend out of 700 with no violations</a:t>
            </a:r>
            <a:endParaRPr sz="180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83B2BC70-8FA6-C97D-9FD0-DB37283F8463}"/>
              </a:ext>
            </a:extLst>
          </p:cNvPr>
          <p:cNvSpPr>
            <a:spLocks noGrp="1"/>
          </p:cNvSpPr>
          <p:nvPr/>
        </p:nvSpPr>
        <p:spPr>
          <a:xfrm>
            <a:off x="952500" y="6953323"/>
            <a:ext cx="8600004" cy="1954530"/>
          </a:xfrm>
          <a:prstGeom prst="roundRect">
            <a:avLst>
              <a:gd name="adj" fmla="val 5848"/>
            </a:avLst>
          </a:prstGeom>
          <a:solidFill>
            <a:srgbClr val="F3E7E1"/>
          </a:solidFill>
        </p:spPr>
        <p:txBody>
          <a:bodyPr/>
          <a:lstStyle/>
          <a:p>
            <a:endParaRPr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3877AEF3-F0AE-3F30-AA67-DDD3C2784B46}"/>
              </a:ext>
            </a:extLst>
          </p:cNvPr>
          <p:cNvSpPr>
            <a:spLocks noGrp="1"/>
          </p:cNvSpPr>
          <p:nvPr/>
        </p:nvSpPr>
        <p:spPr>
          <a:xfrm>
            <a:off x="1214866" y="7067696"/>
            <a:ext cx="8075271" cy="153543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Hedge needs losses in [0,1], but the Lagrangian contains a changing dual variable. Fixed worst-case normalization creates a range near 11 and reduces the effective update size.</a:t>
            </a:r>
            <a:endParaRPr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D0146A8C-6D36-ED8F-AA43-E1520631247E}"/>
              </a:ext>
            </a:extLst>
          </p:cNvPr>
          <p:cNvSpPr>
            <a:spLocks noGrp="1"/>
          </p:cNvSpPr>
          <p:nvPr/>
        </p:nvSpPr>
        <p:spPr>
          <a:xfrm>
            <a:off x="9857304" y="5262163"/>
            <a:ext cx="7478196" cy="27660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8017C4EA-49C3-D0F1-CFFD-1050B43B2BC6}"/>
              </a:ext>
            </a:extLst>
          </p:cNvPr>
          <p:cNvSpPr>
            <a:spLocks noGrp="1"/>
          </p:cNvSpPr>
          <p:nvPr/>
        </p:nvSpPr>
        <p:spPr>
          <a:xfrm>
            <a:off x="10096287" y="5362176"/>
            <a:ext cx="6929557" cy="3886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DIAGNOSIS</a:t>
            </a:r>
            <a:endParaRPr sz="210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34B38A6C-478A-17D9-9044-21B7A43E1269}"/>
              </a:ext>
            </a:extLst>
          </p:cNvPr>
          <p:cNvSpPr>
            <a:spLocks noGrp="1"/>
          </p:cNvSpPr>
          <p:nvPr/>
        </p:nvSpPr>
        <p:spPr>
          <a:xfrm>
            <a:off x="10121115" y="5850809"/>
            <a:ext cx="7137443" cy="18097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The learner beats the random policy in both regimes, but wide normalization makes its updates small and leaves budget unused.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2077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1AD80D-6E2D-4DA1-A103-205512B46575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S3: INTERVENTION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6095B5-E42D-4C90-91E3-22B9D0F0D1C4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Calibrated Learning Rates Improve Budget Use</a:t>
            </a:r>
            <a:endParaRPr sz="4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2BF93CB-2B7E-4581-94D9-5934269D5E19}"/>
              </a:ext>
            </a:extLst>
          </p:cNvPr>
          <p:cNvSpPr>
            <a:spLocks noGrp="1"/>
          </p:cNvSpPr>
          <p:nvPr/>
        </p:nvSpPr>
        <p:spPr>
          <a:xfrm>
            <a:off x="863651" y="2114311"/>
            <a:ext cx="8077200" cy="3834765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708A57-D7C3-4F05-9396-5DFFCD14104B}"/>
              </a:ext>
            </a:extLst>
          </p:cNvPr>
          <p:cNvSpPr>
            <a:spLocks noGrp="1"/>
          </p:cNvSpPr>
          <p:nvPr/>
        </p:nvSpPr>
        <p:spPr>
          <a:xfrm>
            <a:off x="1264920" y="2484120"/>
            <a:ext cx="819759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1  RATES CALIBRATED TO THE UPDATE RANGE</a:t>
            </a:r>
            <a:endParaRPr sz="1800"/>
          </a:p>
        </p:txBody>
      </p:sp>
      <p:pic>
        <p:nvPicPr>
          <p:cNvPr id="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0" y="2933700"/>
            <a:ext cx="3329107" cy="365760"/>
          </a:xfrm>
          <a:prstGeom prst="rect">
            <a:avLst/>
          </a:prstGeom>
        </p:spPr>
      </p:pic>
      <p:sp>
        <p:nvSpPr>
          <p:cNvPr id="32" name="Text 4">
            <a:extLst>
              <a:ext uri="{FF2B5EF4-FFF2-40B4-BE49-F238E27FC236}">
                <a16:creationId xmlns:a16="http://schemas.microsoft.com/office/drawing/2014/main" id="{E16A642B-36D4-B897-5B0B-EA36B9EB3C3A}"/>
              </a:ext>
            </a:extLst>
          </p:cNvPr>
          <p:cNvSpPr>
            <a:spLocks noGrp="1"/>
          </p:cNvSpPr>
          <p:nvPr/>
        </p:nvSpPr>
        <p:spPr>
          <a:xfrm>
            <a:off x="1199388" y="4108966"/>
            <a:ext cx="7560564" cy="11410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Hedge updates only on the action-dependent part of the Lagrangian. Learning rates follow the theoretical bounds for the resulting Hedge and OGD ranges.</a:t>
            </a:r>
            <a:endParaRPr sz="1800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D78127DC-4922-5EAC-BBF7-E637B0280550}"/>
              </a:ext>
            </a:extLst>
          </p:cNvPr>
          <p:cNvSpPr>
            <a:spLocks noGrp="1"/>
          </p:cNvSpPr>
          <p:nvPr/>
        </p:nvSpPr>
        <p:spPr>
          <a:xfrm>
            <a:off x="9169451" y="2119073"/>
            <a:ext cx="8077200" cy="3834765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36CFB330-5B0E-83DD-D9F8-EAF2E02D4656}"/>
              </a:ext>
            </a:extLst>
          </p:cNvPr>
          <p:cNvSpPr>
            <a:spLocks noGrp="1"/>
          </p:cNvSpPr>
          <p:nvPr/>
        </p:nvSpPr>
        <p:spPr>
          <a:xfrm>
            <a:off x="9481871" y="2393393"/>
            <a:ext cx="819759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2  PER-ACTION BUDGET CHECK</a:t>
            </a:r>
            <a:endParaRPr sz="1800"/>
          </a:p>
        </p:txBody>
      </p:sp>
      <p:pic>
        <p:nvPicPr>
          <p:cNvPr id="67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1871" y="2842973"/>
            <a:ext cx="4943713" cy="365760"/>
          </a:xfrm>
          <a:prstGeom prst="rect">
            <a:avLst/>
          </a:prstGeom>
        </p:spPr>
      </p:pic>
      <p:sp>
        <p:nvSpPr>
          <p:cNvPr id="42" name="Text 7">
            <a:extLst>
              <a:ext uri="{FF2B5EF4-FFF2-40B4-BE49-F238E27FC236}">
                <a16:creationId xmlns:a16="http://schemas.microsoft.com/office/drawing/2014/main" id="{2E301614-2315-91E2-5721-C4651319B3D8}"/>
              </a:ext>
            </a:extLst>
          </p:cNvPr>
          <p:cNvSpPr>
            <a:spLocks noGrp="1"/>
          </p:cNvSpPr>
          <p:nvPr/>
        </p:nvSpPr>
        <p:spPr>
          <a:xfrm>
            <a:off x="9481871" y="3361133"/>
            <a:ext cx="7675931" cy="11010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Only an unaffordable sampled action is replaced with the null action. Affordable actions remain available.</a:t>
            </a:r>
            <a:endParaRPr sz="180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8CAFBF43-7FAD-8109-CECA-081B5FB7AD21}"/>
              </a:ext>
            </a:extLst>
          </p:cNvPr>
          <p:cNvSpPr>
            <a:spLocks noGrp="1"/>
          </p:cNvSpPr>
          <p:nvPr/>
        </p:nvSpPr>
        <p:spPr>
          <a:xfrm>
            <a:off x="9481871" y="4576523"/>
            <a:ext cx="7675931" cy="11410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1369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 b="1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Declared asymmetry: </a:t>
            </a: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Hedge and the dual still update on the proposed x </a:t>
            </a:r>
            <a:r>
              <a:rPr sz="15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t </a:t>
            </a: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, while the budget decreases with the cost of the executed action.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O</a:t>
            </a: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verride frequency is ≈ 0 in both regimes.</a:t>
            </a:r>
            <a:endParaRPr sz="1800"/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C935C3F6-75A7-37A5-2DF9-9EDEF1FFE866}"/>
              </a:ext>
            </a:extLst>
          </p:cNvPr>
          <p:cNvSpPr>
            <a:spLocks noGrp="1"/>
          </p:cNvSpPr>
          <p:nvPr/>
        </p:nvSpPr>
        <p:spPr>
          <a:xfrm>
            <a:off x="863651" y="6258638"/>
            <a:ext cx="16383000" cy="1367433"/>
          </a:xfrm>
          <a:prstGeom prst="roundRect">
            <a:avLst>
              <a:gd name="adj" fmla="val 8359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6780831B-EA36-C7CF-0299-3F1542BA314A}"/>
              </a:ext>
            </a:extLst>
          </p:cNvPr>
          <p:cNvSpPr>
            <a:spLocks noGrp="1"/>
          </p:cNvSpPr>
          <p:nvPr/>
        </p:nvSpPr>
        <p:spPr>
          <a:xfrm>
            <a:off x="1187501" y="6793705"/>
            <a:ext cx="3780282" cy="335280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DUAL VARIABLE AS PACING</a:t>
            </a:r>
            <a:endParaRPr sz="180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FBDF6D6B-E4E5-33DF-1293-245AE0DA4FEA}"/>
              </a:ext>
            </a:extLst>
          </p:cNvPr>
          <p:cNvSpPr>
            <a:spLocks noGrp="1"/>
          </p:cNvSpPr>
          <p:nvPr/>
        </p:nvSpPr>
        <p:spPr>
          <a:xfrm>
            <a:off x="4981431" y="6530400"/>
            <a:ext cx="11663913" cy="910233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4126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2100" dirty="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The dual variable already prices overspending. It rises when average expenditure exceeds ρ and reduces the appeal of costly actions.</a:t>
            </a:r>
            <a:endParaRPr sz="2100" dirty="0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C5D3410D-EC2B-6DBD-F54A-942559068882}"/>
              </a:ext>
            </a:extLst>
          </p:cNvPr>
          <p:cNvSpPr>
            <a:spLocks noGrp="1"/>
          </p:cNvSpPr>
          <p:nvPr/>
        </p:nvSpPr>
        <p:spPr>
          <a:xfrm>
            <a:off x="863651" y="7929396"/>
            <a:ext cx="16383000" cy="1498449"/>
          </a:xfrm>
          <a:prstGeom prst="roundRect">
            <a:avLst>
              <a:gd name="adj" fmla="val 5848"/>
            </a:avLst>
          </a:prstGeom>
          <a:solidFill>
            <a:srgbClr val="F3E7E1"/>
          </a:solidFill>
        </p:spPr>
        <p:txBody>
          <a:bodyPr/>
          <a:lstStyle/>
          <a:p>
            <a:endParaRPr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D0086E6A-93F0-9358-261B-AB1812861BA6}"/>
              </a:ext>
            </a:extLst>
          </p:cNvPr>
          <p:cNvSpPr>
            <a:spLocks noGrp="1"/>
          </p:cNvSpPr>
          <p:nvPr/>
        </p:nvSpPr>
        <p:spPr>
          <a:xfrm>
            <a:off x="1126017" y="7998049"/>
            <a:ext cx="15838694" cy="117714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19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The ablation attributes the observed gain to calibrated learning rates. The per-action check provides a cleaner safety rule but has negligible empirical effect on this instance.</a:t>
            </a:r>
            <a:endParaRPr sz="1900">
              <a:solidFill>
                <a:srgbClr val="1E3A5F"/>
              </a:solidFill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8" name="Immagine 7" descr="Formula slide 15">
            <a:extLst>
              <a:ext uri="{FF2B5EF4-FFF2-40B4-BE49-F238E27FC236}">
                <a16:creationId xmlns:a16="http://schemas.microsoft.com/office/drawing/2014/main" id="{5A5956B1-279C-E741-75A7-47F353166610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264919" y="3495585"/>
            <a:ext cx="6339600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13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6665F8-4A2F-437C-B54C-066907ADE81F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S3: EVIDENCE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66C605-8EF1-4355-9623-C47E608247CC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Calibrated Rates Improve Both Regimes</a:t>
            </a:r>
            <a:endParaRPr sz="4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3A2542B-95D1-4B44-BE2A-246E86DADD2C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8863965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STOCHASTIC</a:t>
            </a:r>
            <a:endParaRPr sz="1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FE0E8EC-1FEA-4730-814A-ED71D3E2D241}"/>
              </a:ext>
            </a:extLst>
          </p:cNvPr>
          <p:cNvSpPr>
            <a:spLocks noGrp="1"/>
          </p:cNvSpPr>
          <p:nvPr/>
        </p:nvSpPr>
        <p:spPr>
          <a:xfrm>
            <a:off x="952500" y="2640330"/>
            <a:ext cx="8058150" cy="539115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2520" y="2800350"/>
            <a:ext cx="7738110" cy="507111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0D00FFA2-AAE4-4E27-AB36-9E0721F96412}"/>
              </a:ext>
            </a:extLst>
          </p:cNvPr>
          <p:cNvSpPr>
            <a:spLocks noGrp="1"/>
          </p:cNvSpPr>
          <p:nvPr/>
        </p:nvSpPr>
        <p:spPr>
          <a:xfrm>
            <a:off x="9277350" y="2209800"/>
            <a:ext cx="8863965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HIGHLY NON-STATIONARY</a:t>
            </a:r>
            <a:endParaRPr sz="18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2D9E7E9-D5D3-47EA-92A9-7C6C675C663A}"/>
              </a:ext>
            </a:extLst>
          </p:cNvPr>
          <p:cNvSpPr>
            <a:spLocks noGrp="1"/>
          </p:cNvSpPr>
          <p:nvPr/>
        </p:nvSpPr>
        <p:spPr>
          <a:xfrm>
            <a:off x="9277350" y="2640330"/>
            <a:ext cx="8058150" cy="539115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37370" y="2800350"/>
            <a:ext cx="7738110" cy="5071110"/>
          </a:xfrm>
          <a:prstGeom prst="rect">
            <a:avLst/>
          </a:prstGeom>
        </p:spPr>
      </p:pic>
      <p:sp>
        <p:nvSpPr>
          <p:cNvPr id="10" name="Shape 6">
            <a:extLst>
              <a:ext uri="{FF2B5EF4-FFF2-40B4-BE49-F238E27FC236}">
                <a16:creationId xmlns:a16="http://schemas.microsoft.com/office/drawing/2014/main" id="{6E7A566D-2797-40F2-92DE-1374583B2EF4}"/>
              </a:ext>
            </a:extLst>
          </p:cNvPr>
          <p:cNvSpPr>
            <a:spLocks noGrp="1"/>
          </p:cNvSpPr>
          <p:nvPr/>
        </p:nvSpPr>
        <p:spPr>
          <a:xfrm>
            <a:off x="952500" y="8298180"/>
            <a:ext cx="5308521" cy="1264920"/>
          </a:xfrm>
          <a:prstGeom prst="roundRect">
            <a:avLst>
              <a:gd name="adj" fmla="val 903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79E020F-F954-469A-B5A7-827BD8F550CB}"/>
              </a:ext>
            </a:extLst>
          </p:cNvPr>
          <p:cNvSpPr>
            <a:spLocks noGrp="1"/>
          </p:cNvSpPr>
          <p:nvPr/>
        </p:nvSpPr>
        <p:spPr>
          <a:xfrm>
            <a:off x="1226820" y="8614410"/>
            <a:ext cx="1162050" cy="5105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850" b="1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0.249</a:t>
            </a:r>
            <a:endParaRPr sz="285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1C55937-F48A-49F2-A623-21618BAF87C7}"/>
              </a:ext>
            </a:extLst>
          </p:cNvPr>
          <p:cNvSpPr>
            <a:spLocks noGrp="1"/>
          </p:cNvSpPr>
          <p:nvPr/>
        </p:nvSpPr>
        <p:spPr>
          <a:xfrm>
            <a:off x="2446020" y="8698230"/>
            <a:ext cx="233362" cy="4038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→</a:t>
            </a:r>
            <a:endParaRPr sz="225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3642A01-AB93-494D-886B-7EE1C75DE04E}"/>
              </a:ext>
            </a:extLst>
          </p:cNvPr>
          <p:cNvSpPr>
            <a:spLocks noGrp="1"/>
          </p:cNvSpPr>
          <p:nvPr/>
        </p:nvSpPr>
        <p:spPr>
          <a:xfrm>
            <a:off x="2736533" y="8515350"/>
            <a:ext cx="15087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600" b="1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0.121</a:t>
            </a:r>
            <a:endParaRPr sz="36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D174B17-0487-443B-9990-B9952328A3EC}"/>
              </a:ext>
            </a:extLst>
          </p:cNvPr>
          <p:cNvSpPr>
            <a:spLocks noGrp="1"/>
          </p:cNvSpPr>
          <p:nvPr/>
        </p:nvSpPr>
        <p:spPr>
          <a:xfrm>
            <a:off x="4241483" y="8751570"/>
            <a:ext cx="1821418" cy="6324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regret/T, stochastic</a:t>
            </a:r>
            <a:endParaRPr sz="180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41E21EFE-AEF5-4315-A78C-AD97B9AE4F14}"/>
              </a:ext>
            </a:extLst>
          </p:cNvPr>
          <p:cNvSpPr>
            <a:spLocks noGrp="1"/>
          </p:cNvSpPr>
          <p:nvPr/>
        </p:nvSpPr>
        <p:spPr>
          <a:xfrm>
            <a:off x="6489621" y="8298180"/>
            <a:ext cx="5308640" cy="1264920"/>
          </a:xfrm>
          <a:prstGeom prst="roundRect">
            <a:avLst>
              <a:gd name="adj" fmla="val 903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0EF0E41-8380-4A09-B624-C65FC7B51BF3}"/>
              </a:ext>
            </a:extLst>
          </p:cNvPr>
          <p:cNvSpPr>
            <a:spLocks noGrp="1"/>
          </p:cNvSpPr>
          <p:nvPr/>
        </p:nvSpPr>
        <p:spPr>
          <a:xfrm>
            <a:off x="6763941" y="8614410"/>
            <a:ext cx="1162050" cy="5105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850" b="1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0.222</a:t>
            </a:r>
            <a:endParaRPr sz="285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29507ECB-2031-4E72-BF62-9EED904CFE98}"/>
              </a:ext>
            </a:extLst>
          </p:cNvPr>
          <p:cNvSpPr>
            <a:spLocks noGrp="1"/>
          </p:cNvSpPr>
          <p:nvPr/>
        </p:nvSpPr>
        <p:spPr>
          <a:xfrm>
            <a:off x="7983141" y="8698230"/>
            <a:ext cx="233362" cy="4038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→</a:t>
            </a:r>
            <a:endParaRPr sz="225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54BDE1D-597D-468D-B572-97C9CD71ABBE}"/>
              </a:ext>
            </a:extLst>
          </p:cNvPr>
          <p:cNvSpPr>
            <a:spLocks noGrp="1"/>
          </p:cNvSpPr>
          <p:nvPr/>
        </p:nvSpPr>
        <p:spPr>
          <a:xfrm>
            <a:off x="8273653" y="8515350"/>
            <a:ext cx="15087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600" b="1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0.134</a:t>
            </a:r>
            <a:endParaRPr sz="360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1AB5A23-4778-4114-873A-5D316A495731}"/>
              </a:ext>
            </a:extLst>
          </p:cNvPr>
          <p:cNvSpPr>
            <a:spLocks noGrp="1"/>
          </p:cNvSpPr>
          <p:nvPr/>
        </p:nvSpPr>
        <p:spPr>
          <a:xfrm>
            <a:off x="9778603" y="8751570"/>
            <a:ext cx="1821537" cy="6324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regret/T, non-stationary</a:t>
            </a:r>
            <a:endParaRPr sz="180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86EBC9B8-73A6-4B0A-A143-C1125A5087F5}"/>
              </a:ext>
            </a:extLst>
          </p:cNvPr>
          <p:cNvSpPr>
            <a:spLocks noGrp="1"/>
          </p:cNvSpPr>
          <p:nvPr/>
        </p:nvSpPr>
        <p:spPr>
          <a:xfrm>
            <a:off x="12026860" y="8298180"/>
            <a:ext cx="5308640" cy="1264920"/>
          </a:xfrm>
          <a:prstGeom prst="roundRect">
            <a:avLst>
              <a:gd name="adj" fmla="val 903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DA6F3751-CDEC-4650-92F2-2DA6F822F4E1}"/>
              </a:ext>
            </a:extLst>
          </p:cNvPr>
          <p:cNvSpPr>
            <a:spLocks noGrp="1"/>
          </p:cNvSpPr>
          <p:nvPr/>
        </p:nvSpPr>
        <p:spPr>
          <a:xfrm>
            <a:off x="12301181" y="8540115"/>
            <a:ext cx="5236000" cy="4648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550" b="1">
                <a:solidFill>
                  <a:srgbClr val="2A8577"/>
                </a:solidFill>
                <a:latin typeface="IBM Plex Mono"/>
                <a:ea typeface="IBM Plex Mono"/>
                <a:cs typeface="IBM Plex Mono"/>
              </a:rPr>
              <a:t>569→676 · 558→597</a:t>
            </a:r>
            <a:endParaRPr sz="255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70DABB3-0AFF-49C7-B02B-977DF8E23CEF}"/>
              </a:ext>
            </a:extLst>
          </p:cNvPr>
          <p:cNvSpPr>
            <a:spLocks noGrp="1"/>
          </p:cNvSpPr>
          <p:nvPr/>
        </p:nvSpPr>
        <p:spPr>
          <a:xfrm>
            <a:off x="12301181" y="9023985"/>
            <a:ext cx="52360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spend out of 700 with no violation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077740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110105-F3F8-44F4-B7BA-5E593F263960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STAGE 3: ROBUSTNESS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0EE3E0-C2C7-492E-AAFD-344A83263F46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Regret per Round Decreases with the Horizon</a:t>
            </a:r>
            <a:endParaRPr sz="4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D18B4E-7091-414F-A917-395FF5E77712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6383000" cy="44119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0620" y="2407920"/>
            <a:ext cx="15986760" cy="4015740"/>
          </a:xfrm>
          <a:prstGeom prst="rect">
            <a:avLst/>
          </a:prstGeom>
        </p:spPr>
      </p:pic>
      <p:sp>
        <p:nvSpPr>
          <p:cNvPr id="15" name="Shape 3">
            <a:extLst>
              <a:ext uri="{FF2B5EF4-FFF2-40B4-BE49-F238E27FC236}">
                <a16:creationId xmlns:a16="http://schemas.microsoft.com/office/drawing/2014/main" id="{B28ABC78-14B5-7182-CFB9-2F26E58B7490}"/>
              </a:ext>
            </a:extLst>
          </p:cNvPr>
          <p:cNvSpPr>
            <a:spLocks noGrp="1"/>
          </p:cNvSpPr>
          <p:nvPr/>
        </p:nvSpPr>
        <p:spPr>
          <a:xfrm>
            <a:off x="952500" y="6926580"/>
            <a:ext cx="8077200" cy="1341120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4520C5E-F2B6-AEB2-CD11-18E92AF0D726}"/>
              </a:ext>
            </a:extLst>
          </p:cNvPr>
          <p:cNvSpPr>
            <a:spLocks noGrp="1"/>
          </p:cNvSpPr>
          <p:nvPr/>
        </p:nvSpPr>
        <p:spPr>
          <a:xfrm>
            <a:off x="1245870" y="7124700"/>
            <a:ext cx="2909570" cy="9829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850" b="1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0.27 → 0.12</a:t>
            </a:r>
            <a:endParaRPr sz="285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84596D3-F296-D39B-E2DA-3E7FB16FB916}"/>
              </a:ext>
            </a:extLst>
          </p:cNvPr>
          <p:cNvSpPr>
            <a:spLocks noGrp="1"/>
          </p:cNvSpPr>
          <p:nvPr/>
        </p:nvSpPr>
        <p:spPr>
          <a:xfrm>
            <a:off x="1245870" y="7672070"/>
            <a:ext cx="7783830" cy="38481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regret/T as T grows, stochastic — consistent with sublinear regret</a:t>
            </a:r>
            <a:endParaRPr sz="180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2497CFAB-07E6-30D4-7735-E2A6B72CD988}"/>
              </a:ext>
            </a:extLst>
          </p:cNvPr>
          <p:cNvSpPr>
            <a:spLocks noGrp="1"/>
          </p:cNvSpPr>
          <p:nvPr/>
        </p:nvSpPr>
        <p:spPr>
          <a:xfrm>
            <a:off x="9258300" y="6926580"/>
            <a:ext cx="8077200" cy="1341120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686F6D85-DCEB-6991-332D-AE179CACB79D}"/>
              </a:ext>
            </a:extLst>
          </p:cNvPr>
          <p:cNvSpPr>
            <a:spLocks noGrp="1"/>
          </p:cNvSpPr>
          <p:nvPr/>
        </p:nvSpPr>
        <p:spPr>
          <a:xfrm>
            <a:off x="9551670" y="7124700"/>
            <a:ext cx="2894330" cy="54737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850" b="1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0.23 → 0.13</a:t>
            </a:r>
            <a:endParaRPr sz="285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851F5961-3B67-06ED-F474-5D3CBE5894FD}"/>
              </a:ext>
            </a:extLst>
          </p:cNvPr>
          <p:cNvSpPr>
            <a:spLocks noGrp="1"/>
          </p:cNvSpPr>
          <p:nvPr/>
        </p:nvSpPr>
        <p:spPr>
          <a:xfrm>
            <a:off x="9389745" y="7677150"/>
            <a:ext cx="7652385" cy="370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regret/T as T grows, non-stationary — same algorithm, same constants</a:t>
            </a:r>
            <a:endParaRPr sz="180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079D466E-EDB7-6011-2DA8-2C97C9556362}"/>
              </a:ext>
            </a:extLst>
          </p:cNvPr>
          <p:cNvSpPr>
            <a:spLocks noGrp="1"/>
          </p:cNvSpPr>
          <p:nvPr/>
        </p:nvSpPr>
        <p:spPr>
          <a:xfrm>
            <a:off x="952500" y="8458200"/>
            <a:ext cx="16383000" cy="1181100"/>
          </a:xfrm>
          <a:prstGeom prst="roundRect">
            <a:avLst>
              <a:gd name="adj" fmla="val 9677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D278B67F-3A18-F496-293A-9B6D9FE2ABA4}"/>
              </a:ext>
            </a:extLst>
          </p:cNvPr>
          <p:cNvSpPr>
            <a:spLocks noGrp="1"/>
          </p:cNvSpPr>
          <p:nvPr/>
        </p:nvSpPr>
        <p:spPr>
          <a:xfrm>
            <a:off x="1257300" y="8669020"/>
            <a:ext cx="15880080" cy="838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r>
              <a:rPr sz="21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Across horizons from 100 to 3000, primal-dual regret per round decreases in both environments while the random policy stays high and nearly flat.</a:t>
            </a:r>
            <a:endParaRPr sz="2100">
              <a:solidFill>
                <a:srgbClr val="1E3A5F"/>
              </a:solidFill>
              <a:latin typeface="IBM Plex Sans"/>
              <a:ea typeface="IBM Plex Sans"/>
              <a:cs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215751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4D63940-8614-4B32-A091-31B4485B8CF5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E8A58C"/>
                </a:solidFill>
                <a:latin typeface="IBM Plex Mono"/>
                <a:ea typeface="IBM Plex Mono"/>
                <a:cs typeface="IBM Plex Mono"/>
              </a:rPr>
              <a:t>STAGE 4: MARKET DRIFT</a:t>
            </a:r>
            <a:endParaRPr sz="1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11FF71-CB57-4C07-8752-9DDA69D78AA8}"/>
              </a:ext>
            </a:extLst>
          </p:cNvPr>
          <p:cNvSpPr>
            <a:spLocks noGrp="1"/>
          </p:cNvSpPr>
          <p:nvPr/>
        </p:nvSpPr>
        <p:spPr>
          <a:xfrm>
            <a:off x="952500" y="1211580"/>
            <a:ext cx="13735050" cy="1630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5895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sz="57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Budgeted Learning in a Changing Auction Market</a:t>
            </a:r>
            <a:endParaRPr sz="57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E6BE15-D33F-4F33-AEE0-49E13B33B281}"/>
              </a:ext>
            </a:extLst>
          </p:cNvPr>
          <p:cNvSpPr>
            <a:spLocks noGrp="1"/>
          </p:cNvSpPr>
          <p:nvPr/>
        </p:nvSpPr>
        <p:spPr>
          <a:xfrm>
            <a:off x="952500" y="3032760"/>
            <a:ext cx="13735050" cy="14468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2550">
                <a:solidFill>
                  <a:srgbClr val="B9C8DA"/>
                </a:solidFill>
                <a:latin typeface="IBM Plex Sans"/>
                <a:ea typeface="IBM Plex Sans"/>
                <a:cs typeface="IBM Plex Sans"/>
              </a:rPr>
              <a:t>The combinatorial learners now face three market regimes. Sliding windows and change detection compete with the full-feedback primal-dual method as profitable campaigns change over time.</a:t>
            </a:r>
            <a:endParaRPr sz="25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981C94C-A600-4A79-91C0-4B60C90A3423}"/>
              </a:ext>
            </a:extLst>
          </p:cNvPr>
          <p:cNvSpPr>
            <a:spLocks noGrp="1"/>
          </p:cNvSpPr>
          <p:nvPr/>
        </p:nvSpPr>
        <p:spPr>
          <a:xfrm>
            <a:off x="952500" y="6917055"/>
            <a:ext cx="3924300" cy="2646045"/>
          </a:xfrm>
          <a:prstGeom prst="roundRect">
            <a:avLst>
              <a:gd name="adj" fmla="val 4320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EA199B-CE9C-409A-B98E-57B29E3C1424}"/>
              </a:ext>
            </a:extLst>
          </p:cNvPr>
          <p:cNvSpPr>
            <a:spLocks noGrp="1"/>
          </p:cNvSpPr>
          <p:nvPr/>
        </p:nvSpPr>
        <p:spPr>
          <a:xfrm>
            <a:off x="1226820" y="7153275"/>
            <a:ext cx="371322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7FC0B1"/>
                </a:solidFill>
                <a:latin typeface="IBM Plex Mono"/>
                <a:ea typeface="IBM Plex Mono"/>
                <a:cs typeface="IBM Plex Mono"/>
              </a:rPr>
              <a:t>HORIZON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DE67D4E-246C-4D4A-8AF2-E9E036076078}"/>
              </a:ext>
            </a:extLst>
          </p:cNvPr>
          <p:cNvSpPr>
            <a:spLocks noGrp="1"/>
          </p:cNvSpPr>
          <p:nvPr/>
        </p:nvSpPr>
        <p:spPr>
          <a:xfrm>
            <a:off x="1226820" y="7526655"/>
            <a:ext cx="3713226" cy="57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3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T = 3000</a:t>
            </a:r>
            <a:endParaRPr sz="3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BF39E9A-A557-4535-82A6-91CB260E1F9F}"/>
              </a:ext>
            </a:extLst>
          </p:cNvPr>
          <p:cNvSpPr>
            <a:spLocks noGrp="1"/>
          </p:cNvSpPr>
          <p:nvPr/>
        </p:nvSpPr>
        <p:spPr>
          <a:xfrm>
            <a:off x="1226820" y="8143875"/>
            <a:ext cx="3476930" cy="74485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1800">
                <a:solidFill>
                  <a:srgbClr val="9FB4CC"/>
                </a:solidFill>
                <a:latin typeface="IBM Plex Sans"/>
                <a:ea typeface="IBM Plex Sans"/>
                <a:cs typeface="IBM Plex Sans"/>
              </a:rPr>
              <a:t>3 equal segments, L = 1000, 2 known change points (Υ </a:t>
            </a:r>
            <a:r>
              <a:rPr sz="1500">
                <a:solidFill>
                  <a:srgbClr val="9FB4CC"/>
                </a:solidFill>
                <a:latin typeface="IBM Plex Sans"/>
                <a:ea typeface="IBM Plex Sans"/>
                <a:cs typeface="IBM Plex Sans"/>
              </a:rPr>
              <a:t>T </a:t>
            </a:r>
            <a:r>
              <a:rPr sz="1800">
                <a:solidFill>
                  <a:srgbClr val="9FB4CC"/>
                </a:solidFill>
                <a:latin typeface="IBM Plex Sans"/>
                <a:ea typeface="IBM Plex Sans"/>
                <a:cs typeface="IBM Plex Sans"/>
              </a:rPr>
              <a:t>= 2).</a:t>
            </a:r>
            <a:endParaRPr sz="18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02BCCFA-A81F-40E6-B792-D7A1368A876A}"/>
              </a:ext>
            </a:extLst>
          </p:cNvPr>
          <p:cNvSpPr>
            <a:spLocks noGrp="1"/>
          </p:cNvSpPr>
          <p:nvPr/>
        </p:nvSpPr>
        <p:spPr>
          <a:xfrm>
            <a:off x="5105400" y="6917055"/>
            <a:ext cx="3924300" cy="2646045"/>
          </a:xfrm>
          <a:prstGeom prst="roundRect">
            <a:avLst>
              <a:gd name="adj" fmla="val 4320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6B09A0A-0B15-4712-AFF3-FBCDD24CFDBD}"/>
              </a:ext>
            </a:extLst>
          </p:cNvPr>
          <p:cNvSpPr>
            <a:spLocks noGrp="1"/>
          </p:cNvSpPr>
          <p:nvPr/>
        </p:nvSpPr>
        <p:spPr>
          <a:xfrm>
            <a:off x="5379720" y="7153275"/>
            <a:ext cx="371322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7FC0B1"/>
                </a:solidFill>
                <a:latin typeface="IBM Plex Mono"/>
                <a:ea typeface="IBM Plex Mono"/>
                <a:cs typeface="IBM Plex Mono"/>
              </a:rPr>
              <a:t>BUDGET</a:t>
            </a:r>
            <a:endParaRPr sz="18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DD844A6-A10B-47DE-9DB0-38D314D2FA7F}"/>
              </a:ext>
            </a:extLst>
          </p:cNvPr>
          <p:cNvSpPr>
            <a:spLocks noGrp="1"/>
          </p:cNvSpPr>
          <p:nvPr/>
        </p:nvSpPr>
        <p:spPr>
          <a:xfrm>
            <a:off x="5379720" y="7526655"/>
            <a:ext cx="3713226" cy="57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3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B = 560</a:t>
            </a:r>
            <a:endParaRPr sz="3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756F3B7-3433-4B78-8835-E6F8777FEE6C}"/>
              </a:ext>
            </a:extLst>
          </p:cNvPr>
          <p:cNvSpPr>
            <a:spLocks noGrp="1"/>
          </p:cNvSpPr>
          <p:nvPr/>
        </p:nvSpPr>
        <p:spPr>
          <a:xfrm>
            <a:off x="5379720" y="8143875"/>
            <a:ext cx="3476930" cy="701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1800">
                <a:solidFill>
                  <a:srgbClr val="9FB4CC"/>
                </a:solidFill>
                <a:latin typeface="IBM Plex Sans"/>
                <a:ea typeface="IBM Plex Sans"/>
                <a:cs typeface="IBM Plex Sans"/>
              </a:rPr>
              <a:t>First-price auctions, 4 campaigns, ρ = B/T ≈ 0.187.</a:t>
            </a:r>
            <a:endParaRPr sz="18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714D387-24B9-4789-80C0-AA662AEB8486}"/>
              </a:ext>
            </a:extLst>
          </p:cNvPr>
          <p:cNvSpPr>
            <a:spLocks noGrp="1"/>
          </p:cNvSpPr>
          <p:nvPr/>
        </p:nvSpPr>
        <p:spPr>
          <a:xfrm>
            <a:off x="9258300" y="6917055"/>
            <a:ext cx="3924300" cy="2646045"/>
          </a:xfrm>
          <a:prstGeom prst="roundRect">
            <a:avLst>
              <a:gd name="adj" fmla="val 4320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078A917-D7D9-43E7-8068-D9042EE5DABF}"/>
              </a:ext>
            </a:extLst>
          </p:cNvPr>
          <p:cNvSpPr>
            <a:spLocks noGrp="1"/>
          </p:cNvSpPr>
          <p:nvPr/>
        </p:nvSpPr>
        <p:spPr>
          <a:xfrm>
            <a:off x="9532620" y="7153275"/>
            <a:ext cx="371322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7FC0B1"/>
                </a:solidFill>
                <a:latin typeface="IBM Plex Mono"/>
                <a:ea typeface="IBM Plex Mono"/>
                <a:cs typeface="IBM Plex Mono"/>
              </a:rPr>
              <a:t>ALGORITHMS</a:t>
            </a:r>
            <a:endParaRPr sz="18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C36460-6A1C-4C31-898D-5AA499AE2E75}"/>
              </a:ext>
            </a:extLst>
          </p:cNvPr>
          <p:cNvSpPr>
            <a:spLocks noGrp="1"/>
          </p:cNvSpPr>
          <p:nvPr/>
        </p:nvSpPr>
        <p:spPr>
          <a:xfrm>
            <a:off x="9532620" y="7526655"/>
            <a:ext cx="3476930" cy="18383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sz="20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SW Combinatorial-UCB CUSUM Combinatorial-UCB Primal-dual (full feedback)</a:t>
            </a:r>
            <a:endParaRPr sz="2025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A1D6246-1EA0-4674-BD40-24BFA732DAF4}"/>
              </a:ext>
            </a:extLst>
          </p:cNvPr>
          <p:cNvSpPr>
            <a:spLocks noGrp="1"/>
          </p:cNvSpPr>
          <p:nvPr/>
        </p:nvSpPr>
        <p:spPr>
          <a:xfrm>
            <a:off x="13411200" y="6917055"/>
            <a:ext cx="3924300" cy="2646045"/>
          </a:xfrm>
          <a:prstGeom prst="roundRect">
            <a:avLst>
              <a:gd name="adj" fmla="val 4320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07B025D-3BC6-42AB-8D80-814E148252E1}"/>
              </a:ext>
            </a:extLst>
          </p:cNvPr>
          <p:cNvSpPr>
            <a:spLocks noGrp="1"/>
          </p:cNvSpPr>
          <p:nvPr/>
        </p:nvSpPr>
        <p:spPr>
          <a:xfrm>
            <a:off x="13685520" y="7153275"/>
            <a:ext cx="3713226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7FC0B1"/>
                </a:solidFill>
                <a:latin typeface="IBM Plex Mono"/>
                <a:ea typeface="IBM Plex Mono"/>
                <a:cs typeface="IBM Plex Mono"/>
              </a:rPr>
              <a:t>BENCHMARK</a:t>
            </a:r>
            <a:endParaRPr sz="18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D5AF5E1-7A6C-47EA-8181-943624191D10}"/>
              </a:ext>
            </a:extLst>
          </p:cNvPr>
          <p:cNvSpPr>
            <a:spLocks noGrp="1"/>
          </p:cNvSpPr>
          <p:nvPr/>
        </p:nvSpPr>
        <p:spPr>
          <a:xfrm>
            <a:off x="13685520" y="7526655"/>
            <a:ext cx="3713226" cy="57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3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≈ 1229</a:t>
            </a:r>
            <a:endParaRPr sz="33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F86A470-8B95-4FA2-81F6-42A0FF25E98D}"/>
              </a:ext>
            </a:extLst>
          </p:cNvPr>
          <p:cNvSpPr>
            <a:spLocks noGrp="1"/>
          </p:cNvSpPr>
          <p:nvPr/>
        </p:nvSpPr>
        <p:spPr>
          <a:xfrm>
            <a:off x="13685520" y="8143875"/>
            <a:ext cx="3476930" cy="701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1800">
                <a:solidFill>
                  <a:srgbClr val="9FB4CC"/>
                </a:solidFill>
                <a:latin typeface="IBM Plex Sans"/>
                <a:ea typeface="IBM Plex Sans"/>
                <a:cs typeface="IBM Plex Sans"/>
              </a:rPr>
              <a:t>segment-local oracle: one LP per segment, same ρ per round.</a:t>
            </a:r>
            <a:endParaRPr sz="180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AE085FC5-8D7A-5BF6-CDF5-EA7F14C5E2DE}"/>
              </a:ext>
            </a:extLst>
          </p:cNvPr>
          <p:cNvSpPr>
            <a:spLocks noGrp="1"/>
          </p:cNvSpPr>
          <p:nvPr/>
        </p:nvSpPr>
        <p:spPr>
          <a:xfrm>
            <a:off x="13215938" y="374240"/>
            <a:ext cx="5280660" cy="403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31500" b="1">
                <a:solidFill>
                  <a:srgbClr val="FFFFFF">
                    <a:alpha val="6000"/>
                  </a:srgbClr>
                </a:solidFill>
                <a:latin typeface="IBM Plex Mono"/>
                <a:ea typeface="IBM Plex Mono"/>
                <a:cs typeface="IBM Plex Mono"/>
              </a:rPr>
              <a:t>04</a:t>
            </a:r>
            <a:endParaRPr sz="31500"/>
          </a:p>
        </p:txBody>
      </p:sp>
    </p:spTree>
    <p:extLst>
      <p:ext uri="{BB962C8B-B14F-4D97-AF65-F5344CB8AC3E}">
        <p14:creationId xmlns:p14="http://schemas.microsoft.com/office/powerpoint/2010/main" val="1181269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7FEC62-0FC5-423B-AB1D-4E186864A214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STAGE 4: MARKET STRUCTURE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DDA0DF-59C6-4308-AA4F-7E16C90B60E1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Piecewise-Stationary Market</a:t>
            </a:r>
            <a:endParaRPr sz="4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BBDE38-FD4F-49B9-BE77-1DD39D4FB59F}"/>
              </a:ext>
            </a:extLst>
          </p:cNvPr>
          <p:cNvSpPr>
            <a:spLocks noGrp="1"/>
          </p:cNvSpPr>
          <p:nvPr/>
        </p:nvSpPr>
        <p:spPr>
          <a:xfrm>
            <a:off x="952500" y="19431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T = 3000 · 3 segments · B = 560</a:t>
            </a:r>
            <a:endParaRPr sz="1800"/>
          </a:p>
        </p:txBody>
      </p:sp>
      <p:sp>
        <p:nvSpPr>
          <p:cNvPr id="50" name="Shape 3">
            <a:extLst>
              <a:ext uri="{FF2B5EF4-FFF2-40B4-BE49-F238E27FC236}">
                <a16:creationId xmlns:a16="http://schemas.microsoft.com/office/drawing/2014/main" id="{5FAF7A2D-8D40-3C22-67CA-0D2A66885854}"/>
              </a:ext>
            </a:extLst>
          </p:cNvPr>
          <p:cNvSpPr>
            <a:spLocks noGrp="1"/>
          </p:cNvSpPr>
          <p:nvPr/>
        </p:nvSpPr>
        <p:spPr>
          <a:xfrm>
            <a:off x="952500" y="2545080"/>
            <a:ext cx="8616583" cy="6724650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75C41FD0-E076-AFBB-4A45-19ED1B2C192D}"/>
              </a:ext>
            </a:extLst>
          </p:cNvPr>
          <p:cNvSpPr>
            <a:spLocks noGrp="1"/>
          </p:cNvSpPr>
          <p:nvPr/>
        </p:nvSpPr>
        <p:spPr>
          <a:xfrm>
            <a:off x="1070756" y="2876550"/>
            <a:ext cx="8429764" cy="7810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95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One bid per campaign each round, from a </a:t>
            </a:r>
            <a:r>
              <a:rPr sz="1950" b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grid of 8 values </a:t>
            </a:r>
            <a:r>
              <a:rPr sz="195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, denser on low bids (step 0.10, then 0.15).</a:t>
            </a:r>
            <a:endParaRPr sz="1950"/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77D2A195-F7D3-1E3C-D3B7-7BE76B0C94F5}"/>
              </a:ext>
            </a:extLst>
          </p:cNvPr>
          <p:cNvSpPr>
            <a:spLocks noGrp="1"/>
          </p:cNvSpPr>
          <p:nvPr/>
        </p:nvSpPr>
        <p:spPr>
          <a:xfrm>
            <a:off x="1070756" y="4372451"/>
            <a:ext cx="8429764" cy="7810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950" b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Conflict chain C1–C2–C3–C4</a:t>
            </a:r>
            <a:r>
              <a:rPr sz="195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: adjacent campaigns cannot both bid → </a:t>
            </a:r>
            <a:r>
              <a:rPr sz="1950" b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168 super-actions</a:t>
            </a:r>
            <a:r>
              <a:rPr sz="195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, 27 positive arms.</a:t>
            </a:r>
            <a:endParaRPr sz="1950"/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54314591-2774-7346-7081-D110E49BA0AB}"/>
              </a:ext>
            </a:extLst>
          </p:cNvPr>
          <p:cNvSpPr>
            <a:spLocks noGrp="1"/>
          </p:cNvSpPr>
          <p:nvPr/>
        </p:nvSpPr>
        <p:spPr>
          <a:xfrm>
            <a:off x="1070755" y="5891212"/>
            <a:ext cx="8429763" cy="115347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95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Each campaign has a hidden threshold			         , fixed within a segment, new at each change point.</a:t>
            </a:r>
          </a:p>
        </p:txBody>
      </p:sp>
      <p:pic>
        <p:nvPicPr>
          <p:cNvPr id="1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207" y="5958581"/>
            <a:ext cx="2520553" cy="320040"/>
          </a:xfrm>
          <a:prstGeom prst="rect">
            <a:avLst/>
          </a:prstGeom>
        </p:spPr>
      </p:pic>
      <p:sp>
        <p:nvSpPr>
          <p:cNvPr id="60" name="Text 10">
            <a:extLst>
              <a:ext uri="{FF2B5EF4-FFF2-40B4-BE49-F238E27FC236}">
                <a16:creationId xmlns:a16="http://schemas.microsoft.com/office/drawing/2014/main" id="{0C107938-6CB2-B33E-F720-CE263D9FA60C}"/>
              </a:ext>
            </a:extLst>
          </p:cNvPr>
          <p:cNvSpPr>
            <a:spLocks noGrp="1"/>
          </p:cNvSpPr>
          <p:nvPr/>
        </p:nvSpPr>
        <p:spPr>
          <a:xfrm>
            <a:off x="1070756" y="7387114"/>
            <a:ext cx="1250394" cy="3581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95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Win where</a:t>
            </a:r>
            <a:endParaRPr sz="1950"/>
          </a:p>
        </p:txBody>
      </p:sp>
      <p:pic>
        <p:nvPicPr>
          <p:cNvPr id="14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410" y="7387114"/>
            <a:ext cx="952500" cy="320040"/>
          </a:xfrm>
          <a:prstGeom prst="rect">
            <a:avLst/>
          </a:prstGeom>
        </p:spPr>
      </p:pic>
      <p:sp>
        <p:nvSpPr>
          <p:cNvPr id="64" name="Text 11">
            <a:extLst>
              <a:ext uri="{FF2B5EF4-FFF2-40B4-BE49-F238E27FC236}">
                <a16:creationId xmlns:a16="http://schemas.microsoft.com/office/drawing/2014/main" id="{9D76413D-A393-7425-F869-EECAE785E73E}"/>
              </a:ext>
            </a:extLst>
          </p:cNvPr>
          <p:cNvSpPr>
            <a:spLocks noGrp="1"/>
          </p:cNvSpPr>
          <p:nvPr/>
        </p:nvSpPr>
        <p:spPr>
          <a:xfrm>
            <a:off x="3255910" y="7387114"/>
            <a:ext cx="3490788" cy="3581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95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, pay the bid (first price): utility</a:t>
            </a:r>
            <a:endParaRPr sz="1950"/>
          </a:p>
        </p:txBody>
      </p:sp>
      <p:pic>
        <p:nvPicPr>
          <p:cNvPr id="14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484" y="7387114"/>
            <a:ext cx="806648" cy="320040"/>
          </a:xfrm>
          <a:prstGeom prst="rect">
            <a:avLst/>
          </a:prstGeom>
        </p:spPr>
      </p:pic>
      <p:sp>
        <p:nvSpPr>
          <p:cNvPr id="68" name="Text 12">
            <a:extLst>
              <a:ext uri="{FF2B5EF4-FFF2-40B4-BE49-F238E27FC236}">
                <a16:creationId xmlns:a16="http://schemas.microsoft.com/office/drawing/2014/main" id="{2215404A-9CE7-D1DE-29F2-191BB9684962}"/>
              </a:ext>
            </a:extLst>
          </p:cNvPr>
          <p:cNvSpPr>
            <a:spLocks noGrp="1"/>
          </p:cNvSpPr>
          <p:nvPr/>
        </p:nvSpPr>
        <p:spPr>
          <a:xfrm>
            <a:off x="7510133" y="7387114"/>
            <a:ext cx="669607" cy="3581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95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, cost</a:t>
            </a:r>
            <a:endParaRPr sz="1950"/>
          </a:p>
        </p:txBody>
      </p:sp>
      <p:pic>
        <p:nvPicPr>
          <p:cNvPr id="145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2000" y="7387114"/>
            <a:ext cx="218480" cy="320040"/>
          </a:xfrm>
          <a:prstGeom prst="rect">
            <a:avLst/>
          </a:prstGeom>
        </p:spPr>
      </p:pic>
      <p:sp>
        <p:nvSpPr>
          <p:cNvPr id="72" name="Text 13">
            <a:extLst>
              <a:ext uri="{FF2B5EF4-FFF2-40B4-BE49-F238E27FC236}">
                <a16:creationId xmlns:a16="http://schemas.microsoft.com/office/drawing/2014/main" id="{3375D33A-43CC-35B9-5F91-754F02ED810B}"/>
              </a:ext>
            </a:extLst>
          </p:cNvPr>
          <p:cNvSpPr>
            <a:spLocks noGrp="1"/>
          </p:cNvSpPr>
          <p:nvPr/>
        </p:nvSpPr>
        <p:spPr>
          <a:xfrm>
            <a:off x="8435114" y="7387114"/>
            <a:ext cx="143589" cy="3581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95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.</a:t>
            </a:r>
            <a:endParaRPr sz="1950"/>
          </a:p>
        </p:txBody>
      </p:sp>
      <p:sp>
        <p:nvSpPr>
          <p:cNvPr id="74" name="Text 14">
            <a:extLst>
              <a:ext uri="{FF2B5EF4-FFF2-40B4-BE49-F238E27FC236}">
                <a16:creationId xmlns:a16="http://schemas.microsoft.com/office/drawing/2014/main" id="{BD558467-06D0-46FC-3DEA-5DE9F95F42B3}"/>
              </a:ext>
            </a:extLst>
          </p:cNvPr>
          <p:cNvSpPr>
            <a:spLocks noGrp="1"/>
          </p:cNvSpPr>
          <p:nvPr/>
        </p:nvSpPr>
        <p:spPr>
          <a:xfrm>
            <a:off x="1070756" y="8488680"/>
            <a:ext cx="8429764" cy="7810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95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All campaigns draw from a </a:t>
            </a:r>
            <a:r>
              <a:rPr sz="1950" b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shared budget </a:t>
            </a:r>
            <a:r>
              <a:rPr sz="195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B = 560, ρ = B/T ≈ 0.187 per round.</a:t>
            </a:r>
            <a:endParaRPr sz="195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A65CAED2-A78A-5ECE-3D52-92B7838FAEF0}"/>
              </a:ext>
            </a:extLst>
          </p:cNvPr>
          <p:cNvSpPr>
            <a:spLocks noGrp="1"/>
          </p:cNvSpPr>
          <p:nvPr/>
        </p:nvSpPr>
        <p:spPr>
          <a:xfrm>
            <a:off x="9805597" y="1542629"/>
            <a:ext cx="9052601" cy="3848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sz="1950" b="1">
                <a:solidFill>
                  <a:srgbClr val="C65D3B"/>
                </a:solidFill>
                <a:latin typeface="Arial"/>
                <a:ea typeface="Arial"/>
                <a:cs typeface="Arial"/>
              </a:rPr>
              <a:t>The cheapest campaign rotates at every change point:</a:t>
            </a:r>
            <a:endParaRPr sz="1950"/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76E1CC54-5C58-8B75-24A5-86970D45D84B}"/>
              </a:ext>
            </a:extLst>
          </p:cNvPr>
          <p:cNvSpPr>
            <a:spLocks noGrp="1"/>
          </p:cNvSpPr>
          <p:nvPr/>
        </p:nvSpPr>
        <p:spPr>
          <a:xfrm>
            <a:off x="9805597" y="2022662"/>
            <a:ext cx="8229637" cy="2373126"/>
          </a:xfrm>
          <a:prstGeom prst="rect">
            <a:avLst/>
          </a:prstGeom>
          <a:solidFill>
            <a:srgbClr val="FFFFFF"/>
          </a:solidFill>
          <a:ln w="7937">
            <a:solidFill>
              <a:srgbClr val="E3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15">
            <a:extLst>
              <a:ext uri="{FF2B5EF4-FFF2-40B4-BE49-F238E27FC236}">
                <a16:creationId xmlns:a16="http://schemas.microsoft.com/office/drawing/2014/main" id="{FC5A0918-812B-6F47-7D2F-4E25AC774E5D}"/>
              </a:ext>
            </a:extLst>
          </p:cNvPr>
          <p:cNvSpPr>
            <a:spLocks noGrp="1"/>
          </p:cNvSpPr>
          <p:nvPr/>
        </p:nvSpPr>
        <p:spPr>
          <a:xfrm>
            <a:off x="10042109" y="2793344"/>
            <a:ext cx="2095500" cy="288131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725" spc="150">
                <a:solidFill>
                  <a:srgbClr val="5F6F82"/>
                </a:solidFill>
                <a:latin typeface="Courier New"/>
                <a:ea typeface="Courier New"/>
                <a:cs typeface="Courier New"/>
              </a:rPr>
              <a:t>SEGMENT 1</a:t>
            </a:r>
            <a:endParaRPr sz="1725"/>
          </a:p>
        </p:txBody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A72EBDB2-D115-2232-5842-8B54E9C1767F}"/>
              </a:ext>
            </a:extLst>
          </p:cNvPr>
          <p:cNvSpPr>
            <a:spLocks noGrp="1"/>
          </p:cNvSpPr>
          <p:nvPr/>
        </p:nvSpPr>
        <p:spPr>
          <a:xfrm>
            <a:off x="10042109" y="3081450"/>
            <a:ext cx="2095500" cy="2762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650">
                <a:solidFill>
                  <a:srgbClr val="5F6F82"/>
                </a:solidFill>
                <a:latin typeface="Courier New"/>
                <a:ea typeface="Courier New"/>
                <a:cs typeface="Courier New"/>
              </a:rPr>
              <a:t>t = 1–1000</a:t>
            </a:r>
            <a:endParaRPr sz="1650"/>
          </a:p>
        </p:txBody>
      </p:sp>
      <p:sp>
        <p:nvSpPr>
          <p:cNvPr id="84" name="Text 17">
            <a:extLst>
              <a:ext uri="{FF2B5EF4-FFF2-40B4-BE49-F238E27FC236}">
                <a16:creationId xmlns:a16="http://schemas.microsoft.com/office/drawing/2014/main" id="{7370BA17-E844-5342-CDFF-898D34E33440}"/>
              </a:ext>
            </a:extLst>
          </p:cNvPr>
          <p:cNvSpPr>
            <a:spLocks noGrp="1"/>
          </p:cNvSpPr>
          <p:nvPr/>
        </p:nvSpPr>
        <p:spPr>
          <a:xfrm>
            <a:off x="10042109" y="3395725"/>
            <a:ext cx="2095500" cy="3436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lnSpcReduction="10000"/>
          </a:bodyPr>
          <a:lstStyle/>
          <a:p>
            <a:pPr marL="0" indent="0" algn="l">
              <a:buNone/>
            </a:pPr>
            <a:r>
              <a:rPr sz="1800">
                <a:solidFill>
                  <a:srgbClr val="16283C"/>
                </a:solidFill>
                <a:latin typeface="Arial"/>
                <a:ea typeface="Arial"/>
                <a:cs typeface="Arial"/>
              </a:rPr>
              <a:t>cheapest: </a:t>
            </a:r>
            <a:r>
              <a:rPr sz="2100" b="1">
                <a:solidFill>
                  <a:srgbClr val="1E3A5F"/>
                </a:solidFill>
                <a:latin typeface="Arial"/>
                <a:ea typeface="Arial"/>
                <a:cs typeface="Arial"/>
              </a:rPr>
              <a:t>C1</a:t>
            </a:r>
            <a:endParaRPr sz="1800"/>
          </a:p>
        </p:txBody>
      </p:sp>
      <p:pic>
        <p:nvPicPr>
          <p:cNvPr id="153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56646" y="2485332"/>
            <a:ext cx="5642074" cy="1524000"/>
          </a:xfrm>
          <a:prstGeom prst="rect">
            <a:avLst/>
          </a:prstGeom>
        </p:spPr>
      </p:pic>
      <p:sp>
        <p:nvSpPr>
          <p:cNvPr id="88" name="Shape 18">
            <a:extLst>
              <a:ext uri="{FF2B5EF4-FFF2-40B4-BE49-F238E27FC236}">
                <a16:creationId xmlns:a16="http://schemas.microsoft.com/office/drawing/2014/main" id="{9DE1DCC0-89BB-07D9-9461-A24EBF742CD4}"/>
              </a:ext>
            </a:extLst>
          </p:cNvPr>
          <p:cNvSpPr>
            <a:spLocks noGrp="1"/>
          </p:cNvSpPr>
          <p:nvPr/>
        </p:nvSpPr>
        <p:spPr>
          <a:xfrm>
            <a:off x="9805597" y="4529114"/>
            <a:ext cx="8229637" cy="2373188"/>
          </a:xfrm>
          <a:prstGeom prst="rect">
            <a:avLst/>
          </a:prstGeom>
          <a:solidFill>
            <a:srgbClr val="FFFFFF"/>
          </a:solidFill>
          <a:ln w="7937">
            <a:solidFill>
              <a:srgbClr val="E3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19">
            <a:extLst>
              <a:ext uri="{FF2B5EF4-FFF2-40B4-BE49-F238E27FC236}">
                <a16:creationId xmlns:a16="http://schemas.microsoft.com/office/drawing/2014/main" id="{A3CC7829-F136-0EB8-0212-563C2BBD4A76}"/>
              </a:ext>
            </a:extLst>
          </p:cNvPr>
          <p:cNvSpPr>
            <a:spLocks noGrp="1"/>
          </p:cNvSpPr>
          <p:nvPr/>
        </p:nvSpPr>
        <p:spPr>
          <a:xfrm>
            <a:off x="10042109" y="5299795"/>
            <a:ext cx="2095500" cy="288131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725" spc="150">
                <a:solidFill>
                  <a:srgbClr val="5F6F82"/>
                </a:solidFill>
                <a:latin typeface="Courier New"/>
                <a:ea typeface="Courier New"/>
                <a:cs typeface="Courier New"/>
              </a:rPr>
              <a:t>SEGMENT 2</a:t>
            </a:r>
            <a:endParaRPr sz="1725"/>
          </a:p>
        </p:txBody>
      </p:sp>
      <p:sp>
        <p:nvSpPr>
          <p:cNvPr id="92" name="Text 20">
            <a:extLst>
              <a:ext uri="{FF2B5EF4-FFF2-40B4-BE49-F238E27FC236}">
                <a16:creationId xmlns:a16="http://schemas.microsoft.com/office/drawing/2014/main" id="{F29282CE-2C00-86A0-45F1-819386BDA99C}"/>
              </a:ext>
            </a:extLst>
          </p:cNvPr>
          <p:cNvSpPr>
            <a:spLocks noGrp="1"/>
          </p:cNvSpPr>
          <p:nvPr/>
        </p:nvSpPr>
        <p:spPr>
          <a:xfrm>
            <a:off x="10042109" y="5587901"/>
            <a:ext cx="2095500" cy="2762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650">
                <a:solidFill>
                  <a:srgbClr val="5F6F82"/>
                </a:solidFill>
                <a:latin typeface="Courier New"/>
                <a:ea typeface="Courier New"/>
                <a:cs typeface="Courier New"/>
              </a:rPr>
              <a:t>t = 1001–2000</a:t>
            </a:r>
            <a:endParaRPr sz="1650"/>
          </a:p>
        </p:txBody>
      </p:sp>
      <p:sp>
        <p:nvSpPr>
          <p:cNvPr id="94" name="Text 21">
            <a:extLst>
              <a:ext uri="{FF2B5EF4-FFF2-40B4-BE49-F238E27FC236}">
                <a16:creationId xmlns:a16="http://schemas.microsoft.com/office/drawing/2014/main" id="{6064D538-BD9D-3089-9A56-C93B80577979}"/>
              </a:ext>
            </a:extLst>
          </p:cNvPr>
          <p:cNvSpPr>
            <a:spLocks noGrp="1"/>
          </p:cNvSpPr>
          <p:nvPr/>
        </p:nvSpPr>
        <p:spPr>
          <a:xfrm>
            <a:off x="10042109" y="5902177"/>
            <a:ext cx="2095500" cy="3436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lnSpcReduction="10000"/>
          </a:bodyPr>
          <a:lstStyle/>
          <a:p>
            <a:pPr marL="0" indent="0" algn="l">
              <a:buNone/>
            </a:pPr>
            <a:r>
              <a:rPr sz="1800">
                <a:solidFill>
                  <a:srgbClr val="16283C"/>
                </a:solidFill>
                <a:latin typeface="Arial"/>
                <a:ea typeface="Arial"/>
                <a:cs typeface="Arial"/>
              </a:rPr>
              <a:t>cheapest: </a:t>
            </a:r>
            <a:r>
              <a:rPr sz="2100" b="1">
                <a:solidFill>
                  <a:srgbClr val="C65D3B"/>
                </a:solidFill>
                <a:latin typeface="Arial"/>
                <a:ea typeface="Arial"/>
                <a:cs typeface="Arial"/>
              </a:rPr>
              <a:t>C2</a:t>
            </a:r>
            <a:endParaRPr sz="1800"/>
          </a:p>
        </p:txBody>
      </p:sp>
      <p:pic>
        <p:nvPicPr>
          <p:cNvPr id="158" name="Imag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6646" y="4991783"/>
            <a:ext cx="5642074" cy="1524000"/>
          </a:xfrm>
          <a:prstGeom prst="rect">
            <a:avLst/>
          </a:prstGeom>
        </p:spPr>
      </p:pic>
      <p:sp>
        <p:nvSpPr>
          <p:cNvPr id="98" name="Shape 22">
            <a:extLst>
              <a:ext uri="{FF2B5EF4-FFF2-40B4-BE49-F238E27FC236}">
                <a16:creationId xmlns:a16="http://schemas.microsoft.com/office/drawing/2014/main" id="{C7B4CA4F-6CEF-E73B-1958-92A7483F7963}"/>
              </a:ext>
            </a:extLst>
          </p:cNvPr>
          <p:cNvSpPr>
            <a:spLocks noGrp="1"/>
          </p:cNvSpPr>
          <p:nvPr/>
        </p:nvSpPr>
        <p:spPr>
          <a:xfrm>
            <a:off x="9805597" y="7035627"/>
            <a:ext cx="8229637" cy="2373126"/>
          </a:xfrm>
          <a:prstGeom prst="rect">
            <a:avLst/>
          </a:prstGeom>
          <a:solidFill>
            <a:srgbClr val="FFFFFF"/>
          </a:solidFill>
          <a:ln w="7937">
            <a:solidFill>
              <a:srgbClr val="E3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Text 23">
            <a:extLst>
              <a:ext uri="{FF2B5EF4-FFF2-40B4-BE49-F238E27FC236}">
                <a16:creationId xmlns:a16="http://schemas.microsoft.com/office/drawing/2014/main" id="{E42479ED-3E59-BEA0-FA4F-44AAF7D2561E}"/>
              </a:ext>
            </a:extLst>
          </p:cNvPr>
          <p:cNvSpPr>
            <a:spLocks noGrp="1"/>
          </p:cNvSpPr>
          <p:nvPr/>
        </p:nvSpPr>
        <p:spPr>
          <a:xfrm>
            <a:off x="10042109" y="7806309"/>
            <a:ext cx="2095500" cy="288131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725" spc="150">
                <a:solidFill>
                  <a:srgbClr val="5F6F82"/>
                </a:solidFill>
                <a:latin typeface="Courier New"/>
                <a:ea typeface="Courier New"/>
                <a:cs typeface="Courier New"/>
              </a:rPr>
              <a:t>SEGMENT 3</a:t>
            </a:r>
            <a:endParaRPr sz="1725"/>
          </a:p>
        </p:txBody>
      </p:sp>
      <p:sp>
        <p:nvSpPr>
          <p:cNvPr id="102" name="Text 24">
            <a:extLst>
              <a:ext uri="{FF2B5EF4-FFF2-40B4-BE49-F238E27FC236}">
                <a16:creationId xmlns:a16="http://schemas.microsoft.com/office/drawing/2014/main" id="{BE75B6D9-10F3-311E-C024-AEA022DD9D9C}"/>
              </a:ext>
            </a:extLst>
          </p:cNvPr>
          <p:cNvSpPr>
            <a:spLocks noGrp="1"/>
          </p:cNvSpPr>
          <p:nvPr/>
        </p:nvSpPr>
        <p:spPr>
          <a:xfrm>
            <a:off x="10042109" y="8094415"/>
            <a:ext cx="2095500" cy="2762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650">
                <a:solidFill>
                  <a:srgbClr val="5F6F82"/>
                </a:solidFill>
                <a:latin typeface="Courier New"/>
                <a:ea typeface="Courier New"/>
                <a:cs typeface="Courier New"/>
              </a:rPr>
              <a:t>t = 2001–3000</a:t>
            </a:r>
            <a:endParaRPr sz="1650"/>
          </a:p>
        </p:txBody>
      </p:sp>
      <p:sp>
        <p:nvSpPr>
          <p:cNvPr id="104" name="Text 25">
            <a:extLst>
              <a:ext uri="{FF2B5EF4-FFF2-40B4-BE49-F238E27FC236}">
                <a16:creationId xmlns:a16="http://schemas.microsoft.com/office/drawing/2014/main" id="{3BAE02BB-5CB7-5D13-3072-48CDDB7F6A4E}"/>
              </a:ext>
            </a:extLst>
          </p:cNvPr>
          <p:cNvSpPr>
            <a:spLocks noGrp="1"/>
          </p:cNvSpPr>
          <p:nvPr/>
        </p:nvSpPr>
        <p:spPr>
          <a:xfrm>
            <a:off x="10042109" y="8408691"/>
            <a:ext cx="2095500" cy="3436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lnSpcReduction="10000"/>
          </a:bodyPr>
          <a:lstStyle/>
          <a:p>
            <a:pPr marL="0" indent="0" algn="l">
              <a:buNone/>
            </a:pPr>
            <a:r>
              <a:rPr sz="1800">
                <a:solidFill>
                  <a:srgbClr val="16283C"/>
                </a:solidFill>
                <a:latin typeface="Arial"/>
                <a:ea typeface="Arial"/>
                <a:cs typeface="Arial"/>
              </a:rPr>
              <a:t>cheapest: </a:t>
            </a:r>
            <a:r>
              <a:rPr sz="2100" b="1">
                <a:solidFill>
                  <a:srgbClr val="4E8F7E"/>
                </a:solidFill>
                <a:latin typeface="Arial"/>
                <a:ea typeface="Arial"/>
                <a:cs typeface="Arial"/>
              </a:rPr>
              <a:t>C3</a:t>
            </a:r>
            <a:endParaRPr sz="1800"/>
          </a:p>
        </p:txBody>
      </p:sp>
      <p:pic>
        <p:nvPicPr>
          <p:cNvPr id="163" name="Imag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56646" y="7498296"/>
            <a:ext cx="5642074" cy="1524000"/>
          </a:xfrm>
          <a:prstGeom prst="rect">
            <a:avLst/>
          </a:prstGeom>
        </p:spPr>
      </p:pic>
      <p:sp>
        <p:nvSpPr>
          <p:cNvPr id="108" name="Text 26">
            <a:extLst>
              <a:ext uri="{FF2B5EF4-FFF2-40B4-BE49-F238E27FC236}">
                <a16:creationId xmlns:a16="http://schemas.microsoft.com/office/drawing/2014/main" id="{12C431F0-F8D3-3E72-23CA-4787D35C18FA}"/>
              </a:ext>
            </a:extLst>
          </p:cNvPr>
          <p:cNvSpPr>
            <a:spLocks noGrp="1"/>
          </p:cNvSpPr>
          <p:nvPr/>
        </p:nvSpPr>
        <p:spPr>
          <a:xfrm>
            <a:off x="9805597" y="9542079"/>
            <a:ext cx="2937656" cy="33191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725">
                <a:solidFill>
                  <a:srgbClr val="5F6F82"/>
                </a:solidFill>
                <a:latin typeface="Arial"/>
                <a:ea typeface="Arial"/>
                <a:cs typeface="Arial"/>
              </a:rPr>
              <a:t>distributions of m</a:t>
            </a:r>
            <a:r>
              <a:rPr sz="1438">
                <a:solidFill>
                  <a:srgbClr val="5F6F82"/>
                </a:solidFill>
                <a:latin typeface="Arial"/>
                <a:ea typeface="Arial"/>
                <a:cs typeface="Arial"/>
              </a:rPr>
              <a:t>i </a:t>
            </a:r>
            <a:r>
              <a:rPr sz="1725">
                <a:solidFill>
                  <a:srgbClr val="5F6F82"/>
                </a:solidFill>
                <a:latin typeface="Arial"/>
                <a:ea typeface="Arial"/>
                <a:cs typeface="Arial"/>
              </a:rPr>
              <a:t>· x: 0 to 1</a:t>
            </a:r>
            <a:endParaRPr sz="1725"/>
          </a:p>
        </p:txBody>
      </p:sp>
      <p:sp>
        <p:nvSpPr>
          <p:cNvPr id="110" name="Shape 27">
            <a:extLst>
              <a:ext uri="{FF2B5EF4-FFF2-40B4-BE49-F238E27FC236}">
                <a16:creationId xmlns:a16="http://schemas.microsoft.com/office/drawing/2014/main" id="{43C200BB-5FC8-7008-7CAA-05478404AD11}"/>
              </a:ext>
            </a:extLst>
          </p:cNvPr>
          <p:cNvSpPr>
            <a:spLocks noGrp="1"/>
          </p:cNvSpPr>
          <p:nvPr/>
        </p:nvSpPr>
        <p:spPr>
          <a:xfrm>
            <a:off x="14869176" y="9643282"/>
            <a:ext cx="247613" cy="47625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/>
          </a:p>
        </p:txBody>
      </p:sp>
      <p:sp>
        <p:nvSpPr>
          <p:cNvPr id="112" name="Text 28">
            <a:extLst>
              <a:ext uri="{FF2B5EF4-FFF2-40B4-BE49-F238E27FC236}">
                <a16:creationId xmlns:a16="http://schemas.microsoft.com/office/drawing/2014/main" id="{0E0086C7-1A10-95AE-2CC7-7D39636BC8EF}"/>
              </a:ext>
            </a:extLst>
          </p:cNvPr>
          <p:cNvSpPr>
            <a:spLocks noGrp="1"/>
          </p:cNvSpPr>
          <p:nvPr/>
        </p:nvSpPr>
        <p:spPr>
          <a:xfrm>
            <a:off x="15192939" y="9542079"/>
            <a:ext cx="339192" cy="288131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725">
                <a:solidFill>
                  <a:srgbClr val="5F6F82"/>
                </a:solidFill>
                <a:latin typeface="Courier New"/>
                <a:ea typeface="Courier New"/>
                <a:cs typeface="Courier New"/>
              </a:rPr>
              <a:t>C1</a:t>
            </a:r>
            <a:endParaRPr sz="1725"/>
          </a:p>
        </p:txBody>
      </p:sp>
      <p:sp>
        <p:nvSpPr>
          <p:cNvPr id="114" name="Shape 29">
            <a:extLst>
              <a:ext uri="{FF2B5EF4-FFF2-40B4-BE49-F238E27FC236}">
                <a16:creationId xmlns:a16="http://schemas.microsoft.com/office/drawing/2014/main" id="{61C1ABD5-6E85-B6D9-E992-5836DCEE478D}"/>
              </a:ext>
            </a:extLst>
          </p:cNvPr>
          <p:cNvSpPr>
            <a:spLocks noGrp="1"/>
          </p:cNvSpPr>
          <p:nvPr/>
        </p:nvSpPr>
        <p:spPr>
          <a:xfrm>
            <a:off x="15703544" y="9643282"/>
            <a:ext cx="247613" cy="47625"/>
          </a:xfrm>
          <a:prstGeom prst="rect">
            <a:avLst/>
          </a:prstGeom>
          <a:solidFill>
            <a:srgbClr val="C65D3B"/>
          </a:solidFill>
        </p:spPr>
        <p:txBody>
          <a:bodyPr/>
          <a:lstStyle/>
          <a:p>
            <a:endParaRPr/>
          </a:p>
        </p:txBody>
      </p:sp>
      <p:sp>
        <p:nvSpPr>
          <p:cNvPr id="116" name="Text 30">
            <a:extLst>
              <a:ext uri="{FF2B5EF4-FFF2-40B4-BE49-F238E27FC236}">
                <a16:creationId xmlns:a16="http://schemas.microsoft.com/office/drawing/2014/main" id="{04457B87-EDC2-03AC-CC80-D2E17B47CB6E}"/>
              </a:ext>
            </a:extLst>
          </p:cNvPr>
          <p:cNvSpPr>
            <a:spLocks noGrp="1"/>
          </p:cNvSpPr>
          <p:nvPr/>
        </p:nvSpPr>
        <p:spPr>
          <a:xfrm>
            <a:off x="16027307" y="9542079"/>
            <a:ext cx="339192" cy="288131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725">
                <a:solidFill>
                  <a:srgbClr val="5F6F82"/>
                </a:solidFill>
                <a:latin typeface="Courier New"/>
                <a:ea typeface="Courier New"/>
                <a:cs typeface="Courier New"/>
              </a:rPr>
              <a:t>C2</a:t>
            </a:r>
            <a:endParaRPr sz="1725"/>
          </a:p>
        </p:txBody>
      </p:sp>
      <p:sp>
        <p:nvSpPr>
          <p:cNvPr id="118" name="Shape 31">
            <a:extLst>
              <a:ext uri="{FF2B5EF4-FFF2-40B4-BE49-F238E27FC236}">
                <a16:creationId xmlns:a16="http://schemas.microsoft.com/office/drawing/2014/main" id="{F25FE838-5E0B-11A4-8467-BE51EE85A9BF}"/>
              </a:ext>
            </a:extLst>
          </p:cNvPr>
          <p:cNvSpPr>
            <a:spLocks noGrp="1"/>
          </p:cNvSpPr>
          <p:nvPr/>
        </p:nvSpPr>
        <p:spPr>
          <a:xfrm>
            <a:off x="16537911" y="9643282"/>
            <a:ext cx="247613" cy="47625"/>
          </a:xfrm>
          <a:prstGeom prst="rect">
            <a:avLst/>
          </a:prstGeom>
          <a:solidFill>
            <a:srgbClr val="4E8F7E"/>
          </a:solidFill>
        </p:spPr>
        <p:txBody>
          <a:bodyPr/>
          <a:lstStyle/>
          <a:p>
            <a:endParaRPr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7A2FB0AB-0901-712B-6C5F-88197CA45CFA}"/>
              </a:ext>
            </a:extLst>
          </p:cNvPr>
          <p:cNvSpPr>
            <a:spLocks noGrp="1"/>
          </p:cNvSpPr>
          <p:nvPr/>
        </p:nvSpPr>
        <p:spPr>
          <a:xfrm>
            <a:off x="16861674" y="9542079"/>
            <a:ext cx="339192" cy="288131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725">
                <a:solidFill>
                  <a:srgbClr val="5F6F82"/>
                </a:solidFill>
                <a:latin typeface="Courier New"/>
                <a:ea typeface="Courier New"/>
                <a:cs typeface="Courier New"/>
              </a:rPr>
              <a:t>C3</a:t>
            </a:r>
            <a:endParaRPr sz="1725"/>
          </a:p>
        </p:txBody>
      </p:sp>
      <p:sp>
        <p:nvSpPr>
          <p:cNvPr id="122" name="Shape 33">
            <a:extLst>
              <a:ext uri="{FF2B5EF4-FFF2-40B4-BE49-F238E27FC236}">
                <a16:creationId xmlns:a16="http://schemas.microsoft.com/office/drawing/2014/main" id="{685343F9-EAEC-20A6-7B30-4DB418BF8094}"/>
              </a:ext>
            </a:extLst>
          </p:cNvPr>
          <p:cNvSpPr>
            <a:spLocks noGrp="1"/>
          </p:cNvSpPr>
          <p:nvPr/>
        </p:nvSpPr>
        <p:spPr>
          <a:xfrm>
            <a:off x="17372279" y="9643282"/>
            <a:ext cx="247613" cy="47625"/>
          </a:xfrm>
          <a:prstGeom prst="rect">
            <a:avLst/>
          </a:prstGeom>
          <a:solidFill>
            <a:srgbClr val="C9A227"/>
          </a:solidFill>
        </p:spPr>
        <p:txBody>
          <a:bodyPr/>
          <a:lstStyle/>
          <a:p>
            <a:endParaRPr/>
          </a:p>
        </p:txBody>
      </p:sp>
      <p:sp>
        <p:nvSpPr>
          <p:cNvPr id="124" name="Text 34">
            <a:extLst>
              <a:ext uri="{FF2B5EF4-FFF2-40B4-BE49-F238E27FC236}">
                <a16:creationId xmlns:a16="http://schemas.microsoft.com/office/drawing/2014/main" id="{D9EEDA41-D045-6CCD-1308-3602262B3DA7}"/>
              </a:ext>
            </a:extLst>
          </p:cNvPr>
          <p:cNvSpPr>
            <a:spLocks noGrp="1"/>
          </p:cNvSpPr>
          <p:nvPr/>
        </p:nvSpPr>
        <p:spPr>
          <a:xfrm>
            <a:off x="17696042" y="9542079"/>
            <a:ext cx="339192" cy="288131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725">
                <a:solidFill>
                  <a:srgbClr val="5F6F82"/>
                </a:solidFill>
                <a:latin typeface="Courier New"/>
                <a:ea typeface="Courier New"/>
                <a:cs typeface="Courier New"/>
              </a:rPr>
              <a:t>C4</a:t>
            </a:r>
            <a:endParaRPr sz="1725"/>
          </a:p>
        </p:txBody>
      </p:sp>
    </p:spTree>
    <p:extLst>
      <p:ext uri="{BB962C8B-B14F-4D97-AF65-F5344CB8AC3E}">
        <p14:creationId xmlns:p14="http://schemas.microsoft.com/office/powerpoint/2010/main" val="929076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7EF7D0-7A05-4B7A-A534-CE80429CBE1D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 S4: ADAPTATION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EEC2D9-DF63-4311-BFE6-83175DE3E406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Three Ways to Handle Stale Information</a:t>
            </a:r>
            <a:endParaRPr sz="4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42CDAB-D727-4FA0-8060-81BFAC7B381E}"/>
              </a:ext>
            </a:extLst>
          </p:cNvPr>
          <p:cNvSpPr>
            <a:spLocks noGrp="1"/>
          </p:cNvSpPr>
          <p:nvPr/>
        </p:nvSpPr>
        <p:spPr>
          <a:xfrm>
            <a:off x="952500" y="1943100"/>
            <a:ext cx="18021300" cy="381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Hyperparameters follow analytical formulas. The number of change points is known.</a:t>
            </a:r>
            <a:endParaRPr sz="1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5D64011-F454-4909-99DF-4BDD1F945531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5308521" cy="5448300"/>
          </a:xfrm>
          <a:prstGeom prst="roundRect">
            <a:avLst>
              <a:gd name="adj" fmla="val 215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F740FBE-9A62-4C31-8A7D-742AF9202A76}"/>
              </a:ext>
            </a:extLst>
          </p:cNvPr>
          <p:cNvSpPr>
            <a:spLocks noGrp="1"/>
          </p:cNvSpPr>
          <p:nvPr/>
        </p:nvSpPr>
        <p:spPr>
          <a:xfrm>
            <a:off x="952500" y="8031480"/>
            <a:ext cx="5308521" cy="952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D5870CD-82CF-4B5B-A3CE-64A8AE00B0B9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5308521" cy="53340"/>
          </a:xfrm>
          <a:prstGeom prst="rect">
            <a:avLst/>
          </a:prstGeom>
          <a:solidFill>
            <a:srgbClr val="1F77B4"/>
          </a:solidFill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96B2C97-9DB3-4CD5-9EB4-1864250BF4A5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9525" cy="544830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2089BB8-163B-4159-A1FD-8B3403CB7EC5}"/>
              </a:ext>
            </a:extLst>
          </p:cNvPr>
          <p:cNvSpPr>
            <a:spLocks noGrp="1"/>
          </p:cNvSpPr>
          <p:nvPr/>
        </p:nvSpPr>
        <p:spPr>
          <a:xfrm>
            <a:off x="6253401" y="2590800"/>
            <a:ext cx="9525" cy="544830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A0E0F5F-93F4-495A-8B5D-9E9369274F03}"/>
              </a:ext>
            </a:extLst>
          </p:cNvPr>
          <p:cNvSpPr>
            <a:spLocks noGrp="1"/>
          </p:cNvSpPr>
          <p:nvPr/>
        </p:nvSpPr>
        <p:spPr>
          <a:xfrm>
            <a:off x="1245870" y="2891790"/>
            <a:ext cx="5193959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FORGETS BY CONSTRUCTION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0E0C227-67D0-48AC-A2B6-A99EEF3F65AD}"/>
              </a:ext>
            </a:extLst>
          </p:cNvPr>
          <p:cNvSpPr>
            <a:spLocks noGrp="1"/>
          </p:cNvSpPr>
          <p:nvPr/>
        </p:nvSpPr>
        <p:spPr>
          <a:xfrm>
            <a:off x="1245870" y="3322320"/>
            <a:ext cx="5193959" cy="4343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SW-UCB</a:t>
            </a:r>
            <a:endParaRPr sz="2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854A7DD-C6D1-4AB6-AD04-07DAF3B349A2}"/>
              </a:ext>
            </a:extLst>
          </p:cNvPr>
          <p:cNvSpPr>
            <a:spLocks noGrp="1"/>
          </p:cNvSpPr>
          <p:nvPr/>
        </p:nvSpPr>
        <p:spPr>
          <a:xfrm>
            <a:off x="1245870" y="3890010"/>
            <a:ext cx="1104900" cy="289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500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discarded</a:t>
            </a:r>
            <a:endParaRPr sz="15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C36764C-D666-49AD-B4F1-51FD62B69EF0}"/>
              </a:ext>
            </a:extLst>
          </p:cNvPr>
          <p:cNvSpPr>
            <a:spLocks noGrp="1"/>
          </p:cNvSpPr>
          <p:nvPr/>
        </p:nvSpPr>
        <p:spPr>
          <a:xfrm>
            <a:off x="5053251" y="3890010"/>
            <a:ext cx="990600" cy="289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window W</a:t>
            </a:r>
            <a:endParaRPr sz="15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CFD0FE1-7828-4C72-9EF9-8D79944F649F}"/>
              </a:ext>
            </a:extLst>
          </p:cNvPr>
          <p:cNvSpPr>
            <a:spLocks noGrp="1"/>
          </p:cNvSpPr>
          <p:nvPr/>
        </p:nvSpPr>
        <p:spPr>
          <a:xfrm>
            <a:off x="1245870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D83D185-5DBE-4922-9909-BE93CE97D66C}"/>
              </a:ext>
            </a:extLst>
          </p:cNvPr>
          <p:cNvSpPr>
            <a:spLocks noGrp="1"/>
          </p:cNvSpPr>
          <p:nvPr/>
        </p:nvSpPr>
        <p:spPr>
          <a:xfrm>
            <a:off x="1612702" y="4217670"/>
            <a:ext cx="319326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69674AB-C03B-4C7E-80C4-CBDC01E870BD}"/>
              </a:ext>
            </a:extLst>
          </p:cNvPr>
          <p:cNvSpPr>
            <a:spLocks noGrp="1"/>
          </p:cNvSpPr>
          <p:nvPr/>
        </p:nvSpPr>
        <p:spPr>
          <a:xfrm>
            <a:off x="1979652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5CA8FCA-2F54-4986-86D1-739C99D398A1}"/>
              </a:ext>
            </a:extLst>
          </p:cNvPr>
          <p:cNvSpPr>
            <a:spLocks noGrp="1"/>
          </p:cNvSpPr>
          <p:nvPr/>
        </p:nvSpPr>
        <p:spPr>
          <a:xfrm>
            <a:off x="2346484" y="4217670"/>
            <a:ext cx="319326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FDBD996-2FBB-49E3-B187-A047C73B60EC}"/>
              </a:ext>
            </a:extLst>
          </p:cNvPr>
          <p:cNvSpPr>
            <a:spLocks noGrp="1"/>
          </p:cNvSpPr>
          <p:nvPr/>
        </p:nvSpPr>
        <p:spPr>
          <a:xfrm>
            <a:off x="2713434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1C8B144-98EA-4F73-93EC-38C530545959}"/>
              </a:ext>
            </a:extLst>
          </p:cNvPr>
          <p:cNvSpPr>
            <a:spLocks noGrp="1"/>
          </p:cNvSpPr>
          <p:nvPr/>
        </p:nvSpPr>
        <p:spPr>
          <a:xfrm>
            <a:off x="3080266" y="4217670"/>
            <a:ext cx="319326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C971010-C755-4C8E-B88B-44B57FF97765}"/>
              </a:ext>
            </a:extLst>
          </p:cNvPr>
          <p:cNvSpPr>
            <a:spLocks noGrp="1"/>
          </p:cNvSpPr>
          <p:nvPr/>
        </p:nvSpPr>
        <p:spPr>
          <a:xfrm>
            <a:off x="3447217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405082E-28E5-4A10-9B20-E60052924E6B}"/>
              </a:ext>
            </a:extLst>
          </p:cNvPr>
          <p:cNvSpPr>
            <a:spLocks noGrp="1"/>
          </p:cNvSpPr>
          <p:nvPr/>
        </p:nvSpPr>
        <p:spPr>
          <a:xfrm>
            <a:off x="3814048" y="4217670"/>
            <a:ext cx="319326" cy="247650"/>
          </a:xfrm>
          <a:prstGeom prst="roundRect">
            <a:avLst>
              <a:gd name="adj" fmla="val 15385"/>
            </a:avLst>
          </a:prstGeom>
          <a:solidFill>
            <a:srgbClr val="1F77B4"/>
          </a:solidFill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6713F1E-30A1-4E30-B973-13D20D647844}"/>
              </a:ext>
            </a:extLst>
          </p:cNvPr>
          <p:cNvSpPr>
            <a:spLocks noGrp="1"/>
          </p:cNvSpPr>
          <p:nvPr/>
        </p:nvSpPr>
        <p:spPr>
          <a:xfrm>
            <a:off x="4180999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1F77B4"/>
          </a:solidFill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CB765F9-A9DA-409C-8EE9-4527CD9CB863}"/>
              </a:ext>
            </a:extLst>
          </p:cNvPr>
          <p:cNvSpPr>
            <a:spLocks noGrp="1"/>
          </p:cNvSpPr>
          <p:nvPr/>
        </p:nvSpPr>
        <p:spPr>
          <a:xfrm>
            <a:off x="4547830" y="4217670"/>
            <a:ext cx="319326" cy="247650"/>
          </a:xfrm>
          <a:prstGeom prst="roundRect">
            <a:avLst>
              <a:gd name="adj" fmla="val 15385"/>
            </a:avLst>
          </a:prstGeom>
          <a:solidFill>
            <a:srgbClr val="1F77B4"/>
          </a:solidFill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97437B6-0C29-407D-A594-18864270576F}"/>
              </a:ext>
            </a:extLst>
          </p:cNvPr>
          <p:cNvSpPr>
            <a:spLocks noGrp="1"/>
          </p:cNvSpPr>
          <p:nvPr/>
        </p:nvSpPr>
        <p:spPr>
          <a:xfrm>
            <a:off x="4914781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1F77B4"/>
          </a:solidFill>
        </p:spPr>
        <p:txBody>
          <a:bodyPr/>
          <a:lstStyle/>
          <a:p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D1021C0-C631-49E8-8DDC-426FA2912503}"/>
              </a:ext>
            </a:extLst>
          </p:cNvPr>
          <p:cNvSpPr>
            <a:spLocks noGrp="1"/>
          </p:cNvSpPr>
          <p:nvPr/>
        </p:nvSpPr>
        <p:spPr>
          <a:xfrm>
            <a:off x="5281613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1F77B4"/>
          </a:solidFill>
        </p:spPr>
        <p:txBody>
          <a:bodyPr/>
          <a:lstStyle/>
          <a:p>
            <a:endParaRPr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C271C57-1D50-4369-8AD7-B3FD14B5592B}"/>
              </a:ext>
            </a:extLst>
          </p:cNvPr>
          <p:cNvSpPr>
            <a:spLocks noGrp="1"/>
          </p:cNvSpPr>
          <p:nvPr/>
        </p:nvSpPr>
        <p:spPr>
          <a:xfrm>
            <a:off x="5648444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1F77B4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8A07707-A39D-4A45-8236-064F2BADA009}"/>
              </a:ext>
            </a:extLst>
          </p:cNvPr>
          <p:cNvSpPr>
            <a:spLocks noGrp="1"/>
          </p:cNvSpPr>
          <p:nvPr/>
        </p:nvSpPr>
        <p:spPr>
          <a:xfrm>
            <a:off x="1245870" y="4598670"/>
            <a:ext cx="4863434" cy="18097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cache of the last W rounds only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bonus computed with log W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arm unseen in window: one forced pull</a:t>
            </a:r>
            <a:endParaRPr sz="180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F32B06A6-71E0-4CCF-86CE-ABD64E8ED8DE}"/>
              </a:ext>
            </a:extLst>
          </p:cNvPr>
          <p:cNvSpPr>
            <a:spLocks noGrp="1"/>
          </p:cNvSpPr>
          <p:nvPr/>
        </p:nvSpPr>
        <p:spPr>
          <a:xfrm>
            <a:off x="6489621" y="2590800"/>
            <a:ext cx="5308640" cy="5448300"/>
          </a:xfrm>
          <a:prstGeom prst="roundRect">
            <a:avLst>
              <a:gd name="adj" fmla="val 2153"/>
            </a:avLst>
          </a:prstGeom>
          <a:solidFill>
            <a:srgbClr val="FFFFFF"/>
          </a:solidFill>
        </p:spPr>
        <p:txBody>
          <a:bodyPr/>
          <a:lstStyle/>
          <a:p>
            <a:endParaRPr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18615793-2F09-46C7-81A5-B9FC413F9F53}"/>
              </a:ext>
            </a:extLst>
          </p:cNvPr>
          <p:cNvSpPr>
            <a:spLocks noGrp="1"/>
          </p:cNvSpPr>
          <p:nvPr/>
        </p:nvSpPr>
        <p:spPr>
          <a:xfrm>
            <a:off x="6489621" y="8031480"/>
            <a:ext cx="5308640" cy="952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C56AD41-3628-4E24-9A16-5254763ED87A}"/>
              </a:ext>
            </a:extLst>
          </p:cNvPr>
          <p:cNvSpPr>
            <a:spLocks noGrp="1"/>
          </p:cNvSpPr>
          <p:nvPr/>
        </p:nvSpPr>
        <p:spPr>
          <a:xfrm>
            <a:off x="6489621" y="2590800"/>
            <a:ext cx="5308640" cy="53340"/>
          </a:xfrm>
          <a:prstGeom prst="rect">
            <a:avLst/>
          </a:prstGeom>
          <a:solidFill>
            <a:srgbClr val="FF7F0E"/>
          </a:solidFill>
        </p:spPr>
        <p:txBody>
          <a:bodyPr/>
          <a:lstStyle/>
          <a:p>
            <a:endParaRPr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FBA51D8-66BC-48A1-9690-2E1FC7901585}"/>
              </a:ext>
            </a:extLst>
          </p:cNvPr>
          <p:cNvSpPr>
            <a:spLocks noGrp="1"/>
          </p:cNvSpPr>
          <p:nvPr/>
        </p:nvSpPr>
        <p:spPr>
          <a:xfrm>
            <a:off x="6489621" y="2590800"/>
            <a:ext cx="9525" cy="544830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037C7103-F248-4A17-A631-FC142E56B9C6}"/>
              </a:ext>
            </a:extLst>
          </p:cNvPr>
          <p:cNvSpPr>
            <a:spLocks noGrp="1"/>
          </p:cNvSpPr>
          <p:nvPr/>
        </p:nvSpPr>
        <p:spPr>
          <a:xfrm>
            <a:off x="11790641" y="2590800"/>
            <a:ext cx="9525" cy="544830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796C68FD-4F16-4E9B-A170-EEE463859FCA}"/>
              </a:ext>
            </a:extLst>
          </p:cNvPr>
          <p:cNvSpPr>
            <a:spLocks noGrp="1"/>
          </p:cNvSpPr>
          <p:nvPr/>
        </p:nvSpPr>
        <p:spPr>
          <a:xfrm>
            <a:off x="6782991" y="2891790"/>
            <a:ext cx="519409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DETECTS, THEN RESETS</a:t>
            </a:r>
            <a:endParaRPr sz="180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F1A0D644-2662-4CF4-91C6-E202C24A22E1}"/>
              </a:ext>
            </a:extLst>
          </p:cNvPr>
          <p:cNvSpPr>
            <a:spLocks noGrp="1"/>
          </p:cNvSpPr>
          <p:nvPr/>
        </p:nvSpPr>
        <p:spPr>
          <a:xfrm>
            <a:off x="6782991" y="3322320"/>
            <a:ext cx="5194090" cy="4343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CUSUM-UCB</a:t>
            </a:r>
            <a:endParaRPr sz="240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A426CC16-0003-49E8-9E9C-7E3F23FFD776}"/>
              </a:ext>
            </a:extLst>
          </p:cNvPr>
          <p:cNvSpPr>
            <a:spLocks noGrp="1"/>
          </p:cNvSpPr>
          <p:nvPr/>
        </p:nvSpPr>
        <p:spPr>
          <a:xfrm>
            <a:off x="6782991" y="4728210"/>
            <a:ext cx="4863557" cy="2164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M reference samples per arm → mean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statistic accumulates deviations; over h → arm reset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α-exploration keeps arms monitored</a:t>
            </a:r>
            <a:endParaRPr sz="1800"/>
          </a:p>
        </p:txBody>
      </p:sp>
      <p:pic>
        <p:nvPicPr>
          <p:cNvPr id="9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991" y="7463790"/>
            <a:ext cx="3402568" cy="320040"/>
          </a:xfrm>
          <a:prstGeom prst="rect">
            <a:avLst/>
          </a:prstGeom>
        </p:spPr>
      </p:pic>
      <p:sp>
        <p:nvSpPr>
          <p:cNvPr id="39" name="Shape 34">
            <a:extLst>
              <a:ext uri="{FF2B5EF4-FFF2-40B4-BE49-F238E27FC236}">
                <a16:creationId xmlns:a16="http://schemas.microsoft.com/office/drawing/2014/main" id="{7CE9ED03-B158-4C88-841D-357A951F7043}"/>
              </a:ext>
            </a:extLst>
          </p:cNvPr>
          <p:cNvSpPr>
            <a:spLocks noGrp="1"/>
          </p:cNvSpPr>
          <p:nvPr/>
        </p:nvSpPr>
        <p:spPr>
          <a:xfrm>
            <a:off x="12026860" y="2590800"/>
            <a:ext cx="5308640" cy="5448300"/>
          </a:xfrm>
          <a:prstGeom prst="roundRect">
            <a:avLst>
              <a:gd name="adj" fmla="val 215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0" name="Shape 35">
            <a:extLst>
              <a:ext uri="{FF2B5EF4-FFF2-40B4-BE49-F238E27FC236}">
                <a16:creationId xmlns:a16="http://schemas.microsoft.com/office/drawing/2014/main" id="{60CA2ADB-B48C-4A61-A123-F18A760DF203}"/>
              </a:ext>
            </a:extLst>
          </p:cNvPr>
          <p:cNvSpPr>
            <a:spLocks noGrp="1"/>
          </p:cNvSpPr>
          <p:nvPr/>
        </p:nvSpPr>
        <p:spPr>
          <a:xfrm>
            <a:off x="12026860" y="8031480"/>
            <a:ext cx="5308640" cy="952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41" name="Shape 36">
            <a:extLst>
              <a:ext uri="{FF2B5EF4-FFF2-40B4-BE49-F238E27FC236}">
                <a16:creationId xmlns:a16="http://schemas.microsoft.com/office/drawing/2014/main" id="{B03ADFAF-8589-47C0-9C84-FD1A85F0F368}"/>
              </a:ext>
            </a:extLst>
          </p:cNvPr>
          <p:cNvSpPr>
            <a:spLocks noGrp="1"/>
          </p:cNvSpPr>
          <p:nvPr/>
        </p:nvSpPr>
        <p:spPr>
          <a:xfrm>
            <a:off x="12026860" y="2590800"/>
            <a:ext cx="5308640" cy="53340"/>
          </a:xfrm>
          <a:prstGeom prst="rect">
            <a:avLst/>
          </a:prstGeom>
          <a:solidFill>
            <a:srgbClr val="2CA02C"/>
          </a:solidFill>
        </p:spPr>
        <p:txBody>
          <a:bodyPr/>
          <a:lstStyle/>
          <a:p>
            <a:endParaRPr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22C40691-E6F4-44B4-BFE5-EB175A909D3F}"/>
              </a:ext>
            </a:extLst>
          </p:cNvPr>
          <p:cNvSpPr>
            <a:spLocks noGrp="1"/>
          </p:cNvSpPr>
          <p:nvPr/>
        </p:nvSpPr>
        <p:spPr>
          <a:xfrm>
            <a:off x="12026860" y="2590800"/>
            <a:ext cx="9525" cy="544830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43" name="Shape 38">
            <a:extLst>
              <a:ext uri="{FF2B5EF4-FFF2-40B4-BE49-F238E27FC236}">
                <a16:creationId xmlns:a16="http://schemas.microsoft.com/office/drawing/2014/main" id="{7F671CA0-29E6-457D-AEB3-04EFAEBF41AE}"/>
              </a:ext>
            </a:extLst>
          </p:cNvPr>
          <p:cNvSpPr>
            <a:spLocks noGrp="1"/>
          </p:cNvSpPr>
          <p:nvPr/>
        </p:nvSpPr>
        <p:spPr>
          <a:xfrm>
            <a:off x="17327880" y="2590800"/>
            <a:ext cx="9525" cy="544830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839D641B-9A54-4060-BE78-F084F00D7C65}"/>
              </a:ext>
            </a:extLst>
          </p:cNvPr>
          <p:cNvSpPr>
            <a:spLocks noGrp="1"/>
          </p:cNvSpPr>
          <p:nvPr/>
        </p:nvSpPr>
        <p:spPr>
          <a:xfrm>
            <a:off x="12320231" y="2891790"/>
            <a:ext cx="519409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NEVER FORGETS</a:t>
            </a:r>
            <a:endParaRPr sz="1800"/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1435391A-57CD-49D1-9F06-FBC8B9D33329}"/>
              </a:ext>
            </a:extLst>
          </p:cNvPr>
          <p:cNvSpPr>
            <a:spLocks noGrp="1"/>
          </p:cNvSpPr>
          <p:nvPr/>
        </p:nvSpPr>
        <p:spPr>
          <a:xfrm>
            <a:off x="12320231" y="3322320"/>
            <a:ext cx="5194090" cy="4343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Primal-dual</a:t>
            </a:r>
            <a:endParaRPr sz="2400"/>
          </a:p>
        </p:txBody>
      </p:sp>
      <p:pic>
        <p:nvPicPr>
          <p:cNvPr id="101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0231" y="3851910"/>
            <a:ext cx="3298269" cy="320040"/>
          </a:xfrm>
          <a:prstGeom prst="rect">
            <a:avLst/>
          </a:prstGeom>
        </p:spPr>
      </p:pic>
      <p:sp>
        <p:nvSpPr>
          <p:cNvPr id="47" name="Text 41">
            <a:extLst>
              <a:ext uri="{FF2B5EF4-FFF2-40B4-BE49-F238E27FC236}">
                <a16:creationId xmlns:a16="http://schemas.microsoft.com/office/drawing/2014/main" id="{B2A904FB-EAC8-48EA-BE16-428E7200B5E4}"/>
              </a:ext>
            </a:extLst>
          </p:cNvPr>
          <p:cNvSpPr>
            <a:spLocks noGrp="1"/>
          </p:cNvSpPr>
          <p:nvPr/>
        </p:nvSpPr>
        <p:spPr>
          <a:xfrm>
            <a:off x="12320231" y="4308991"/>
            <a:ext cx="4863557" cy="251841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Hedge on K = 168 super-actions, full feedback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OGD on the dual λ (budget price)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gains normalized in [0,1], per-action budget stop</a:t>
            </a:r>
            <a:endParaRPr sz="1800"/>
          </a:p>
        </p:txBody>
      </p:sp>
      <p:pic>
        <p:nvPicPr>
          <p:cNvPr id="103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0231" y="7446883"/>
            <a:ext cx="3659029" cy="320040"/>
          </a:xfrm>
          <a:prstGeom prst="rect">
            <a:avLst/>
          </a:prstGeom>
        </p:spPr>
      </p:pic>
      <p:sp>
        <p:nvSpPr>
          <p:cNvPr id="49" name="Shape 42">
            <a:extLst>
              <a:ext uri="{FF2B5EF4-FFF2-40B4-BE49-F238E27FC236}">
                <a16:creationId xmlns:a16="http://schemas.microsoft.com/office/drawing/2014/main" id="{68C76461-9045-4F4B-AC62-91965AA42439}"/>
              </a:ext>
            </a:extLst>
          </p:cNvPr>
          <p:cNvSpPr>
            <a:spLocks noGrp="1"/>
          </p:cNvSpPr>
          <p:nvPr/>
        </p:nvSpPr>
        <p:spPr>
          <a:xfrm>
            <a:off x="952500" y="8305800"/>
            <a:ext cx="16383000" cy="1257300"/>
          </a:xfrm>
          <a:prstGeom prst="roundRect">
            <a:avLst>
              <a:gd name="adj" fmla="val 9091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50" name="Text 43">
            <a:extLst>
              <a:ext uri="{FF2B5EF4-FFF2-40B4-BE49-F238E27FC236}">
                <a16:creationId xmlns:a16="http://schemas.microsoft.com/office/drawing/2014/main" id="{B39C86DC-C9C2-483D-8FF0-A1A61B51FC77}"/>
              </a:ext>
            </a:extLst>
          </p:cNvPr>
          <p:cNvSpPr>
            <a:spLocks noGrp="1"/>
          </p:cNvSpPr>
          <p:nvPr/>
        </p:nvSpPr>
        <p:spPr>
          <a:xfrm>
            <a:off x="1257300" y="8785860"/>
            <a:ext cx="4983099" cy="335280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SHARED DECISION LAYER</a:t>
            </a:r>
            <a:endParaRPr sz="1800"/>
          </a:p>
        </p:txBody>
      </p:sp>
      <p:sp>
        <p:nvSpPr>
          <p:cNvPr id="51" name="Text 44">
            <a:extLst>
              <a:ext uri="{FF2B5EF4-FFF2-40B4-BE49-F238E27FC236}">
                <a16:creationId xmlns:a16="http://schemas.microsoft.com/office/drawing/2014/main" id="{00D18522-BF9A-44E6-8E3B-E7955751D61A}"/>
              </a:ext>
            </a:extLst>
          </p:cNvPr>
          <p:cNvSpPr>
            <a:spLocks noGrp="1"/>
          </p:cNvSpPr>
          <p:nvPr/>
        </p:nvSpPr>
        <p:spPr>
          <a:xfrm>
            <a:off x="6054090" y="8534400"/>
            <a:ext cx="11305909" cy="838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5945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21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Both UCB learners send reward UCBs and cost LCBs to an LP over feasible super-actions with a fixed cap ρ = B/T.</a:t>
            </a:r>
            <a:endParaRPr sz="2100"/>
          </a:p>
        </p:txBody>
      </p:sp>
      <p:pic>
        <p:nvPicPr>
          <p:cNvPr id="46" name="Immagine 45">
            <a:extLst>
              <a:ext uri="{FF2B5EF4-FFF2-40B4-BE49-F238E27FC236}">
                <a16:creationId xmlns:a16="http://schemas.microsoft.com/office/drawing/2014/main" id="{D668A653-8F12-03CB-A326-B38B81B16C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231" t="25538" r="4519" b="25659"/>
          <a:stretch>
            <a:fillRect/>
          </a:stretch>
        </p:blipFill>
        <p:spPr>
          <a:xfrm>
            <a:off x="6820909" y="3666752"/>
            <a:ext cx="4685886" cy="1054148"/>
          </a:xfrm>
          <a:prstGeom prst="rect">
            <a:avLst/>
          </a:prstGeom>
        </p:spPr>
      </p:pic>
      <p:pic>
        <p:nvPicPr>
          <p:cNvPr id="48" name="Immagine 47">
            <a:extLst>
              <a:ext uri="{FF2B5EF4-FFF2-40B4-BE49-F238E27FC236}">
                <a16:creationId xmlns:a16="http://schemas.microsoft.com/office/drawing/2014/main" id="{8A20CFAB-152D-BDA8-593D-955F16C16B2E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242436" y="7463790"/>
            <a:ext cx="3358800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83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25DDC4-2EEF-486A-9387-47AED2E3029B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STAGE 4: FAILURE DIAGNOSIS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B5D757-C72D-4340-BDD5-9EDB3F50471B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Early Spending Limits Relearning After Change Points</a:t>
            </a:r>
            <a:endParaRPr sz="4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18893C-78CF-4F92-AB5A-8C3A2C8C3B7D}"/>
              </a:ext>
            </a:extLst>
          </p:cNvPr>
          <p:cNvSpPr>
            <a:spLocks noGrp="1"/>
          </p:cNvSpPr>
          <p:nvPr/>
        </p:nvSpPr>
        <p:spPr>
          <a:xfrm>
            <a:off x="952500" y="19431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30 trials · final gap vs segment-local oracle ≈ 1229</a:t>
            </a:r>
            <a:endParaRPr sz="1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3BED7B0-1970-4127-AD10-D1C33B929A90}"/>
              </a:ext>
            </a:extLst>
          </p:cNvPr>
          <p:cNvSpPr>
            <a:spLocks noGrp="1"/>
          </p:cNvSpPr>
          <p:nvPr/>
        </p:nvSpPr>
        <p:spPr>
          <a:xfrm>
            <a:off x="952500" y="2506980"/>
            <a:ext cx="9646920" cy="6393180"/>
          </a:xfrm>
          <a:prstGeom prst="roundRect">
            <a:avLst>
              <a:gd name="adj" fmla="val 1788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2520" y="2667000"/>
            <a:ext cx="9326880" cy="607314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B000282-FAF5-4A24-BC8A-A0E64E195FC2}"/>
              </a:ext>
            </a:extLst>
          </p:cNvPr>
          <p:cNvSpPr>
            <a:spLocks noGrp="1"/>
          </p:cNvSpPr>
          <p:nvPr/>
        </p:nvSpPr>
        <p:spPr>
          <a:xfrm>
            <a:off x="807796" y="9014460"/>
            <a:ext cx="9936327" cy="58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ctr">
              <a:buNone/>
            </a:pPr>
            <a:r>
              <a:rPr sz="1650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Mean over 30 trials, shaded SEM · dashed lines: change points · dotted: oracles and budget.</a:t>
            </a:r>
            <a:endParaRPr sz="165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3F2CC41-C2CE-4741-82B1-5393E5FBCD72}"/>
              </a:ext>
            </a:extLst>
          </p:cNvPr>
          <p:cNvSpPr>
            <a:spLocks noGrp="1"/>
          </p:cNvSpPr>
          <p:nvPr/>
        </p:nvSpPr>
        <p:spPr>
          <a:xfrm>
            <a:off x="10904220" y="2506980"/>
            <a:ext cx="6431280" cy="1767840"/>
          </a:xfrm>
          <a:prstGeom prst="roundRect">
            <a:avLst>
              <a:gd name="adj" fmla="val 646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DAE1C2A-24C0-4133-BBE9-93D9BD82757D}"/>
              </a:ext>
            </a:extLst>
          </p:cNvPr>
          <p:cNvSpPr>
            <a:spLocks noGrp="1"/>
          </p:cNvSpPr>
          <p:nvPr/>
        </p:nvSpPr>
        <p:spPr>
          <a:xfrm>
            <a:off x="11159490" y="2747010"/>
            <a:ext cx="1990725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SW-UCB</a:t>
            </a:r>
            <a:endParaRPr sz="18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ECE14CD-0C09-4918-905E-EFD52EDF779F}"/>
              </a:ext>
            </a:extLst>
          </p:cNvPr>
          <p:cNvSpPr>
            <a:spLocks noGrp="1"/>
          </p:cNvSpPr>
          <p:nvPr/>
        </p:nvSpPr>
        <p:spPr>
          <a:xfrm>
            <a:off x="13121640" y="2724150"/>
            <a:ext cx="3958590" cy="342900"/>
          </a:xfrm>
          <a:prstGeom prst="roundRect">
            <a:avLst>
              <a:gd name="adj" fmla="val 16667"/>
            </a:avLst>
          </a:prstGeom>
          <a:solidFill>
            <a:srgbClr val="EEF1F5"/>
          </a:solidFill>
        </p:spPr>
        <p:txBody>
          <a:bodyPr/>
          <a:lstStyle/>
          <a:p>
            <a:endParaRPr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3247DE7-1C0E-4C56-A742-3569377F80D2}"/>
              </a:ext>
            </a:extLst>
          </p:cNvPr>
          <p:cNvSpPr>
            <a:spLocks noGrp="1"/>
          </p:cNvSpPr>
          <p:nvPr/>
        </p:nvSpPr>
        <p:spPr>
          <a:xfrm>
            <a:off x="13121640" y="2724150"/>
            <a:ext cx="3107412" cy="342900"/>
          </a:xfrm>
          <a:prstGeom prst="roundRect">
            <a:avLst>
              <a:gd name="adj" fmla="val 16667"/>
            </a:avLst>
          </a:prstGeom>
          <a:solidFill>
            <a:srgbClr val="1F77B4"/>
          </a:solidFill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7D2C736-05DA-4932-968F-66209D34B400}"/>
              </a:ext>
            </a:extLst>
          </p:cNvPr>
          <p:cNvSpPr>
            <a:spLocks noGrp="1"/>
          </p:cNvSpPr>
          <p:nvPr/>
        </p:nvSpPr>
        <p:spPr>
          <a:xfrm>
            <a:off x="15684223" y="2747010"/>
            <a:ext cx="48768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562</a:t>
            </a:r>
            <a:endParaRPr sz="18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81FCC03-4F32-42C7-BBF6-11696D3D7548}"/>
              </a:ext>
            </a:extLst>
          </p:cNvPr>
          <p:cNvSpPr>
            <a:spLocks noGrp="1"/>
          </p:cNvSpPr>
          <p:nvPr/>
        </p:nvSpPr>
        <p:spPr>
          <a:xfrm>
            <a:off x="11159490" y="3242310"/>
            <a:ext cx="1990725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CUSUM-UCB</a:t>
            </a:r>
            <a:endParaRPr sz="18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77A9C49-D8E2-4348-9719-84D3E07C40F9}"/>
              </a:ext>
            </a:extLst>
          </p:cNvPr>
          <p:cNvSpPr>
            <a:spLocks noGrp="1"/>
          </p:cNvSpPr>
          <p:nvPr/>
        </p:nvSpPr>
        <p:spPr>
          <a:xfrm>
            <a:off x="13121640" y="3219450"/>
            <a:ext cx="3958590" cy="342900"/>
          </a:xfrm>
          <a:prstGeom prst="roundRect">
            <a:avLst>
              <a:gd name="adj" fmla="val 16667"/>
            </a:avLst>
          </a:prstGeom>
          <a:solidFill>
            <a:srgbClr val="EEF1F5"/>
          </a:solidFill>
        </p:spPr>
        <p:txBody>
          <a:bodyPr/>
          <a:lstStyle/>
          <a:p>
            <a:endParaRPr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DA069AD-55C0-4234-BF5C-0ADFC4124311}"/>
              </a:ext>
            </a:extLst>
          </p:cNvPr>
          <p:cNvSpPr>
            <a:spLocks noGrp="1"/>
          </p:cNvSpPr>
          <p:nvPr/>
        </p:nvSpPr>
        <p:spPr>
          <a:xfrm>
            <a:off x="13121640" y="3219450"/>
            <a:ext cx="2945130" cy="342900"/>
          </a:xfrm>
          <a:prstGeom prst="roundRect">
            <a:avLst>
              <a:gd name="adj" fmla="val 16667"/>
            </a:avLst>
          </a:prstGeom>
          <a:solidFill>
            <a:srgbClr val="FF7F0E"/>
          </a:solidFill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A3A0DFE-179D-44E1-8ADC-354905CCB4BB}"/>
              </a:ext>
            </a:extLst>
          </p:cNvPr>
          <p:cNvSpPr>
            <a:spLocks noGrp="1"/>
          </p:cNvSpPr>
          <p:nvPr/>
        </p:nvSpPr>
        <p:spPr>
          <a:xfrm>
            <a:off x="15521940" y="3242310"/>
            <a:ext cx="48768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533</a:t>
            </a:r>
            <a:endParaRPr sz="18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248243F-2727-4185-BB2B-8B964C185674}"/>
              </a:ext>
            </a:extLst>
          </p:cNvPr>
          <p:cNvSpPr>
            <a:spLocks noGrp="1"/>
          </p:cNvSpPr>
          <p:nvPr/>
        </p:nvSpPr>
        <p:spPr>
          <a:xfrm>
            <a:off x="11159490" y="3737610"/>
            <a:ext cx="1990725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Primal-dual</a:t>
            </a:r>
            <a:endParaRPr sz="18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B13B976-8FE1-40D6-A7E7-3F088B2D16F3}"/>
              </a:ext>
            </a:extLst>
          </p:cNvPr>
          <p:cNvSpPr>
            <a:spLocks noGrp="1"/>
          </p:cNvSpPr>
          <p:nvPr/>
        </p:nvSpPr>
        <p:spPr>
          <a:xfrm>
            <a:off x="13121640" y="3714750"/>
            <a:ext cx="3958590" cy="342900"/>
          </a:xfrm>
          <a:prstGeom prst="roundRect">
            <a:avLst>
              <a:gd name="adj" fmla="val 16667"/>
            </a:avLst>
          </a:prstGeom>
          <a:solidFill>
            <a:srgbClr val="EEF1F5"/>
          </a:solidFill>
        </p:spPr>
        <p:txBody>
          <a:bodyPr/>
          <a:lstStyle/>
          <a:p>
            <a:endParaRPr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52EA229-3430-463B-986F-074F5D647B61}"/>
              </a:ext>
            </a:extLst>
          </p:cNvPr>
          <p:cNvSpPr>
            <a:spLocks noGrp="1"/>
          </p:cNvSpPr>
          <p:nvPr/>
        </p:nvSpPr>
        <p:spPr>
          <a:xfrm>
            <a:off x="13121640" y="3714750"/>
            <a:ext cx="3958590" cy="342900"/>
          </a:xfrm>
          <a:prstGeom prst="roundRect">
            <a:avLst>
              <a:gd name="adj" fmla="val 16667"/>
            </a:avLst>
          </a:prstGeom>
          <a:solidFill>
            <a:srgbClr val="2CA02C"/>
          </a:solidFill>
        </p:spPr>
        <p:txBody>
          <a:bodyPr/>
          <a:lstStyle/>
          <a:p>
            <a:endParaRPr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0FC66F8-4659-4D60-8093-23B68485F254}"/>
              </a:ext>
            </a:extLst>
          </p:cNvPr>
          <p:cNvSpPr>
            <a:spLocks noGrp="1"/>
          </p:cNvSpPr>
          <p:nvPr/>
        </p:nvSpPr>
        <p:spPr>
          <a:xfrm>
            <a:off x="16535400" y="3737610"/>
            <a:ext cx="48768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716</a:t>
            </a:r>
            <a:endParaRPr sz="180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539DBF64-6D38-465B-B5FD-AB0EC52CB9D4}"/>
              </a:ext>
            </a:extLst>
          </p:cNvPr>
          <p:cNvSpPr>
            <a:spLocks noGrp="1"/>
          </p:cNvSpPr>
          <p:nvPr/>
        </p:nvSpPr>
        <p:spPr>
          <a:xfrm>
            <a:off x="10904220" y="4446270"/>
            <a:ext cx="6431280" cy="5116830"/>
          </a:xfrm>
          <a:prstGeom prst="roundRect">
            <a:avLst>
              <a:gd name="adj" fmla="val 223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6460074-7893-4633-9D9D-B60B267569F2}"/>
              </a:ext>
            </a:extLst>
          </p:cNvPr>
          <p:cNvSpPr>
            <a:spLocks noGrp="1"/>
          </p:cNvSpPr>
          <p:nvPr/>
        </p:nvSpPr>
        <p:spPr>
          <a:xfrm>
            <a:off x="11178540" y="4682490"/>
            <a:ext cx="6470904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PROBLEMS TO FIX</a:t>
            </a:r>
            <a:endParaRPr sz="18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C58BE0D-1F03-499D-9D8C-3B70D9BC95C2}"/>
              </a:ext>
            </a:extLst>
          </p:cNvPr>
          <p:cNvSpPr>
            <a:spLocks noGrp="1"/>
          </p:cNvSpPr>
          <p:nvPr/>
        </p:nvSpPr>
        <p:spPr>
          <a:xfrm>
            <a:off x="11178540" y="5132070"/>
            <a:ext cx="6059120" cy="746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① both UCBs spend all of B, but </a:t>
            </a:r>
            <a:r>
              <a:rPr sz="1800" b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too early </a:t>
            </a: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: cost LCB understates costs, fixed ρ never corrects</a:t>
            </a:r>
            <a:endParaRPr sz="18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8A5A6647-E281-49B5-A3D5-5D29CDBE4F7D}"/>
              </a:ext>
            </a:extLst>
          </p:cNvPr>
          <p:cNvSpPr>
            <a:spLocks noGrp="1"/>
          </p:cNvSpPr>
          <p:nvPr/>
        </p:nvSpPr>
        <p:spPr>
          <a:xfrm>
            <a:off x="11178540" y="5993130"/>
            <a:ext cx="6059120" cy="746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② primal-dual leaves </a:t>
            </a:r>
            <a:r>
              <a:rPr sz="1800" b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167 of 560 unused </a:t>
            </a: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: infinite memory, conservative</a:t>
            </a:r>
            <a:endParaRPr sz="18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1F84C26-ECD4-4BA0-895C-C5EF88289CFD}"/>
              </a:ext>
            </a:extLst>
          </p:cNvPr>
          <p:cNvSpPr>
            <a:spLocks noGrp="1"/>
          </p:cNvSpPr>
          <p:nvPr/>
        </p:nvSpPr>
        <p:spPr>
          <a:xfrm>
            <a:off x="11178540" y="6854190"/>
            <a:ext cx="6059120" cy="746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③ CUSUM fires </a:t>
            </a:r>
            <a:r>
              <a:rPr sz="1800" b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~18 resets vs 54 reference </a:t>
            </a: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: too few samples per arm to reach h ≈ 14.6 (no hand-tuning of h)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584387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F9A057-47A6-46C8-B376-7F3EC05EFF9F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S4: INTERVENTION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689C42-C8F6-4E37-A8A4-2782507E9A4E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Memory and Pacing Preserve Future Capacity</a:t>
            </a:r>
            <a:endParaRPr sz="4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310114-8544-47EC-8934-09E3A9E916E4}"/>
              </a:ext>
            </a:extLst>
          </p:cNvPr>
          <p:cNvSpPr>
            <a:spLocks noGrp="1"/>
          </p:cNvSpPr>
          <p:nvPr/>
        </p:nvSpPr>
        <p:spPr>
          <a:xfrm>
            <a:off x="952500" y="19431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Same environments, benchmarks, and seeds</a:t>
            </a:r>
            <a:endParaRPr sz="1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63092C5-82E6-491F-B57A-8E517E247667}"/>
              </a:ext>
            </a:extLst>
          </p:cNvPr>
          <p:cNvSpPr>
            <a:spLocks noGrp="1"/>
          </p:cNvSpPr>
          <p:nvPr/>
        </p:nvSpPr>
        <p:spPr>
          <a:xfrm>
            <a:off x="952500" y="2545080"/>
            <a:ext cx="5308521" cy="562356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024B26-9D42-4354-A541-CEB8815950DA}"/>
              </a:ext>
            </a:extLst>
          </p:cNvPr>
          <p:cNvSpPr>
            <a:spLocks noGrp="1"/>
          </p:cNvSpPr>
          <p:nvPr/>
        </p:nvSpPr>
        <p:spPr>
          <a:xfrm>
            <a:off x="1245870" y="2800350"/>
            <a:ext cx="5193959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01 · WIDER WINDOW</a:t>
            </a:r>
            <a:endParaRPr sz="1800"/>
          </a:p>
        </p:txBody>
      </p:sp>
      <p:pic>
        <p:nvPicPr>
          <p:cNvPr id="3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" y="3230880"/>
            <a:ext cx="2300407" cy="36576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10834C4A-45BE-42A9-B04D-61A1053F289D}"/>
              </a:ext>
            </a:extLst>
          </p:cNvPr>
          <p:cNvSpPr>
            <a:spLocks noGrp="1"/>
          </p:cNvSpPr>
          <p:nvPr/>
        </p:nvSpPr>
        <p:spPr>
          <a:xfrm>
            <a:off x="1245870" y="3737134"/>
            <a:ext cx="4863434" cy="2872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half a segment: widest window that stays comfortably stationary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more samples per arm in the combinatorial setting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derived from known quantities, </a:t>
            </a:r>
            <a:r>
              <a:rPr sz="1800" b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not tuning</a:t>
            </a:r>
            <a:endParaRPr sz="18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BD5F5E4-CCC9-4AC5-8888-EDC662E9943B}"/>
              </a:ext>
            </a:extLst>
          </p:cNvPr>
          <p:cNvSpPr>
            <a:spLocks noGrp="1"/>
          </p:cNvSpPr>
          <p:nvPr/>
        </p:nvSpPr>
        <p:spPr>
          <a:xfrm>
            <a:off x="1245870" y="6998970"/>
            <a:ext cx="4721781" cy="1062990"/>
          </a:xfrm>
          <a:prstGeom prst="roundRect">
            <a:avLst>
              <a:gd name="adj" fmla="val 8333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0A67781-1808-40A2-B869-2C3701CDC74E}"/>
              </a:ext>
            </a:extLst>
          </p:cNvPr>
          <p:cNvSpPr>
            <a:spLocks noGrp="1"/>
          </p:cNvSpPr>
          <p:nvPr/>
        </p:nvSpPr>
        <p:spPr>
          <a:xfrm>
            <a:off x="1398270" y="7113269"/>
            <a:ext cx="4558634" cy="892969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800">
                <a:solidFill>
                  <a:srgbClr val="1E3A5F"/>
                </a:solidFill>
                <a:highlight>
                  <a:srgbClr val="E8EEF5"/>
                </a:highlight>
                <a:latin typeface="IBM Plex Sans"/>
                <a:ea typeface="IBM Plex Sans"/>
                <a:cs typeface="IBM Plex Sans"/>
              </a:rPr>
              <a:t>ablation, 30 trials each: gap </a:t>
            </a:r>
            <a:r>
              <a:rPr sz="18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496 → 417 </a:t>
            </a:r>
            <a:r>
              <a:rPr sz="1800">
                <a:solidFill>
                  <a:srgbClr val="1E3A5F"/>
                </a:solidFill>
                <a:highlight>
                  <a:srgbClr val="E8EEF5"/>
                </a:highlight>
                <a:latin typeface="IBM Plex Sans"/>
                <a:ea typeface="IBM Plex Sans"/>
                <a:cs typeface="IBM Plex Sans"/>
              </a:rPr>
              <a:t>vs W = 219</a:t>
            </a:r>
            <a:endParaRPr sz="18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06D19F4-8F07-4682-BBB7-B6972AA6BF61}"/>
              </a:ext>
            </a:extLst>
          </p:cNvPr>
          <p:cNvSpPr>
            <a:spLocks noGrp="1"/>
          </p:cNvSpPr>
          <p:nvPr/>
        </p:nvSpPr>
        <p:spPr>
          <a:xfrm>
            <a:off x="6489621" y="2545080"/>
            <a:ext cx="5308640" cy="562356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1AE7FAC-CAB2-469C-920F-980EF1F0AD1E}"/>
              </a:ext>
            </a:extLst>
          </p:cNvPr>
          <p:cNvSpPr>
            <a:spLocks noGrp="1"/>
          </p:cNvSpPr>
          <p:nvPr/>
        </p:nvSpPr>
        <p:spPr>
          <a:xfrm>
            <a:off x="6782991" y="2800350"/>
            <a:ext cx="519409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02 · EMPIRICAL COST</a:t>
            </a:r>
            <a:endParaRPr sz="1800"/>
          </a:p>
        </p:txBody>
      </p:sp>
      <p:pic>
        <p:nvPicPr>
          <p:cNvPr id="4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991" y="3230880"/>
            <a:ext cx="1391841" cy="365760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F3F0A05D-7633-454B-86DE-49234C368D3E}"/>
              </a:ext>
            </a:extLst>
          </p:cNvPr>
          <p:cNvSpPr>
            <a:spLocks noGrp="1"/>
          </p:cNvSpPr>
          <p:nvPr/>
        </p:nvSpPr>
        <p:spPr>
          <a:xfrm>
            <a:off x="6782991" y="3737134"/>
            <a:ext cx="4863557" cy="11010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replaces the cost LCB in the LP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fixes the early budget exhaustion</a:t>
            </a:r>
            <a:endParaRPr sz="180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B7513E7E-8B05-47E0-9DBF-465CBA4FF0CD}"/>
              </a:ext>
            </a:extLst>
          </p:cNvPr>
          <p:cNvSpPr>
            <a:spLocks noGrp="1"/>
          </p:cNvSpPr>
          <p:nvPr/>
        </p:nvSpPr>
        <p:spPr>
          <a:xfrm>
            <a:off x="6782991" y="6998970"/>
            <a:ext cx="4721900" cy="1062990"/>
          </a:xfrm>
          <a:prstGeom prst="roundRect">
            <a:avLst>
              <a:gd name="adj" fmla="val 8333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9E1D263-FA27-400C-88E7-6B1B13D02E59}"/>
              </a:ext>
            </a:extLst>
          </p:cNvPr>
          <p:cNvSpPr>
            <a:spLocks noGrp="1"/>
          </p:cNvSpPr>
          <p:nvPr/>
        </p:nvSpPr>
        <p:spPr>
          <a:xfrm>
            <a:off x="6935391" y="7113269"/>
            <a:ext cx="4558757" cy="892969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800">
                <a:solidFill>
                  <a:srgbClr val="1E3A5F"/>
                </a:solidFill>
                <a:highlight>
                  <a:srgbClr val="E8EEF5"/>
                </a:highlight>
                <a:latin typeface="IBM Plex Sans"/>
                <a:ea typeface="IBM Plex Sans"/>
                <a:cs typeface="IBM Plex Sans"/>
              </a:rPr>
              <a:t>Supported by the multi-campaign ablation: pseudo-regret 72 versus 165</a:t>
            </a:r>
            <a:endParaRPr sz="180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356912A6-00AB-4281-A014-25740D0C1F7D}"/>
              </a:ext>
            </a:extLst>
          </p:cNvPr>
          <p:cNvSpPr>
            <a:spLocks noGrp="1"/>
          </p:cNvSpPr>
          <p:nvPr/>
        </p:nvSpPr>
        <p:spPr>
          <a:xfrm>
            <a:off x="12026860" y="2545080"/>
            <a:ext cx="5308640" cy="562356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9BA0E12-963C-4814-A252-CC470FEAF625}"/>
              </a:ext>
            </a:extLst>
          </p:cNvPr>
          <p:cNvSpPr>
            <a:spLocks noGrp="1"/>
          </p:cNvSpPr>
          <p:nvPr/>
        </p:nvSpPr>
        <p:spPr>
          <a:xfrm>
            <a:off x="12320231" y="2800350"/>
            <a:ext cx="519409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03 · DYNAMIC PACING</a:t>
            </a:r>
            <a:endParaRPr sz="1800"/>
          </a:p>
        </p:txBody>
      </p:sp>
      <p:pic>
        <p:nvPicPr>
          <p:cNvPr id="48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0231" y="3230880"/>
            <a:ext cx="2285524" cy="365760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BA189CF1-B29D-4DE2-82A0-BF9B2A09628E}"/>
              </a:ext>
            </a:extLst>
          </p:cNvPr>
          <p:cNvSpPr>
            <a:spLocks noGrp="1"/>
          </p:cNvSpPr>
          <p:nvPr/>
        </p:nvSpPr>
        <p:spPr>
          <a:xfrm>
            <a:off x="12320231" y="3737134"/>
            <a:ext cx="4863557" cy="14554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LP cap = remaining budget / remaining rounds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sz="180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recovers spend drift around change points</a:t>
            </a:r>
            <a:endParaRPr sz="180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FE9A76A4-5EB9-45DA-BAEA-B2F7A64B7A7E}"/>
              </a:ext>
            </a:extLst>
          </p:cNvPr>
          <p:cNvSpPr>
            <a:spLocks noGrp="1"/>
          </p:cNvSpPr>
          <p:nvPr/>
        </p:nvSpPr>
        <p:spPr>
          <a:xfrm>
            <a:off x="12320231" y="6998970"/>
            <a:ext cx="4721900" cy="1007269"/>
          </a:xfrm>
          <a:prstGeom prst="roundRect">
            <a:avLst>
              <a:gd name="adj" fmla="val 13333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328E0CE6-19C9-446F-A25A-7FC889A54B38}"/>
              </a:ext>
            </a:extLst>
          </p:cNvPr>
          <p:cNvSpPr>
            <a:spLocks noGrp="1"/>
          </p:cNvSpPr>
          <p:nvPr/>
        </p:nvSpPr>
        <p:spPr>
          <a:xfrm>
            <a:off x="952500" y="8435340"/>
            <a:ext cx="8077200" cy="1127760"/>
          </a:xfrm>
          <a:prstGeom prst="roundRect">
            <a:avLst>
              <a:gd name="adj" fmla="val 10135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2C67AE2A-8CF2-417B-9083-71FD68E1E244}"/>
              </a:ext>
            </a:extLst>
          </p:cNvPr>
          <p:cNvSpPr>
            <a:spLocks noGrp="1"/>
          </p:cNvSpPr>
          <p:nvPr/>
        </p:nvSpPr>
        <p:spPr>
          <a:xfrm>
            <a:off x="1219200" y="8644890"/>
            <a:ext cx="7786116" cy="746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CUSUM DETECTOR UNCHANGED: only the decision layer changes through empirical cost and dynamic pacing.</a:t>
            </a:r>
            <a:endParaRPr sz="120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C741C837-E665-45E4-B32A-E725E3C00784}"/>
              </a:ext>
            </a:extLst>
          </p:cNvPr>
          <p:cNvSpPr>
            <a:spLocks noGrp="1"/>
          </p:cNvSpPr>
          <p:nvPr/>
        </p:nvSpPr>
        <p:spPr>
          <a:xfrm>
            <a:off x="9258300" y="8435340"/>
            <a:ext cx="8077200" cy="1127760"/>
          </a:xfrm>
          <a:prstGeom prst="roundRect">
            <a:avLst>
              <a:gd name="adj" fmla="val 10135"/>
            </a:avLst>
          </a:prstGeom>
          <a:solidFill>
            <a:srgbClr val="F3E7E1"/>
          </a:solidFill>
        </p:spPr>
        <p:txBody>
          <a:bodyPr/>
          <a:lstStyle/>
          <a:p>
            <a:endParaRPr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9E9893C9-EE3F-4E1B-844B-AD5F83A7F79C}"/>
              </a:ext>
            </a:extLst>
          </p:cNvPr>
          <p:cNvSpPr>
            <a:spLocks noGrp="1"/>
          </p:cNvSpPr>
          <p:nvPr/>
        </p:nvSpPr>
        <p:spPr>
          <a:xfrm>
            <a:off x="9525000" y="8644890"/>
            <a:ext cx="7786116" cy="746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PRIMAL-DUAL UPDATED: each method enters the comparison with its calibrated learning rates.</a:t>
            </a:r>
            <a:endParaRPr sz="120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9A7DA0ED-982F-5C2B-65AA-1223C263E695}"/>
              </a:ext>
            </a:extLst>
          </p:cNvPr>
          <p:cNvSpPr>
            <a:spLocks noGrp="1"/>
          </p:cNvSpPr>
          <p:nvPr/>
        </p:nvSpPr>
        <p:spPr>
          <a:xfrm>
            <a:off x="12472631" y="7113269"/>
            <a:ext cx="4417100" cy="892969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6790"/>
          </a:bodyPr>
          <a:lstStyle/>
          <a:p>
            <a:pPr>
              <a:lnSpc>
                <a:spcPct val="150000"/>
              </a:lnSpc>
              <a:buNone/>
            </a:pPr>
            <a:r>
              <a:rPr>
                <a:solidFill>
                  <a:srgbClr val="1E3A5F"/>
                </a:solidFill>
                <a:highlight>
                  <a:srgbClr val="E8EEF5"/>
                </a:highlight>
                <a:latin typeface="IBM Plex Sans"/>
                <a:ea typeface="IBM Plex Sans"/>
                <a:cs typeface="IBM Plex Sans"/>
              </a:rPr>
              <a:t>Same pacing rule as the multi-campaign stage</a:t>
            </a:r>
          </a:p>
        </p:txBody>
      </p:sp>
    </p:spTree>
    <p:extLst>
      <p:ext uri="{BB962C8B-B14F-4D97-AF65-F5344CB8AC3E}">
        <p14:creationId xmlns:p14="http://schemas.microsoft.com/office/powerpoint/2010/main" val="740435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7C1EB9-0749-41DB-8649-2F488F570E23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STAGE 4: EVIDENCE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DF43DA-DBF9-44A0-9082-71990B727D61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CUSUM-UCB Reaches the Lowest Final Gap</a:t>
            </a:r>
            <a:endParaRPr sz="4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105182-FE44-403B-8AA1-429A6C51CE93}"/>
              </a:ext>
            </a:extLst>
          </p:cNvPr>
          <p:cNvSpPr>
            <a:spLocks noGrp="1"/>
          </p:cNvSpPr>
          <p:nvPr/>
        </p:nvSpPr>
        <p:spPr>
          <a:xfrm>
            <a:off x="952500" y="19431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30 trials with matched seeds. Every trial respects the budget.</a:t>
            </a:r>
            <a:endParaRPr sz="1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D5A2FC4-1217-47B1-B00A-023181B75184}"/>
              </a:ext>
            </a:extLst>
          </p:cNvPr>
          <p:cNvSpPr>
            <a:spLocks noGrp="1"/>
          </p:cNvSpPr>
          <p:nvPr/>
        </p:nvSpPr>
        <p:spPr>
          <a:xfrm>
            <a:off x="952500" y="2506980"/>
            <a:ext cx="9774913" cy="7056120"/>
          </a:xfrm>
          <a:prstGeom prst="roundRect">
            <a:avLst>
              <a:gd name="adj" fmla="val 162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2520" y="2667000"/>
            <a:ext cx="9454872" cy="673608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BAE53A74-A22E-4E67-A2DE-492216CEAB96}"/>
              </a:ext>
            </a:extLst>
          </p:cNvPr>
          <p:cNvSpPr>
            <a:spLocks noGrp="1"/>
          </p:cNvSpPr>
          <p:nvPr/>
        </p:nvSpPr>
        <p:spPr>
          <a:xfrm>
            <a:off x="11032213" y="2506980"/>
            <a:ext cx="6933617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FINAL GAP, BASELINE → IMPROVED</a:t>
            </a:r>
            <a:endParaRPr sz="18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EAB63A3-0CD6-42BE-93D1-4CBD78BF73C3}"/>
              </a:ext>
            </a:extLst>
          </p:cNvPr>
          <p:cNvSpPr>
            <a:spLocks noGrp="1"/>
          </p:cNvSpPr>
          <p:nvPr/>
        </p:nvSpPr>
        <p:spPr>
          <a:xfrm>
            <a:off x="11032213" y="2918460"/>
            <a:ext cx="6303288" cy="1815465"/>
          </a:xfrm>
          <a:prstGeom prst="roundRect">
            <a:avLst>
              <a:gd name="adj" fmla="val 6296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F3482A5-27CD-4E9A-840D-FFDC72558D7E}"/>
              </a:ext>
            </a:extLst>
          </p:cNvPr>
          <p:cNvSpPr>
            <a:spLocks noGrp="1"/>
          </p:cNvSpPr>
          <p:nvPr/>
        </p:nvSpPr>
        <p:spPr>
          <a:xfrm>
            <a:off x="11032213" y="4726305"/>
            <a:ext cx="6303288" cy="952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9D71CB4-641E-4549-93D9-EC86ABDDF1E6}"/>
              </a:ext>
            </a:extLst>
          </p:cNvPr>
          <p:cNvSpPr>
            <a:spLocks noGrp="1"/>
          </p:cNvSpPr>
          <p:nvPr/>
        </p:nvSpPr>
        <p:spPr>
          <a:xfrm>
            <a:off x="11032213" y="2918460"/>
            <a:ext cx="6303288" cy="53340"/>
          </a:xfrm>
          <a:prstGeom prst="rect">
            <a:avLst/>
          </a:prstGeom>
          <a:solidFill>
            <a:srgbClr val="FF7F0E"/>
          </a:solidFill>
        </p:spPr>
        <p:txBody>
          <a:bodyPr/>
          <a:lstStyle/>
          <a:p>
            <a:endParaRPr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C3C825A-C6FC-4692-AC60-E415B056BE32}"/>
              </a:ext>
            </a:extLst>
          </p:cNvPr>
          <p:cNvSpPr>
            <a:spLocks noGrp="1"/>
          </p:cNvSpPr>
          <p:nvPr/>
        </p:nvSpPr>
        <p:spPr>
          <a:xfrm>
            <a:off x="11032213" y="2918460"/>
            <a:ext cx="9525" cy="181546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5DC1926-339D-4650-BA1E-DE5942205955}"/>
              </a:ext>
            </a:extLst>
          </p:cNvPr>
          <p:cNvSpPr>
            <a:spLocks noGrp="1"/>
          </p:cNvSpPr>
          <p:nvPr/>
        </p:nvSpPr>
        <p:spPr>
          <a:xfrm>
            <a:off x="17327881" y="2918460"/>
            <a:ext cx="9525" cy="181546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5738837-E1CF-4B9B-A0F8-9FBC11D79130}"/>
              </a:ext>
            </a:extLst>
          </p:cNvPr>
          <p:cNvSpPr>
            <a:spLocks noGrp="1"/>
          </p:cNvSpPr>
          <p:nvPr/>
        </p:nvSpPr>
        <p:spPr>
          <a:xfrm>
            <a:off x="11268432" y="3166110"/>
            <a:ext cx="1592056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CUSUM-UCB</a:t>
            </a:r>
            <a:endParaRPr sz="19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2CE4E9E-BECC-4539-97BF-7B19F7F971DF}"/>
              </a:ext>
            </a:extLst>
          </p:cNvPr>
          <p:cNvSpPr>
            <a:spLocks noGrp="1"/>
          </p:cNvSpPr>
          <p:nvPr/>
        </p:nvSpPr>
        <p:spPr>
          <a:xfrm>
            <a:off x="12849106" y="3105150"/>
            <a:ext cx="1793748" cy="4343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FF7F0E"/>
                </a:solidFill>
                <a:latin typeface="IBM Plex Mono"/>
                <a:ea typeface="IBM Plex Mono"/>
                <a:cs typeface="IBM Plex Mono"/>
              </a:rPr>
              <a:t>533 → 345</a:t>
            </a:r>
            <a:endParaRPr sz="24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4F98A3A-9061-4891-81E9-88CE0A694FE0}"/>
              </a:ext>
            </a:extLst>
          </p:cNvPr>
          <p:cNvSpPr>
            <a:spLocks noGrp="1"/>
          </p:cNvSpPr>
          <p:nvPr/>
        </p:nvSpPr>
        <p:spPr>
          <a:xfrm>
            <a:off x="11268432" y="3577590"/>
            <a:ext cx="4338042" cy="114300"/>
          </a:xfrm>
          <a:prstGeom prst="roundRect">
            <a:avLst>
              <a:gd name="adj" fmla="val 33333"/>
            </a:avLst>
          </a:prstGeom>
          <a:solidFill>
            <a:srgbClr val="FF7F0E">
              <a:alpha val="2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A451A71-6D56-4CAA-BBAE-106237913738}"/>
              </a:ext>
            </a:extLst>
          </p:cNvPr>
          <p:cNvSpPr>
            <a:spLocks noGrp="1"/>
          </p:cNvSpPr>
          <p:nvPr/>
        </p:nvSpPr>
        <p:spPr>
          <a:xfrm>
            <a:off x="11268432" y="3739515"/>
            <a:ext cx="2810351" cy="114300"/>
          </a:xfrm>
          <a:prstGeom prst="roundRect">
            <a:avLst>
              <a:gd name="adj" fmla="val 33333"/>
            </a:avLst>
          </a:prstGeom>
          <a:solidFill>
            <a:srgbClr val="FF7F0E"/>
          </a:solidFill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1F2835D-D118-418F-9778-8DC781A52969}"/>
              </a:ext>
            </a:extLst>
          </p:cNvPr>
          <p:cNvSpPr>
            <a:spLocks noGrp="1"/>
          </p:cNvSpPr>
          <p:nvPr/>
        </p:nvSpPr>
        <p:spPr>
          <a:xfrm>
            <a:off x="11268432" y="3930015"/>
            <a:ext cx="6005774" cy="701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5631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best method because resets concentrate near the true change points</a:t>
            </a:r>
            <a:endParaRPr sz="18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F0B2C519-D1BF-4F0C-95FD-62A1A8DF9283}"/>
              </a:ext>
            </a:extLst>
          </p:cNvPr>
          <p:cNvSpPr>
            <a:spLocks noGrp="1"/>
          </p:cNvSpPr>
          <p:nvPr/>
        </p:nvSpPr>
        <p:spPr>
          <a:xfrm>
            <a:off x="11032213" y="4848225"/>
            <a:ext cx="6303288" cy="1483995"/>
          </a:xfrm>
          <a:prstGeom prst="roundRect">
            <a:avLst>
              <a:gd name="adj" fmla="val 7702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BF31895-43AA-4B68-835D-3F7E758384CD}"/>
              </a:ext>
            </a:extLst>
          </p:cNvPr>
          <p:cNvSpPr>
            <a:spLocks noGrp="1"/>
          </p:cNvSpPr>
          <p:nvPr/>
        </p:nvSpPr>
        <p:spPr>
          <a:xfrm>
            <a:off x="11032213" y="6324600"/>
            <a:ext cx="6303288" cy="952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76AC61CF-4C69-42D3-B990-509A9C0CDDCF}"/>
              </a:ext>
            </a:extLst>
          </p:cNvPr>
          <p:cNvSpPr>
            <a:spLocks noGrp="1"/>
          </p:cNvSpPr>
          <p:nvPr/>
        </p:nvSpPr>
        <p:spPr>
          <a:xfrm>
            <a:off x="11032213" y="4848225"/>
            <a:ext cx="6303288" cy="53340"/>
          </a:xfrm>
          <a:prstGeom prst="rect">
            <a:avLst/>
          </a:prstGeom>
          <a:solidFill>
            <a:srgbClr val="1F77B4"/>
          </a:solidFill>
        </p:spPr>
        <p:txBody>
          <a:bodyPr/>
          <a:lstStyle/>
          <a:p>
            <a:endParaRPr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7C763F8-9651-49F3-875C-E99C3E9BA273}"/>
              </a:ext>
            </a:extLst>
          </p:cNvPr>
          <p:cNvSpPr>
            <a:spLocks noGrp="1"/>
          </p:cNvSpPr>
          <p:nvPr/>
        </p:nvSpPr>
        <p:spPr>
          <a:xfrm>
            <a:off x="11032213" y="4848225"/>
            <a:ext cx="9525" cy="148399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7C61CEF-0FD4-4F0E-8BCA-CC418F1DBFBC}"/>
              </a:ext>
            </a:extLst>
          </p:cNvPr>
          <p:cNvSpPr>
            <a:spLocks noGrp="1"/>
          </p:cNvSpPr>
          <p:nvPr/>
        </p:nvSpPr>
        <p:spPr>
          <a:xfrm>
            <a:off x="17327881" y="4848225"/>
            <a:ext cx="9525" cy="148399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C705CC4-F301-4974-AAB6-9119807D642B}"/>
              </a:ext>
            </a:extLst>
          </p:cNvPr>
          <p:cNvSpPr>
            <a:spLocks noGrp="1"/>
          </p:cNvSpPr>
          <p:nvPr/>
        </p:nvSpPr>
        <p:spPr>
          <a:xfrm>
            <a:off x="11268432" y="5095875"/>
            <a:ext cx="1050608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SW-UCB</a:t>
            </a:r>
            <a:endParaRPr sz="195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44E59F7-F628-4DAF-BF5A-ADB46C1A7618}"/>
              </a:ext>
            </a:extLst>
          </p:cNvPr>
          <p:cNvSpPr>
            <a:spLocks noGrp="1"/>
          </p:cNvSpPr>
          <p:nvPr/>
        </p:nvSpPr>
        <p:spPr>
          <a:xfrm>
            <a:off x="12376190" y="5034915"/>
            <a:ext cx="1793748" cy="4343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1F77B4"/>
                </a:solidFill>
                <a:latin typeface="IBM Plex Mono"/>
                <a:ea typeface="IBM Plex Mono"/>
                <a:cs typeface="IBM Plex Mono"/>
              </a:rPr>
              <a:t>562 → 417</a:t>
            </a:r>
            <a:endParaRPr sz="240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9CC6456B-6DCD-44C8-8323-1FAC96239EC6}"/>
              </a:ext>
            </a:extLst>
          </p:cNvPr>
          <p:cNvSpPr>
            <a:spLocks noGrp="1"/>
          </p:cNvSpPr>
          <p:nvPr/>
        </p:nvSpPr>
        <p:spPr>
          <a:xfrm>
            <a:off x="11268432" y="5507355"/>
            <a:ext cx="4577120" cy="114300"/>
          </a:xfrm>
          <a:prstGeom prst="roundRect">
            <a:avLst>
              <a:gd name="adj" fmla="val 33333"/>
            </a:avLst>
          </a:prstGeom>
          <a:solidFill>
            <a:srgbClr val="1F77B4">
              <a:alpha val="2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4D83CFA5-ABE8-461A-823E-7716050F8C81}"/>
              </a:ext>
            </a:extLst>
          </p:cNvPr>
          <p:cNvSpPr>
            <a:spLocks noGrp="1"/>
          </p:cNvSpPr>
          <p:nvPr/>
        </p:nvSpPr>
        <p:spPr>
          <a:xfrm>
            <a:off x="11268432" y="5669280"/>
            <a:ext cx="3393519" cy="114300"/>
          </a:xfrm>
          <a:prstGeom prst="roundRect">
            <a:avLst>
              <a:gd name="adj" fmla="val 33333"/>
            </a:avLst>
          </a:prstGeom>
          <a:solidFill>
            <a:srgbClr val="1F77B4"/>
          </a:solidFill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47E42C6-7DC6-4FCD-BCC3-96F69FC2C289}"/>
              </a:ext>
            </a:extLst>
          </p:cNvPr>
          <p:cNvSpPr>
            <a:spLocks noGrp="1"/>
          </p:cNvSpPr>
          <p:nvPr/>
        </p:nvSpPr>
        <p:spPr>
          <a:xfrm>
            <a:off x="11268432" y="5859780"/>
            <a:ext cx="6413933" cy="36957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wider window, empirical cost, dynamic pacing</a:t>
            </a:r>
            <a:endParaRPr sz="1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CA23BB4A-7F45-4E20-99D6-CC42B50BDB4F}"/>
              </a:ext>
            </a:extLst>
          </p:cNvPr>
          <p:cNvSpPr>
            <a:spLocks noGrp="1"/>
          </p:cNvSpPr>
          <p:nvPr/>
        </p:nvSpPr>
        <p:spPr>
          <a:xfrm>
            <a:off x="11032213" y="6446520"/>
            <a:ext cx="6303288" cy="1483995"/>
          </a:xfrm>
          <a:prstGeom prst="roundRect">
            <a:avLst>
              <a:gd name="adj" fmla="val 7702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F12B9FB3-8651-4F6B-ADEE-22F2DA4876CB}"/>
              </a:ext>
            </a:extLst>
          </p:cNvPr>
          <p:cNvSpPr>
            <a:spLocks noGrp="1"/>
          </p:cNvSpPr>
          <p:nvPr/>
        </p:nvSpPr>
        <p:spPr>
          <a:xfrm>
            <a:off x="11032213" y="7922895"/>
            <a:ext cx="6303288" cy="952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66B54A89-D320-4656-83C6-C9954CB90D71}"/>
              </a:ext>
            </a:extLst>
          </p:cNvPr>
          <p:cNvSpPr>
            <a:spLocks noGrp="1"/>
          </p:cNvSpPr>
          <p:nvPr/>
        </p:nvSpPr>
        <p:spPr>
          <a:xfrm>
            <a:off x="11032213" y="6446520"/>
            <a:ext cx="6303288" cy="53340"/>
          </a:xfrm>
          <a:prstGeom prst="rect">
            <a:avLst/>
          </a:prstGeom>
          <a:solidFill>
            <a:srgbClr val="2CA02C"/>
          </a:solidFill>
        </p:spPr>
        <p:txBody>
          <a:bodyPr/>
          <a:lstStyle/>
          <a:p>
            <a:endParaRPr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3E9B38AF-E886-4EF0-8FA9-FEAE8587737C}"/>
              </a:ext>
            </a:extLst>
          </p:cNvPr>
          <p:cNvSpPr>
            <a:spLocks noGrp="1"/>
          </p:cNvSpPr>
          <p:nvPr/>
        </p:nvSpPr>
        <p:spPr>
          <a:xfrm>
            <a:off x="11032213" y="6446520"/>
            <a:ext cx="9525" cy="148399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C7951A57-5676-4619-B778-620AEE021107}"/>
              </a:ext>
            </a:extLst>
          </p:cNvPr>
          <p:cNvSpPr>
            <a:spLocks noGrp="1"/>
          </p:cNvSpPr>
          <p:nvPr/>
        </p:nvSpPr>
        <p:spPr>
          <a:xfrm>
            <a:off x="17327881" y="6446520"/>
            <a:ext cx="9525" cy="148399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6AE310A8-FEE7-47E5-8709-3B1EB8A9B3B9}"/>
              </a:ext>
            </a:extLst>
          </p:cNvPr>
          <p:cNvSpPr>
            <a:spLocks noGrp="1"/>
          </p:cNvSpPr>
          <p:nvPr/>
        </p:nvSpPr>
        <p:spPr>
          <a:xfrm>
            <a:off x="11268432" y="6694170"/>
            <a:ext cx="1493699" cy="358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95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Primal-dual</a:t>
            </a:r>
            <a:endParaRPr sz="195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1A3D3ECF-1EF4-4BA6-B958-4FD179E4E725}"/>
              </a:ext>
            </a:extLst>
          </p:cNvPr>
          <p:cNvSpPr>
            <a:spLocks noGrp="1"/>
          </p:cNvSpPr>
          <p:nvPr/>
        </p:nvSpPr>
        <p:spPr>
          <a:xfrm>
            <a:off x="12759690" y="6633210"/>
            <a:ext cx="1793748" cy="4343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2CA02C"/>
                </a:solidFill>
                <a:latin typeface="IBM Plex Mono"/>
                <a:ea typeface="IBM Plex Mono"/>
                <a:cs typeface="IBM Plex Mono"/>
              </a:rPr>
              <a:t>716 → 660</a:t>
            </a:r>
            <a:endParaRPr sz="240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7CC9C237-322C-4A08-81F4-F79E7D6FF2A5}"/>
              </a:ext>
            </a:extLst>
          </p:cNvPr>
          <p:cNvSpPr>
            <a:spLocks noGrp="1"/>
          </p:cNvSpPr>
          <p:nvPr/>
        </p:nvSpPr>
        <p:spPr>
          <a:xfrm>
            <a:off x="11268432" y="7105650"/>
            <a:ext cx="5830848" cy="114300"/>
          </a:xfrm>
          <a:prstGeom prst="roundRect">
            <a:avLst>
              <a:gd name="adj" fmla="val 33333"/>
            </a:avLst>
          </a:prstGeom>
          <a:solidFill>
            <a:srgbClr val="2CA02C">
              <a:alpha val="2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BA0067D3-6986-4E78-B042-73B5C38397A5}"/>
              </a:ext>
            </a:extLst>
          </p:cNvPr>
          <p:cNvSpPr>
            <a:spLocks noGrp="1"/>
          </p:cNvSpPr>
          <p:nvPr/>
        </p:nvSpPr>
        <p:spPr>
          <a:xfrm>
            <a:off x="11268432" y="7267575"/>
            <a:ext cx="5376029" cy="114300"/>
          </a:xfrm>
          <a:prstGeom prst="roundRect">
            <a:avLst>
              <a:gd name="adj" fmla="val 33333"/>
            </a:avLst>
          </a:prstGeom>
          <a:solidFill>
            <a:srgbClr val="2CA02C"/>
          </a:solidFill>
        </p:spPr>
        <p:txBody>
          <a:bodyPr/>
          <a:lstStyle/>
          <a:p>
            <a:endParaRPr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623F2B40-480D-4822-B446-B7EE2648ECF9}"/>
              </a:ext>
            </a:extLst>
          </p:cNvPr>
          <p:cNvSpPr>
            <a:spLocks noGrp="1"/>
          </p:cNvSpPr>
          <p:nvPr/>
        </p:nvSpPr>
        <p:spPr>
          <a:xfrm>
            <a:off x="11268432" y="7458075"/>
            <a:ext cx="6413933" cy="36957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764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1800">
                <a:solidFill>
                  <a:srgbClr val="5F6F82"/>
                </a:solidFill>
                <a:latin typeface="IBM Plex Sans"/>
                <a:ea typeface="IBM Plex Sans"/>
                <a:cs typeface="IBM Plex Sans"/>
              </a:rPr>
              <a:t>calibrated rates, with 211 of 560 left unused</a:t>
            </a:r>
            <a:endParaRPr sz="180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4404D5A2-62DF-473C-AD8E-CF33EB5615BF}"/>
              </a:ext>
            </a:extLst>
          </p:cNvPr>
          <p:cNvSpPr>
            <a:spLocks noGrp="1"/>
          </p:cNvSpPr>
          <p:nvPr/>
        </p:nvSpPr>
        <p:spPr>
          <a:xfrm>
            <a:off x="11032213" y="8044815"/>
            <a:ext cx="6492387" cy="5410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500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Light bar: baseline · solid bar: improved · scale up to 716.</a:t>
            </a:r>
            <a:endParaRPr sz="150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A41641F0-8B93-4BB8-B993-F9E62C4CFCEF}"/>
              </a:ext>
            </a:extLst>
          </p:cNvPr>
          <p:cNvSpPr>
            <a:spLocks noGrp="1"/>
          </p:cNvSpPr>
          <p:nvPr/>
        </p:nvSpPr>
        <p:spPr>
          <a:xfrm>
            <a:off x="11032213" y="8662035"/>
            <a:ext cx="6303288" cy="1333500"/>
          </a:xfrm>
          <a:prstGeom prst="roundRect">
            <a:avLst>
              <a:gd name="adj" fmla="val 8571"/>
            </a:avLst>
          </a:prstGeom>
          <a:solidFill>
            <a:srgbClr val="E8EEF5"/>
          </a:solidFill>
        </p:spPr>
        <p:txBody>
          <a:bodyPr/>
          <a:lstStyle/>
          <a:p>
            <a:endParaRPr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E297ACCE-1F88-45EC-B780-5625C50473B4}"/>
              </a:ext>
            </a:extLst>
          </p:cNvPr>
          <p:cNvSpPr>
            <a:spLocks noGrp="1"/>
          </p:cNvSpPr>
          <p:nvPr/>
        </p:nvSpPr>
        <p:spPr>
          <a:xfrm>
            <a:off x="11260813" y="8814435"/>
            <a:ext cx="6035187" cy="1066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Empirical cost and pacing extend spending to the horizon. The wider window supplies more observations per arm. CUSUM resets rise from about 18 to 32 per trial.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14644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0D8CA1-34AD-46F1-B52F-640BAAF9FD4F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225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CROSS-STAGE SYNTHESIS</a:t>
            </a:r>
            <a:endParaRPr sz="1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E8DFD7-9B0D-43BA-A2B6-7E23F47F0563}"/>
              </a:ext>
            </a:extLst>
          </p:cNvPr>
          <p:cNvSpPr>
            <a:spLocks noGrp="1"/>
          </p:cNvSpPr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E3A5F"/>
                </a:solidFill>
                <a:latin typeface="IBM Plex Sans"/>
                <a:ea typeface="IBM Plex Sans"/>
                <a:cs typeface="IBM Plex Sans"/>
              </a:rPr>
              <a:t>CUSUM-UCB Leads Under Market Drift</a:t>
            </a:r>
            <a:endParaRPr sz="4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82E5A8-1D0D-418A-9CB2-7C583135FD97}"/>
              </a:ext>
            </a:extLst>
          </p:cNvPr>
          <p:cNvSpPr>
            <a:spLocks noGrp="1"/>
          </p:cNvSpPr>
          <p:nvPr/>
        </p:nvSpPr>
        <p:spPr>
          <a:xfrm>
            <a:off x="952500" y="1943100"/>
            <a:ext cx="180213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5F6F82"/>
                </a:solidFill>
                <a:latin typeface="IBM Plex Mono"/>
                <a:ea typeface="IBM Plex Mono"/>
                <a:cs typeface="IBM Plex Mono"/>
              </a:rPr>
              <a:t>Average gap per round for the revised learners</a:t>
            </a:r>
            <a:endParaRPr sz="1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81129D9-F7EC-4DA3-9A60-69B0C0515E28}"/>
              </a:ext>
            </a:extLst>
          </p:cNvPr>
          <p:cNvSpPr>
            <a:spLocks noGrp="1"/>
          </p:cNvSpPr>
          <p:nvPr/>
        </p:nvSpPr>
        <p:spPr>
          <a:xfrm>
            <a:off x="952500" y="2526030"/>
            <a:ext cx="5308521" cy="1889760"/>
          </a:xfrm>
          <a:prstGeom prst="roundRect">
            <a:avLst>
              <a:gd name="adj" fmla="val 6048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7E80785-C146-4D21-8CCB-D38EBDAA3CBA}"/>
              </a:ext>
            </a:extLst>
          </p:cNvPr>
          <p:cNvSpPr>
            <a:spLocks noGrp="1"/>
          </p:cNvSpPr>
          <p:nvPr/>
        </p:nvSpPr>
        <p:spPr>
          <a:xfrm>
            <a:off x="952500" y="4408170"/>
            <a:ext cx="5308521" cy="952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97A6C34-01E4-413E-B460-3014F995DD52}"/>
              </a:ext>
            </a:extLst>
          </p:cNvPr>
          <p:cNvSpPr>
            <a:spLocks noGrp="1"/>
          </p:cNvSpPr>
          <p:nvPr/>
        </p:nvSpPr>
        <p:spPr>
          <a:xfrm>
            <a:off x="952500" y="2526030"/>
            <a:ext cx="5308521" cy="76200"/>
          </a:xfrm>
          <a:prstGeom prst="rect">
            <a:avLst/>
          </a:prstGeom>
          <a:solidFill>
            <a:srgbClr val="FF7F0E"/>
          </a:solidFill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DACF18E-8D13-451C-8B0E-DC908FDFA57F}"/>
              </a:ext>
            </a:extLst>
          </p:cNvPr>
          <p:cNvSpPr>
            <a:spLocks noGrp="1"/>
          </p:cNvSpPr>
          <p:nvPr/>
        </p:nvSpPr>
        <p:spPr>
          <a:xfrm>
            <a:off x="952500" y="2526030"/>
            <a:ext cx="9525" cy="188976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1A0E68A-F24F-4822-AA2F-678188ABD910}"/>
              </a:ext>
            </a:extLst>
          </p:cNvPr>
          <p:cNvSpPr>
            <a:spLocks noGrp="1"/>
          </p:cNvSpPr>
          <p:nvPr/>
        </p:nvSpPr>
        <p:spPr>
          <a:xfrm>
            <a:off x="6253401" y="2526030"/>
            <a:ext cx="9525" cy="188976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090D62C-B598-4FD1-B583-CD4A07CE00DB}"/>
              </a:ext>
            </a:extLst>
          </p:cNvPr>
          <p:cNvSpPr>
            <a:spLocks noGrp="1"/>
          </p:cNvSpPr>
          <p:nvPr/>
        </p:nvSpPr>
        <p:spPr>
          <a:xfrm>
            <a:off x="1226820" y="2811780"/>
            <a:ext cx="5235869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900" b="1">
                <a:solidFill>
                  <a:srgbClr val="FF7F0E"/>
                </a:solidFill>
                <a:latin typeface="IBM Plex Mono"/>
                <a:ea typeface="IBM Plex Mono"/>
                <a:cs typeface="IBM Plex Mono"/>
              </a:rPr>
              <a:t>0.115</a:t>
            </a:r>
            <a:endParaRPr sz="3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C26B2F8-431D-46DA-AA99-FB938936C3DB}"/>
              </a:ext>
            </a:extLst>
          </p:cNvPr>
          <p:cNvSpPr>
            <a:spLocks noGrp="1"/>
          </p:cNvSpPr>
          <p:nvPr/>
        </p:nvSpPr>
        <p:spPr>
          <a:xfrm>
            <a:off x="1226820" y="3535680"/>
            <a:ext cx="4902677" cy="701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0965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1800" b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CUSUM-UCB: active resets refresh statistics after each change</a:t>
            </a:r>
            <a:endParaRPr sz="18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1449D3B-BFE4-45D2-9EBE-5A083BCBDF14}"/>
              </a:ext>
            </a:extLst>
          </p:cNvPr>
          <p:cNvSpPr>
            <a:spLocks noGrp="1"/>
          </p:cNvSpPr>
          <p:nvPr/>
        </p:nvSpPr>
        <p:spPr>
          <a:xfrm>
            <a:off x="6489621" y="2526030"/>
            <a:ext cx="5308640" cy="1889760"/>
          </a:xfrm>
          <a:prstGeom prst="roundRect">
            <a:avLst>
              <a:gd name="adj" fmla="val 6048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6934514-A327-4EA6-9958-511BA34184D1}"/>
              </a:ext>
            </a:extLst>
          </p:cNvPr>
          <p:cNvSpPr>
            <a:spLocks noGrp="1"/>
          </p:cNvSpPr>
          <p:nvPr/>
        </p:nvSpPr>
        <p:spPr>
          <a:xfrm>
            <a:off x="6489621" y="4408170"/>
            <a:ext cx="5308640" cy="952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5B20169-5EB5-404C-9947-3BE557D23CF4}"/>
              </a:ext>
            </a:extLst>
          </p:cNvPr>
          <p:cNvSpPr>
            <a:spLocks noGrp="1"/>
          </p:cNvSpPr>
          <p:nvPr/>
        </p:nvSpPr>
        <p:spPr>
          <a:xfrm>
            <a:off x="6489621" y="2526030"/>
            <a:ext cx="5308640" cy="76200"/>
          </a:xfrm>
          <a:prstGeom prst="rect">
            <a:avLst/>
          </a:prstGeom>
          <a:solidFill>
            <a:srgbClr val="1F77B4"/>
          </a:solidFill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C38D1FC-D226-4D41-92CA-8C35FAAAB843}"/>
              </a:ext>
            </a:extLst>
          </p:cNvPr>
          <p:cNvSpPr>
            <a:spLocks noGrp="1"/>
          </p:cNvSpPr>
          <p:nvPr/>
        </p:nvSpPr>
        <p:spPr>
          <a:xfrm>
            <a:off x="6489621" y="2526030"/>
            <a:ext cx="9525" cy="188976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3FDA610-B860-4729-99A0-36452E25EA16}"/>
              </a:ext>
            </a:extLst>
          </p:cNvPr>
          <p:cNvSpPr>
            <a:spLocks noGrp="1"/>
          </p:cNvSpPr>
          <p:nvPr/>
        </p:nvSpPr>
        <p:spPr>
          <a:xfrm>
            <a:off x="11790641" y="2526030"/>
            <a:ext cx="9525" cy="188976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77216CC-EAA5-44E1-A8D0-1A4835ADC92C}"/>
              </a:ext>
            </a:extLst>
          </p:cNvPr>
          <p:cNvSpPr>
            <a:spLocks noGrp="1"/>
          </p:cNvSpPr>
          <p:nvPr/>
        </p:nvSpPr>
        <p:spPr>
          <a:xfrm>
            <a:off x="6763941" y="2811780"/>
            <a:ext cx="523600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900" b="1">
                <a:solidFill>
                  <a:srgbClr val="1F77B4"/>
                </a:solidFill>
                <a:latin typeface="IBM Plex Mono"/>
                <a:ea typeface="IBM Plex Mono"/>
                <a:cs typeface="IBM Plex Mono"/>
              </a:rPr>
              <a:t>0.139</a:t>
            </a:r>
            <a:endParaRPr sz="39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614E8F4-8FDD-4662-992F-7BF6E145A88D}"/>
              </a:ext>
            </a:extLst>
          </p:cNvPr>
          <p:cNvSpPr>
            <a:spLocks noGrp="1"/>
          </p:cNvSpPr>
          <p:nvPr/>
        </p:nvSpPr>
        <p:spPr>
          <a:xfrm>
            <a:off x="6763941" y="3535680"/>
            <a:ext cx="4902800" cy="701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9169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1800" b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SW-UCB: passive forgetting pays a fixed variance cost</a:t>
            </a:r>
            <a:endParaRPr sz="18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78A872D-70B6-4707-9B70-C7045911D5E4}"/>
              </a:ext>
            </a:extLst>
          </p:cNvPr>
          <p:cNvSpPr>
            <a:spLocks noGrp="1"/>
          </p:cNvSpPr>
          <p:nvPr/>
        </p:nvSpPr>
        <p:spPr>
          <a:xfrm>
            <a:off x="12026860" y="2526030"/>
            <a:ext cx="5308640" cy="1889760"/>
          </a:xfrm>
          <a:prstGeom prst="roundRect">
            <a:avLst>
              <a:gd name="adj" fmla="val 6048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039B325-23B3-4B91-BDB0-0AE0E327F385}"/>
              </a:ext>
            </a:extLst>
          </p:cNvPr>
          <p:cNvSpPr>
            <a:spLocks noGrp="1"/>
          </p:cNvSpPr>
          <p:nvPr/>
        </p:nvSpPr>
        <p:spPr>
          <a:xfrm>
            <a:off x="12026860" y="4408170"/>
            <a:ext cx="5308640" cy="9525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969F450-5465-4481-B223-246C9271E6D2}"/>
              </a:ext>
            </a:extLst>
          </p:cNvPr>
          <p:cNvSpPr>
            <a:spLocks noGrp="1"/>
          </p:cNvSpPr>
          <p:nvPr/>
        </p:nvSpPr>
        <p:spPr>
          <a:xfrm>
            <a:off x="12026860" y="2526030"/>
            <a:ext cx="5308640" cy="76200"/>
          </a:xfrm>
          <a:prstGeom prst="rect">
            <a:avLst/>
          </a:prstGeom>
          <a:solidFill>
            <a:srgbClr val="2CA02C"/>
          </a:solidFill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A2778CC-AB58-4223-B463-29D2D6AF74C6}"/>
              </a:ext>
            </a:extLst>
          </p:cNvPr>
          <p:cNvSpPr>
            <a:spLocks noGrp="1"/>
          </p:cNvSpPr>
          <p:nvPr/>
        </p:nvSpPr>
        <p:spPr>
          <a:xfrm>
            <a:off x="12026860" y="2526030"/>
            <a:ext cx="9525" cy="188976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EBB46BF-10F7-4F51-A72A-8FEBB99B0110}"/>
              </a:ext>
            </a:extLst>
          </p:cNvPr>
          <p:cNvSpPr>
            <a:spLocks noGrp="1"/>
          </p:cNvSpPr>
          <p:nvPr/>
        </p:nvSpPr>
        <p:spPr>
          <a:xfrm>
            <a:off x="17327880" y="2526030"/>
            <a:ext cx="9525" cy="1889760"/>
          </a:xfrm>
          <a:prstGeom prst="rect">
            <a:avLst/>
          </a:prstGeom>
          <a:solidFill>
            <a:srgbClr val="D9DFE7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8E6E40E-3D1D-4404-ACDB-88C9A410D0B4}"/>
              </a:ext>
            </a:extLst>
          </p:cNvPr>
          <p:cNvSpPr>
            <a:spLocks noGrp="1"/>
          </p:cNvSpPr>
          <p:nvPr/>
        </p:nvSpPr>
        <p:spPr>
          <a:xfrm>
            <a:off x="12301181" y="2811780"/>
            <a:ext cx="523600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3900" b="1">
                <a:solidFill>
                  <a:srgbClr val="2CA02C"/>
                </a:solidFill>
                <a:latin typeface="IBM Plex Mono"/>
                <a:ea typeface="IBM Plex Mono"/>
                <a:cs typeface="IBM Plex Mono"/>
              </a:rPr>
              <a:t>0.220</a:t>
            </a:r>
            <a:endParaRPr sz="3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1F9CFEC-2DC7-49BD-BF04-EB28C3125059}"/>
              </a:ext>
            </a:extLst>
          </p:cNvPr>
          <p:cNvSpPr>
            <a:spLocks noGrp="1"/>
          </p:cNvSpPr>
          <p:nvPr/>
        </p:nvSpPr>
        <p:spPr>
          <a:xfrm>
            <a:off x="12301181" y="3535680"/>
            <a:ext cx="5236000" cy="36957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764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1800" b="1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Primal-dual: 0.239 with the reference rates</a:t>
            </a:r>
            <a:endParaRPr sz="18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224D897-F3B6-4308-8044-41B7A83610CB}"/>
              </a:ext>
            </a:extLst>
          </p:cNvPr>
          <p:cNvSpPr>
            <a:spLocks noGrp="1"/>
          </p:cNvSpPr>
          <p:nvPr/>
        </p:nvSpPr>
        <p:spPr>
          <a:xfrm>
            <a:off x="952500" y="4682490"/>
            <a:ext cx="8896826" cy="4880610"/>
          </a:xfrm>
          <a:prstGeom prst="roundRect">
            <a:avLst>
              <a:gd name="adj" fmla="val 2342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691A5B3-BD54-4863-A806-A3A3E6EFB016}"/>
              </a:ext>
            </a:extLst>
          </p:cNvPr>
          <p:cNvSpPr>
            <a:spLocks noGrp="1"/>
          </p:cNvSpPr>
          <p:nvPr/>
        </p:nvSpPr>
        <p:spPr>
          <a:xfrm>
            <a:off x="1245870" y="4937760"/>
            <a:ext cx="9141095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1E3A5F"/>
                </a:solidFill>
                <a:latin typeface="IBM Plex Mono"/>
                <a:ea typeface="IBM Plex Mono"/>
                <a:cs typeface="IBM Plex Mono"/>
              </a:rPr>
              <a:t>WHAT THE COMPARISON SHOWS</a:t>
            </a:r>
            <a:endParaRPr sz="18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5D3CE82-2E68-4F96-8FD2-7212305E4F49}"/>
              </a:ext>
            </a:extLst>
          </p:cNvPr>
          <p:cNvSpPr>
            <a:spLocks noGrp="1"/>
          </p:cNvSpPr>
          <p:nvPr/>
        </p:nvSpPr>
        <p:spPr>
          <a:xfrm>
            <a:off x="1226820" y="5368289"/>
            <a:ext cx="8335029" cy="3849453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dirty="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CUSUM-UCB finishes slightly ahead of SW-UCB and clearly ahead of primal-dual.</a:t>
            </a:r>
          </a:p>
          <a:p>
            <a:pPr>
              <a:lnSpc>
                <a:spcPct val="150000"/>
              </a:lnSpc>
              <a:buNone/>
            </a:pPr>
            <a:r>
              <a:rPr dirty="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The primal-dual benchmark is a best fixed distribution and does not track segment-specific policies.</a:t>
            </a:r>
          </a:p>
          <a:p>
            <a:pPr>
              <a:lnSpc>
                <a:spcPct val="150000"/>
              </a:lnSpc>
              <a:buNone/>
            </a:pPr>
            <a:r>
              <a:rPr dirty="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Calibrated rates reduce the primal-dual gap, but 211 of 560 remain unused.</a:t>
            </a:r>
          </a:p>
          <a:p>
            <a:pPr>
              <a:lnSpc>
                <a:spcPct val="150000"/>
              </a:lnSpc>
              <a:buNone/>
            </a:pPr>
            <a:r>
              <a:rPr dirty="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A windowed primal-dual variant improves on full memory but still trails both UCB learners.</a:t>
            </a:r>
          </a:p>
          <a:p>
            <a:pPr>
              <a:lnSpc>
                <a:spcPct val="150000"/>
              </a:lnSpc>
              <a:buNone/>
            </a:pPr>
            <a:endParaRPr dirty="0"/>
          </a:p>
          <a:p>
            <a:pPr>
              <a:lnSpc>
                <a:spcPct val="150000"/>
              </a:lnSpc>
              <a:buNone/>
            </a:pPr>
            <a:endParaRPr dirty="0"/>
          </a:p>
          <a:p>
            <a:pPr marL="0" indent="0" algn="l">
              <a:lnSpc>
                <a:spcPct val="150000"/>
              </a:lnSpc>
              <a:buNone/>
            </a:pPr>
            <a:endParaRPr sz="1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2EAD615-CD01-447D-B778-268DD5DFC77B}"/>
              </a:ext>
            </a:extLst>
          </p:cNvPr>
          <p:cNvSpPr>
            <a:spLocks noGrp="1"/>
          </p:cNvSpPr>
          <p:nvPr/>
        </p:nvSpPr>
        <p:spPr>
          <a:xfrm>
            <a:off x="1226820" y="6226174"/>
            <a:ext cx="8335029" cy="720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sz="18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70EA362-EEBD-4FDE-BE79-14796C694649}"/>
              </a:ext>
            </a:extLst>
          </p:cNvPr>
          <p:cNvSpPr>
            <a:spLocks noGrp="1"/>
          </p:cNvSpPr>
          <p:nvPr/>
        </p:nvSpPr>
        <p:spPr>
          <a:xfrm>
            <a:off x="1226820" y="7084059"/>
            <a:ext cx="8335029" cy="720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sz="18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CD72003-FCB4-4D12-B8DB-5F757E9C349F}"/>
              </a:ext>
            </a:extLst>
          </p:cNvPr>
          <p:cNvSpPr>
            <a:spLocks noGrp="1"/>
          </p:cNvSpPr>
          <p:nvPr/>
        </p:nvSpPr>
        <p:spPr>
          <a:xfrm>
            <a:off x="1226820" y="7941944"/>
            <a:ext cx="8335029" cy="720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sz="18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946AF6C-B5D8-41D6-B334-EA110F79D046}"/>
              </a:ext>
            </a:extLst>
          </p:cNvPr>
          <p:cNvSpPr>
            <a:spLocks noGrp="1"/>
          </p:cNvSpPr>
          <p:nvPr/>
        </p:nvSpPr>
        <p:spPr>
          <a:xfrm>
            <a:off x="10116027" y="4682490"/>
            <a:ext cx="7219474" cy="4880610"/>
          </a:xfrm>
          <a:prstGeom prst="roundRect">
            <a:avLst>
              <a:gd name="adj" fmla="val 2342"/>
            </a:avLst>
          </a:prstGeom>
          <a:solidFill>
            <a:srgbClr val="F3E7E1"/>
          </a:solidFill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D4BD018-1DFE-4F4D-9F54-3228DA2CD1A4}"/>
              </a:ext>
            </a:extLst>
          </p:cNvPr>
          <p:cNvSpPr>
            <a:spLocks noGrp="1"/>
          </p:cNvSpPr>
          <p:nvPr/>
        </p:nvSpPr>
        <p:spPr>
          <a:xfrm>
            <a:off x="10401777" y="4930140"/>
            <a:ext cx="7312771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spc="150">
                <a:solidFill>
                  <a:srgbClr val="C65D3B"/>
                </a:solidFill>
                <a:latin typeface="IBM Plex Mono"/>
                <a:ea typeface="IBM Plex Mono"/>
                <a:cs typeface="IBM Plex Mono"/>
              </a:rPr>
              <a:t>LIMITATIONS</a:t>
            </a:r>
            <a:endParaRPr sz="18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7E33D05-EFB0-43F4-8EE9-CE02807EA3BD}"/>
              </a:ext>
            </a:extLst>
          </p:cNvPr>
          <p:cNvSpPr>
            <a:spLocks noGrp="1"/>
          </p:cNvSpPr>
          <p:nvPr/>
        </p:nvSpPr>
        <p:spPr>
          <a:xfrm>
            <a:off x="10401777" y="5360670"/>
            <a:ext cx="6659403" cy="330127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dirty="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CUSUM reacts slowly when observations are divided across many arms.</a:t>
            </a:r>
          </a:p>
          <a:p>
            <a:pPr>
              <a:lnSpc>
                <a:spcPct val="150000"/>
              </a:lnSpc>
              <a:buNone/>
            </a:pPr>
            <a:r>
              <a:rPr dirty="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A segment-global oracle can move budget across regimes, which no online learner can reproduce without future information.</a:t>
            </a:r>
          </a:p>
          <a:p>
            <a:pPr>
              <a:lnSpc>
                <a:spcPct val="150000"/>
              </a:lnSpc>
              <a:buNone/>
            </a:pPr>
            <a:r>
              <a:rPr dirty="0">
                <a:solidFill>
                  <a:srgbClr val="16283C"/>
                </a:solidFill>
                <a:latin typeface="IBM Plex Sans"/>
                <a:ea typeface="IBM Plex Sans"/>
                <a:cs typeface="IBM Plex Sans"/>
              </a:rPr>
              <a:t>· Repeated exploration after each change creates a persistent gap that grows with the number of arms.</a:t>
            </a:r>
          </a:p>
          <a:p>
            <a:pPr>
              <a:lnSpc>
                <a:spcPct val="150000"/>
              </a:lnSpc>
              <a:buNone/>
            </a:pPr>
            <a:endParaRPr dirty="0"/>
          </a:p>
          <a:p>
            <a:pPr marL="0" indent="0" algn="l">
              <a:lnSpc>
                <a:spcPct val="150000"/>
              </a:lnSpc>
              <a:buNone/>
            </a:pPr>
            <a:endParaRPr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71FBEDB-00C8-48C1-820C-B672DFE5230D}"/>
              </a:ext>
            </a:extLst>
          </p:cNvPr>
          <p:cNvSpPr>
            <a:spLocks noGrp="1"/>
          </p:cNvSpPr>
          <p:nvPr/>
        </p:nvSpPr>
        <p:spPr>
          <a:xfrm>
            <a:off x="10401777" y="6179820"/>
            <a:ext cx="6847413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6790"/>
          </a:bodyPr>
          <a:lstStyle/>
          <a:p>
            <a:pPr marL="0" indent="0" algn="l">
              <a:lnSpc>
                <a:spcPct val="150000"/>
              </a:lnSpc>
              <a:buNone/>
            </a:pPr>
            <a:endParaRPr sz="18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2F70878-7C56-4790-AA79-DB1C31DEC5E6}"/>
              </a:ext>
            </a:extLst>
          </p:cNvPr>
          <p:cNvSpPr>
            <a:spLocks noGrp="1"/>
          </p:cNvSpPr>
          <p:nvPr/>
        </p:nvSpPr>
        <p:spPr>
          <a:xfrm>
            <a:off x="10401777" y="6998970"/>
            <a:ext cx="6847413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6790"/>
          </a:bodyPr>
          <a:lstStyle/>
          <a:p>
            <a:pPr marL="0" indent="0" algn="l">
              <a:lnSpc>
                <a:spcPct val="150000"/>
              </a:lnSpc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810778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>
            <a:extLst>
              <a:ext uri="{FF2B5EF4-FFF2-40B4-BE49-F238E27FC236}">
                <a16:creationId xmlns:a16="http://schemas.microsoft.com/office/drawing/2014/main" id="{1305FD92-4AD3-438F-9724-4816A0EE7C1D}"/>
              </a:ext>
            </a:extLst>
          </p:cNvPr>
          <p:cNvSpPr>
            <a:spLocks noGrp="1"/>
          </p:cNvSpPr>
          <p:nvPr/>
        </p:nvSpPr>
        <p:spPr>
          <a:xfrm>
            <a:off x="952500" y="762000"/>
            <a:ext cx="80000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800" spc="225">
                <a:solidFill>
                  <a:srgbClr val="9FB4CC"/>
                </a:solidFill>
                <a:latin typeface="IBM Plex Mono"/>
                <a:ea typeface="IBM Plex Mono"/>
                <a:cs typeface="IBM Plex Mono"/>
              </a:rPr>
              <a:t>POLITECNICO DI MILANO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1DEE96C3-8281-4273-A686-DE1537B2DDA9}"/>
              </a:ext>
            </a:extLst>
          </p:cNvPr>
          <p:cNvSpPr>
            <a:spLocks noGrp="1"/>
          </p:cNvSpPr>
          <p:nvPr/>
        </p:nvSpPr>
        <p:spPr>
          <a:xfrm>
            <a:off x="10335500" y="762000"/>
            <a:ext cx="7000000" cy="335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800" spc="225">
                <a:solidFill>
                  <a:srgbClr val="9FB4CC"/>
                </a:solidFill>
                <a:latin typeface="IBM Plex Mono"/>
                <a:ea typeface="IBM Plex Mono"/>
                <a:cs typeface="IBM Plex Mono"/>
              </a:rPr>
              <a:t>ONLINE LEARNING PROJECT</a:t>
            </a:r>
          </a:p>
        </p:txBody>
      </p:sp>
      <p:sp>
        <p:nvSpPr>
          <p:cNvPr id="30" name="Shape Bar">
            <a:extLst>
              <a:ext uri="{FF2B5EF4-FFF2-40B4-BE49-F238E27FC236}">
                <a16:creationId xmlns:a16="http://schemas.microsoft.com/office/drawing/2014/main" id="{B7B526C6-1314-4C75-8C95-A85174756256}"/>
              </a:ext>
            </a:extLst>
          </p:cNvPr>
          <p:cNvSpPr>
            <a:spLocks noGrp="1"/>
          </p:cNvSpPr>
          <p:nvPr/>
        </p:nvSpPr>
        <p:spPr>
          <a:xfrm>
            <a:off x="952500" y="3924300"/>
            <a:ext cx="838200" cy="76200"/>
          </a:xfrm>
          <a:prstGeom prst="rect">
            <a:avLst/>
          </a:prstGeom>
          <a:solidFill>
            <a:srgbClr val="C65D3B"/>
          </a:solidFill>
        </p:spPr>
        <p:txBody>
          <a:bodyPr/>
          <a:lstStyle/>
          <a:p>
            <a:endParaRPr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25B35C01-21A3-48ED-91AE-0ED8D43CD263}"/>
              </a:ext>
            </a:extLst>
          </p:cNvPr>
          <p:cNvSpPr>
            <a:spLocks noGrp="1"/>
          </p:cNvSpPr>
          <p:nvPr/>
        </p:nvSpPr>
        <p:spPr>
          <a:xfrm>
            <a:off x="952500" y="4229100"/>
            <a:ext cx="13500000" cy="1400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84719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Adaptive Budget Allocation</a:t>
            </a: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E54A0D6F-4F86-4242-A61E-5F633E25D568}"/>
              </a:ext>
            </a:extLst>
          </p:cNvPr>
          <p:cNvSpPr>
            <a:spLocks noGrp="1"/>
          </p:cNvSpPr>
          <p:nvPr/>
        </p:nvSpPr>
        <p:spPr>
          <a:xfrm>
            <a:off x="952500" y="9106971"/>
            <a:ext cx="11000000" cy="400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 fontScale="95472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4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Arbizzani Tonelli Antonio · Arisi Leonardo · Berra Claudia · Di Paolo Gaia</a:t>
            </a: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A8800D9D-C2C5-49E9-B6E1-2891A2863861}"/>
              </a:ext>
            </a:extLst>
          </p:cNvPr>
          <p:cNvSpPr>
            <a:spLocks noGrp="1"/>
          </p:cNvSpPr>
          <p:nvPr/>
        </p:nvSpPr>
        <p:spPr>
          <a:xfrm>
            <a:off x="13335500" y="9106971"/>
            <a:ext cx="4000000" cy="400000"/>
          </a:xfrm>
          <a:prstGeom prst="rect">
            <a:avLst/>
          </a:prstGeom>
          <a:noFill/>
        </p:spPr>
        <p:txBody>
          <a:bodyPr lIns="25400" tIns="25400" rIns="25400" bIns="2540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125">
                <a:solidFill>
                  <a:srgbClr val="9FB4CC"/>
                </a:solidFill>
                <a:latin typeface="IBM Plex Mono"/>
                <a:ea typeface="IBM Plex Mono"/>
                <a:cs typeface="IBM Plex Mono"/>
              </a:rPr>
              <a:t>github.com/antonioarbizzanitonelli</a:t>
            </a:r>
          </a:p>
        </p:txBody>
      </p:sp>
    </p:spTree>
    <p:extLst>
      <p:ext uri="{BB962C8B-B14F-4D97-AF65-F5344CB8AC3E}">
        <p14:creationId xmlns:p14="http://schemas.microsoft.com/office/powerpoint/2010/main" val="1726790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3364</Words>
  <Application>Microsoft Office PowerPoint</Application>
  <DocSecurity>0</DocSecurity>
  <PresentationFormat>Personalizzato</PresentationFormat>
  <Paragraphs>326</Paragraphs>
  <Slides>25</Slides>
  <Notes>25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2" baseType="lpstr">
      <vt:lpstr>Aptos</vt:lpstr>
      <vt:lpstr>Arial</vt:lpstr>
      <vt:lpstr>Calibri</vt:lpstr>
      <vt:lpstr>Courier New</vt:lpstr>
      <vt:lpstr>IBM Plex Mono</vt:lpstr>
      <vt:lpstr>IBM Plex Sans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Antonio Arbizzani</cp:lastModifiedBy>
  <cp:revision>3</cp:revision>
  <dcterms:created xsi:type="dcterms:W3CDTF">2026-09-21T19:03:02Z</dcterms:created>
  <dcterms:modified xsi:type="dcterms:W3CDTF">2026-09-21T19:58:58Z</dcterms:modified>
</cp:coreProperties>
</file>