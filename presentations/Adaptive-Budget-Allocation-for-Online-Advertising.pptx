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The project studies how a bidder can learn from auction outcomes while spreading a limited budget across a campaign. Four simulated settings follow, each with a baseline, an observed limitation, a revision and the saved result. The timeline strip is conceptual (repeated decisions, one budget). It is not a spending curve and shows no recorded data. Evidence reference for every number in this deck: notebook code and saved outputs at commit 38a050b32a6bd757c0c2c4db18c029caa039e919. No experiment was rerun to build this deck. Cell indices are zero-based and count markdown and code cells. Authors: Antonio Arbizzani Tonelli, Leonardo Arisi, Claudia Berra, Gaia Di Paolo.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trade-off: a higher bid wins more often but earns less per win and spends more of a budget that must last the whole campaign. Notation: v = value of a win, b_t = bid at round t, m_t = highest competing bid. First-price auction: a win yields utility v − b_t and costs b_t; a loss yields nothing and costs nothing. The learner must respect the realized budget: the sum of costs over all T rounds is at most B. Two different constraints matter throughout the deck: the LPs use an average spending cap rho = B/T (or, in the paced variants, remaining budget divided by remaining rounds), while separate affordability rules enforce the hard realized budget. Sources: [R1] budget_aware_kl_ucb.ipynb, cells 2–4. [R2] dynamic_budget_pacing.ipynb, cells 3, 5, 7, 10 and 12. For multiple campaigns, round utility and cost sum over the selected campaign/bid 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Headline table. Lower is better in every row, but each row has its own measure and comparator: there is deliberately no common axis and no ranking across scenarios. Main trial counts: single campaign 10, multiple campaigns 20, primal-dual 10 per environment, segmented market 30. All runs are synthetic auction simulations; baseline and revised policies face the same market paths within each comparison. Exact sources (values rounded only for display): - Single campaign: [B1] baseline_ucb.ipynb cell 8, budgeted Hoeffding row (39.554286); [R1] cell 8, KL row (11.374286). - Multiple campaigns: [R2] dynamic_budget_pacing.ipynb cell 13, saved HTML table (595.154806 → 70.054544). - Primal-dual: [R3] calibrated_primal_dual.ipynb cell 17, saved comparison. - Segmented market: [B4] and [R4] cell 17, CUSUM rows (533.30 → 344.93). The multiple-campaign value is 70.1, replacing the ≈72 shown in the legacy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at a glance. Every result in the deck is a mean over paired synthetic trials; no real advertising campaign is evaluated. Seeds (trial index j starts at zero): - Scenario 1: market seed 20260517 (one pre-generated competitor sequence); budgeted action seeds 20000 + j. - Scenario 2: market seeds 100 + j; action seeds 1100 + j. Baseline, revised learner, references and ablations share market realizations. - Scenario 3: environment seed 17 + 1000·j, plus 100000 for the changing sequence; primal-dual seed offset 10000. The baseline is rerun in cell 17 with identical seeds. - Scenario 4: environment seeds 1000 + j; method offsets 10000 (SW-UCB), 20000 (CUSUM-UCB), 30000 (primal-dual). Feedback: Scenario 1 observes win/reward/cost for the selected bid only. Scenario 2 is semi-bandit over the played campaign/bid arms. Scenario 3 observes full counterfactual reward/cost vectors after acting. In Scenario 4 the UCB methods are semi-bandit and primal-dual has full feedback. Full grids and distributions: scenario READMEs and docs/presentation-data.json. Sources: [R1] cells 2 and 8; [R2] cells 2, 3, 5 and 13; [R3] cells 1, 3, 5, 12 and 17; [R4] cells 1, 2, 4, 6 and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1 setup: T = 5,000 rounds, B = 125, rho = B/T = 0.025. Value v = 0.6; three independent Uniform[0,1] competitor bids each round, so P(win | b) = b³. Admissible bids 0.0, 0.1, …, 0.6. With b³ = 0.027 at b = 0.3 and 0.064 at b = 0.4, wins are rare and estimates converge slowly. Baseline: budget-blind UCB1 and a budgeted UCB policy whose LP uses reward upper bounds and cost lower bounds. Wide Hoeffding intervals make the cost constraint too permissive: the cost LCB can be near zero, so the LP treats bids as almost free and the budget runs out early. The baseline stops (bids zero) below remaining budget 1. Revision: estimate the Bernoulli win probability; KL bound n·KL(p̂, q) ≤ log(max(t, 2)), 15 bisection iterations. LP reward uses (v − b)·p_UCB and cost uses b·p_LCB. Bids above the remaining budget are filtered individually; bid 0 stays available. The cap stays fixed at rho = B/T: there is no dynamic pacing in this scenario, and no published result for one. Sources: [B1] baseline_ucb.ipynb cells 2, 3 and 8; [R1] budget_aware_kl_ucb.ipynb cells 2–4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single-campaign result over 10 paired trials. SEM is the across-trial standard deviation (ddof = 1) divided by √10; it is not a confidence interval. The bars share one scale and start at zero. Saved values: UCB1 budget-blind 40.184286 ± 0.49339, spend 124.29, 36.4% of the LP’s expected utility. Budgeted Hoeffding UCB 39.554286 ± 0.703357, spend 124.38, 37.4%. Budgeted KL-UCB 11.374286 ± 1.50265, spend 123.20, 82.0%. The oracle LP mixes bids 0.4 (0.965714) and 0.3 (0.034286) using the true means; it does not know future competitor bids. Note: this is realized regret. The separately recorded KL pseudo-regret (≈12.26) is a different measure and is not used here. The confidence-bound ablation is in appendix A2. Sources: [B1] baseline_ucb.ipynb cell 8 (saved baseline HTML summary); [R1] budget_aware_kl_ucb.ipynb cell 8 (saved UCB1/KL HTML summary); oracle LP and distribution in [R1] cells 2, 5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 setup: four campaigns with values (0.95, 0.85, 0.78, 0.90), an 11-point bid grid on [0, 1] filtered by valuation (0 = opt out), conflicts 0–1–2–3 (adjacent campaigns cannot both bid). This gives 33 positive campaign/bid arms and 250 feasible super-actions; the maximum bid sum is 1.8. T = 3,000, B = 700, so rho = B/T ≈ 0.233. 20 paired trials. Competing thresholds: Beta marginals per campaign, (2,5), (2.8,3.8), (3.5,3), (2.3,4); with probability 0.3 all campaigns share one uniform quantile (cell 2), otherwise quantiles are independent. Cell 3 computes true arm means, cell 5 generates thresholds. Baseline: Combinatorial-UCB with semi-bandit feedback; cost lower bounds understate expenditure, so it spends too early (see the checkpoints on the next slide). Revision: KL win-probability bounds, empirical expected cost b·p̂ in the LP, and the cap rho_t = remaining budget / (T − t) with t counted from zero. The LP support is restricted to affordable super-actions (bid sum ≤ remaining budget); the null action is the fallback. The example round (C1 bids 0.4, C3 bids 0.3, so C2 and C4 cannot bid) only illustrates a feasible combination; it is not a recorded action. Sources: [R2] dynamic_budget_pacing.ipynb cells 2, 3, 5, 7, 10 and 12; [B2] baseline_combinatorial_ucb.ipynb cells 12 and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markers per series are the only recorded points: normalized pseudo-regret at 25%, 50%, 75% and 100% of the horizon (rounds 750, 1,500, 2,250, 3,000). The straight connecting lines only guide the eye; they are not reconstructed trajectories, and there are no error bands because numerical SEM summaries were not saved for these tables. Reading: early on the baseline is close to the oracle (it is even slightly negative at round 1,500), but it spends too early and its normalized pseudo-regret climbs to 0.1984 by the end. The revised policy keeps spending through the horizon and ends at 0.0234. A negative partial-horizon value is possible because the comparator is an LP with an average-cost constraint, not a pathwise optimal action at every round. The negative checkpoint is kept, not clipped. Sources: [B2] baseline_combinatorial_ucb.ipynb cell 12 and [R2] dynamic_budget_pacing.ipynb cell 13 (saved checkpoint summaries). [B2] cell 14 holds the original trajectory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Scenario 2 result over 20 paired trials. Pseudo-regret = cumulative oracle expected per-round reward minus the true expected reward of the selected super-actions; realized regret uses realized learner utility instead. Saved values: baseline pseudo-regret 595.154806, realized regret 596.318372, utility 1047.218, spend 698.575. Revised: pseudo-regret 70.054544, realized regret 73.088872, utility 1570.4475, spend 699.835. The revised policy obtains 95.55% (≈95.6%) of the LP’s expected utility (oracle expected reward 0.5478 per round). This replaces the legacy “≈72”. Numerical SEM is not stored in these main tables, so none is shown. The sampled clairvoyant reference policy (realized utility 1628.935) samples the LP distribution and stops below the worst-case cost guard; its finite-trial realized reward is not the LP objective. Sources: [R2] dynamic_budget_pacing.ipynb cell 13 (saved HTML table), corroborated by [B2] baseline_combinatorial_ucb.ipynb cell 12. Reference oracle in [R2] cell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3 reuses the four-campaign instance (250 super-actions, maximum round payment 1.8, T = 3,000, B = 700, rho = B/T) but with full feedback: after acting, the learner sees the reward and cost of every super-action. Two environments: stochastic (Scenario 2’s Beta thresholds) and a changing sequence (five sinusoidal cycles over the horizon, campaign-specific phases, Gaussian noise SD 0.05, clipped to [0, 1], generated before play). Loop: Hedge keeps a distribution over K = 250 combinations and scores them with the Lagrangian; one combination is sampled and executed; full feedback reveals f_t(a), c_t(a) for all a; projected online gradient descent updates lambda in [0, lambda_max], lambda_max = 1/rho. Rates. Baseline: eta_Hedge = sqrt(log K / T), eta_dual = 1/sqrt(T). Calibrated: eta_Hedge = sqrt(8 log K / T), eta_dual = lambda_max / (G·sqrt(T)), with G = max(rho, C_max − rho), C_max = 1.8. Removing the common term lambda_t·rho does not change Hedge probabilities at otherwise identical settings. Guards: the baseline plays null whenever remaining budget &lt; 1.8 (global stop); the calibrated version replaces the sampled action with null only if its bid sum exceeds the remaining budget (per action). Sources: [B3] baseline_primal_dual.ipynb cells 6, 8 and 10; [R3] calibrated_primal_dual.ipynb cells 1, 3, 5, 7, 8, 10 and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Scenario 3 comparison, 10 paired trials per environment; the baseline is rerun in cell 17 with identical environment and primal-dual seeds. The bars share one scale, start at zero, and show pseudo-regret only; utility and spend stay in the table. Comparator: the best fixed distribution in hindsight, i.e. one LP fitted to the realized sequence’s average reward and cost with average cost ≤ B/T. Pseudo-regret per round = (1/T)·Σ (F_t·x* − F_t·x_t), where x_t is the proposed learner distribution. Realized utility and expenditure come from the executed actions, including any guard override. Calibration raises spending (568.6 → 675.8 stochastic; 557.6 → 596.8 changing) and utility in both environments. Cell 14 prints budget violation 0.00 for every group and an override rate of 0.000 at displayed precision. Saved precision: three decimals for pseudo-regret per round, one decimal for utility and spend. Final numerical SEM is not serialized in the comparison table (the plots in cell 15 show pointwise SEM bands), so no SEM is shown. Do not compare this scale with Scenario 2. Guard ablation: appendix A4; horizon sweep: appendix A5. Sources: [R3] calibrated_primal_dual.ipynb cells 14 and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4 setup: T = 3,000 in three stationary segments of 1,000 rounds; B = 560 (rho = B/T ≈ 0.187); 30 paired trials. Campaign values (0.95, 0.88, 0.78, 0.92); bid grid (0, 0.10, 0.20, 0.30, 0.40, 0.55, 0.70, 0.85); conflict chain 0–1–2–3. This gives 27 positive arms and 168 feasible combinations. The number of changes (two) is known by construction. “Cheapest competition” is read from the configured Beta parameters of each campaign’s highest competing bid (mean = a/(a+b)), not from simulation output. Segment 1 means ≈ (0.29, 0.46, 0.58, 0.36); segment 2 ≈ (0.68, 0.30, 0.66, 0.54); segment 3 ≈ (0.51, 0.72, 0.30, 0.61). Exact Beta parameters are in R4 cell 2 and the data snapshot. Comparators: the main segment-local oracle solves one true-mean LP per segment, each with cap B/T: expected utility 1228.6. The segment-global oracle uses one distribution per segment under a single total expected budget B and can shift spending between segments: 1252.0. Both are expected-policy LP values printed to one decimal, not realized pathwise optima. Do not derive exact gaps by subtracting utility from these rounded totals. Sources: [R4] change_detection_and_pacing.ipynb cells 1, 2, 4, 6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layers: how estimates are refreshed, and how spending is controlled. Estimation (semi-bandit UCB): SW-UCB forgets observations outside a window measured in calendar rounds, not arm observations. The revision widens it from 219 to 500 rounds; 500 is half the known 1,000-round segment length, so it uses that known quantity. CUSUM-UCB tracks a two-sided cumulative deviation of each selected arm’s Bernoulli win indicator from a reference mean, resets the arm when the statistic exceeds h and forces M new reference pulls. Settings unchanged: M = 7 reference samples, h ≈ 14.63, exploration probability α ≈ 0.0698. Spending (both UCB policies): the empirical expected cost replaces the cost LCB in the LP, and the cap becomes remaining budget / remaining rounds. Both baselines spent the whole budget too early. Primal-dual (full feedback): calibrated Hedge and OGD rates; it keeps its full history. Both baseline and revised primal-dual already use the per-action maximum-payment guard, so affordability is not a new improvement here. Hard budget: the LP gives zero mass to bid sums above the remaining budget; forced UCB pulls are affordable; primal-dual replaces unaffordable sampled actions with null. Sources: [B4] baseline_adaptive_learners.ipynb cells 10 and 12; [R4] change_detection_and_pacing.ipynb cells 2, 10, 12 and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bars share one benchmark and one scale: the final gap = segment-local oracle expected utility (1228.6) minus realized learner utility, mean ± SEM over 30 paired trials (sample SEM saved in the HTML tables). SEM is not a confidence interval. Saved values (local gap ± SEM): SW-UCB 561.99 ± 2.25 → 416.65 ± 2.78; CUSUM-UCB 533.30 ± 5.10 → 344.93 ± 4.06; primal-dual 715.78 ± 2.55 → 660.35 ± 2.77. Revised gap per round (cell 18): 0.1389, 0.1150, 0.2201. CUSUM-UCB has the lowest recorded gap among the revised methods. Caveat: UCB methods have semi-bandit feedback while primal-dual has full feedback, so this is not a like-for-like feedback comparison. Every trial respects the budget (cell 15). These gaps are not Scenario 3 pseudo-regret. The secondary segment-global gaps (e.g. CUSUM revised 368.40) are stored in cell 17 and are deliberately not mixed into this chart. Sources: [B4] baseline_adaptive_learners.ipynb cell 17 and [R4] change_detection_and_pacing.ipynb cell 17 (saved HTML tables); [R4] cell 18 for gap per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supported finding is paired with the comparison or ablation behind it: - KL bounds: Scenario 1 confidence-bound ablation (10 paired trials, R1 cells 16–17) and Scenario 2 KL/Hoeffding ablation (20 paired trials, R2 cell 17). - Empirical costs: Scenario 2 cost ablation (R2 cell 18). - Calibrated rates: Scenario 3 main comparison (R3 cell 17); the guard ablation (cells 18–19) gives identical displayed outcomes, so no gain is attributed to the guard. Horizon sweep in cell 21. - Wider window: Scenario 4 paired window ablation (R4 cells 19–20). CUSUM diagnostics in cells 20–22. Limits to state aloud: these are synthetic auction configurations with the saved outputs only; joint changes (e.g. KL + empirical cost + pacing) do not identify every component’s contribution; finite horizon sweeps do not prove asymptotic behavior; feedback and benchmark differences constrain comparisons across scenarios. Not included on purpose: results for Scenario 1 dynamic pacing and Scenario 4 windowed primal-dual. Neither has a published implementation or saved output; any later implementation would be future work, not an existing experiment. Scope and unavailable evidence are recorded in docs/documentation-audit.md.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and source slide; no additional empirical claim. Repository: https://github.com/antonio-arbizzani-tonelli/adaptive-budget-allocation-online-learning (replaces the old unhyphenated GitHub profile address used in the legacy deck). Notebook key used in every footer: B = baseline, R = revision; 1–4 = scenario. B1 baseline_ucb, R1 budget_aware_kl_ucb (notebooks/01_single_campaign); B2 baseline_combinatorial_ucb, R2 dynamic_budget_pacing (02_combinatorial_campaigns); B3 baseline_primal_dual, R3 calibrated_primal_dual (03_primal_dual_control); B4 baseline_adaptive_learners, R4 change_detection_and_pacing (04_non_stationary_market). All numbers come from code and outputs saved at commit 38a050b32a6bd757c0c2c4db18c029caa039e919; no experiment was rerun. Cell indices are zero-based and count both markdown and code cells. The notebook guide, the presentation source map and the numerical snapshot (docs/presentation-data.json) give the exact cell for every figure. Authors: Antonio Arbizzani Tonelli, Leonardo Arisi, Claudia Berra, Gaia Di Paolo. Repository maintainer: Antonio Arbizzani Tonelli, https://it.linkedin.com/in/antonio-arbizzani-tonelli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divider. The main talk ends on the previous slide. These six slides come from the 22-slide draft (draft slides 4, 8, 12, 15, 16 and 20), which marks them as backup material; their content is unchanged, only their position. Use them when a question touches a measure definition, an ablation or the horizon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A1, backup for questions about what each result measures (referenced from slide 3). Why this matters: “regret” is not one quantity here. Scenarios 1–2 compare against a stochastic clairvoyant LP that picks a fixed distribution using the true expected reward and cost, with expected per-round cost at most B/T. It does not know future competitor bids. Scenario 3 fits the best fixed distribution to the complete realized reward/cost sequence in hindsight. Scenario 4 solves one true-mean LP per stationary segment, each with cap B/T. Scenario 3 detail: x_t is the proposed distribution, even if a guard changes the executed action; realized utility and spend come from the executed action. The expected-cost LP constraint and the hard realized budget are different constraints. None of these comparators is a trajectory-wise realized optimum. Sources: [R1] cells 4 and 6; [R2] cells 7 and 12; [R3] cells 7 and 12; [R4] cells 8 and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A2, backup for the Scenario 1 result (slide 6). Only the confidence interval for the same win-probability learner changes; LP, affordability filter, market sequences and action seeds are the same. KL: mean realized regret 11.374286, spend 123.20 of 125, 82.0% of the LP’s expected utility. Hoeffding: 35.724286, spend 45.55, 43.5%. Interpretation: with wide Hoeffding intervals the optimistic reward bound keeps favoring low bids that rarely win, so the policy under-spends (45.55 of 125) rather than over-spends. The evidence supports KL bounds on this instance only. Do not merge the Hoeffding ablation row with the original budgeted-Hoeffding baseline on slide 6: they are different policies (the ablation keeps the revised structure). No published result supports an additional dynamic-pacing experiment in this scenario. Source: [R1] budget_aware_kl_ucb.ipynb cells 16–17 (ablation code and saved HTML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A3, backup for the Scenario 2 result (slide 9). Two one-component ablations on the revised Scenario 2 learner, each over 20 paired trials, available only as one-decimal printed means: - KL vs Hoeffding bounds, all other revised components retained: 70.1 vs 100.5. - Empirical expected cost vs cost lower confidence bound in the LP, all other revised components retained: 70.1 vs 166.2. Mean spend at T/4 (round 750): 176.0 with empirical costs vs 241.4 with the cost LCB, i.e. the LCB under-estimates cost and spends early. These corrected values replace the legacy ≈101, ≈165 and 177. Neither ablation isolates the individual contribution of dynamic pacing. Sources: [R2] dynamic_budget_pacing.ipynb cell 17 (printed KL/Hoeffding result) and cell 18 (printed empirical-cost/LCB result and expenditure at 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A4, backup for the Scenario 3 result (slide 11). Same calibrated rates, dual update, environments and seeds; only the guard differs. - Global stop: play the null action whenever the remaining budget is below the maximum possible round payment (1.8). - Per action: replace the sampled combination with null only if its own maximum payment (bid sum) exceeds the remaining budget. Both guards give identical outcomes at the saved display precision (utility one decimal, pseudo-regret three decimals, spend one decimal). “Identical” refers to that precision. This corrects the legacy conclusion that the guard change improved primal-dual performance: the measured improvement is attributed to rate calibration on these instances; no performance claim is made for the guard. These are eight-trial ablation means, not the ten-trial main means on slide 11 (hence 1286.3 vs 1287.9). Source: [R3] calibrated_primal_dual.ipynb cells 18–19.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A5, backup for questions about horizon length in Scenario 3. Recorded data (pseudo-regret per round, eight trials per horizon, B/T fixed): T = 100: stochastic 0.2650, changing 0.2335 T = 200: 0.2638, 0.2357 T = 300: 0.2609, 0.2315 T = 500: 0.2380, 0.2111 T = 800: 0.2042, 0.1919 T = 1,200: 0.1745, 0.1712 T = 1,600: 0.1528, 0.1547 T = 2,400: 0.1299, 0.1389 T = 3,000: 0.1209, 0.1337 Markers sit at the actual numerical horizons on a linear axis; the connecting lines only guide the eye. The changing sequence has a small increase between the first two horizons (0.2335 → 0.2357). This is finite simulation evidence and does not prove asymptotic sublinear regret; no theoretical rate is fitted. Caveat: the full fixed-policy LP comparator used here differs from the scaled comparator in the baseline notebook’s adversarial guarantee. Source: [R3] calibrated_primal_dual.ipynb cell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A6, backup for the Scenario 4 result (slide 14). Window ablation: the revised SW-UCB with empirical costs and dynamic pacing is run with window 219 and window 500 on the same 30 environments and SW seeds. Mean local gap 496.1 vs 416.6 (one decimal as saved; no numerical SEM stored). This supports the wider window on this one fixed segmented instance; it does not show that forgetting is unimportant in general or that sample count is the sole limitation. Expenditure: both UCB methods spend essentially all of 560 before and after the revision; the revision changes when they spend, not how much. Primal-dual spends 393.41 (baseline) and 348.92 (revised): the revision improves utility (512.77 → 568.20) while spending less, leaving 211.08 unused vs 166.59. The experiments do not isolate a single cause of primal-dual’s remaining gap. CUSUM diagnostic: mean reset count 18.2 (baseline) → 32.0 (revised). The 54 used as a reference elsewhere is just 2 changes × 27 arms and is not a detection-accuracy target; the saved histograms include resets away from the true change points. No windowed primal-dual result exists in the published notebooks; it is unimplemented future work. Sources: [R4] cells 19–20 (paired window ablation); [B4] and [R4] cell 17 (expenditure, utility); [B4] cell 20 and [R4] cell 22 (reset diagnostics).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2612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426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722041"/>
            <a:ext cx="10566400" cy="4323159"/>
          </a:xfrm>
          <a:prstGeom prst="rect">
            <a:avLst/>
          </a:prstGeom>
          <a:noFill/>
          <a:ln/>
        </p:spPr>
        <p:txBody>
          <a:bodyPr wrap="square" lIns="0" tIns="0" rIns="0" bIns="0" rtlCol="0" anchor="t"/>
          <a:lstStyle>
            <a:lvl1pPr algn="l" indent="0" marL="0">
              <a:lnSpc>
                <a:spcPct val="140000"/>
              </a:lnSpc>
              <a:buNone/>
              <a:defRPr lang="en-US" sz="1600" dirty="0">
                <a:solidFill>
                  <a:srgbClr val="1426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2612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14263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722041"/>
            <a:ext cx="10566400" cy="4323159"/>
          </a:xfrm>
          <a:prstGeom prst="rect">
            <a:avLst/>
          </a:prstGeom>
          <a:noFill/>
          <a:ln/>
        </p:spPr>
        <p:txBody>
          <a:bodyPr wrap="square" lIns="0" tIns="0" rIns="0" bIns="0" rtlCol="0" anchor="t"/>
          <a:lstStyle>
            <a:lvl1pPr algn="l" indent="0" marL="0">
              <a:lnSpc>
                <a:spcPct val="140000"/>
              </a:lnSpc>
              <a:buNone/>
              <a:defRPr lang="en-US" sz="1600" dirty="0">
                <a:solidFill>
                  <a:srgbClr val="1426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antonio-arbizzani-tonelli/adaptive-budget-allocation-online-learning" TargetMode="External"/><Relationship Id="rId2" Type="http://schemas.openxmlformats.org/officeDocument/2006/relationships/hyperlink" Target="https://it.linkedin.com/in/antonio-arbizzani-tonelli" TargetMode="External"/><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58A66"/>
                </a:solidFill>
                <a:latin typeface="IBM Plex Mono" pitchFamily="49" charset="0"/>
                <a:ea typeface="IBM Plex Mono" pitchFamily="49" charset="-122"/>
                <a:cs typeface="IBM Plex Mono" pitchFamily="49" charset="-120"/>
              </a:rPr>
              <a:t>POLITECNICO DI MILANO · ONLINE LEARNING PROJECT · 2026</a:t>
            </a:r>
            <a:endParaRPr lang="en-US" sz="1200" dirty="0"/>
          </a:p>
        </p:txBody>
      </p:sp>
      <p:sp>
        <p:nvSpPr>
          <p:cNvPr id="3" name="Text 1"/>
          <p:cNvSpPr/>
          <p:nvPr>
            <p:ph type="title"/>
          </p:nvPr>
        </p:nvSpPr>
        <p:spPr>
          <a:xfrm>
            <a:off x="812800" y="1948904"/>
            <a:ext cx="10883392" cy="1412180"/>
          </a:xfrm>
          <a:prstGeom prst="rect">
            <a:avLst/>
          </a:prstGeom>
          <a:noFill/>
          <a:ln/>
        </p:spPr>
        <p:txBody>
          <a:bodyPr wrap="square" lIns="0" tIns="0" rIns="0" bIns="0" rtlCol="0" anchor="t">
            <a:normAutofit/>
          </a:bodyPr>
          <a:lstStyle/>
          <a:p>
            <a:pPr algn="l" indent="0" marL="0">
              <a:lnSpc>
                <a:spcPts val="5460"/>
              </a:lnSpc>
              <a:buNone/>
            </a:pPr>
            <a:r>
              <a:rPr lang="en-US" sz="5200" b="1" i="0" spc="-100" kern="0" dirty="0">
                <a:solidFill>
                  <a:srgbClr val="F2EFE8"/>
                </a:solidFill>
                <a:latin typeface="IBM Plex Sans" pitchFamily="34" charset="0"/>
                <a:ea typeface="IBM Plex Sans" pitchFamily="34" charset="-122"/>
                <a:cs typeface="IBM Plex Sans" pitchFamily="34" charset="-120"/>
              </a:rPr>
              <a:t>Adaptive Budget Allocation</a:t>
            </a:r>
            <a:endParaRPr lang="en-US" sz="5200" dirty="0"/>
          </a:p>
          <a:p>
            <a:pPr algn="l" indent="0" marL="0">
              <a:lnSpc>
                <a:spcPts val="5460"/>
              </a:lnSpc>
              <a:buNone/>
            </a:pPr>
            <a:r>
              <a:rPr lang="en-US" sz="5200" b="1" i="0" spc="-100" kern="0" dirty="0">
                <a:solidFill>
                  <a:srgbClr val="F2EFE8"/>
                </a:solidFill>
                <a:latin typeface="IBM Plex Sans" pitchFamily="34" charset="0"/>
                <a:ea typeface="IBM Plex Sans" pitchFamily="34" charset="-122"/>
                <a:cs typeface="IBM Plex Sans" pitchFamily="34" charset="-120"/>
              </a:rPr>
              <a:t>for Online Advertising</a:t>
            </a:r>
            <a:endParaRPr lang="en-US" sz="5200" dirty="0"/>
          </a:p>
        </p:txBody>
      </p:sp>
      <p:sp>
        <p:nvSpPr>
          <p:cNvPr id="4" name="Text 2"/>
          <p:cNvSpPr/>
          <p:nvPr/>
        </p:nvSpPr>
        <p:spPr>
          <a:xfrm>
            <a:off x="812800" y="3589685"/>
            <a:ext cx="104648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3CDD9"/>
                </a:solidFill>
                <a:latin typeface="IBM Plex Sans" pitchFamily="34" charset="0"/>
                <a:ea typeface="IBM Plex Sans" pitchFamily="34" charset="-122"/>
                <a:cs typeface="IBM Plex Sans" pitchFamily="34" charset="-120"/>
              </a:rPr>
              <a:t>Learning bids from auction outcomes while managing a limited campaign budget.</a:t>
            </a:r>
            <a:endParaRPr lang="en-US" sz="1800" dirty="0"/>
          </a:p>
        </p:txBody>
      </p:sp>
      <p:pic>
        <p:nvPicPr>
          <p:cNvPr id="5" name="Image 0" descr="Conceptual campaign timeline: many repeated bid decisions drawing on one finite budget">    </p:cNvPr>
          <p:cNvPicPr>
            <a:picLocks noChangeAspect="1"/>
          </p:cNvPicPr>
          <p:nvPr/>
        </p:nvPicPr>
        <p:blipFill>
          <a:blip r:embed="rId1"/>
          <a:srcRect l="-217" r="-217" t="0" b="0"/>
          <a:stretch/>
        </p:blipFill>
        <p:spPr>
          <a:xfrm>
            <a:off x="812800" y="4820989"/>
            <a:ext cx="10566400" cy="457200"/>
          </a:xfrm>
          <a:prstGeom prst="rect">
            <a:avLst/>
          </a:prstGeom>
        </p:spPr>
      </p:pic>
      <p:sp>
        <p:nvSpPr>
          <p:cNvPr id="6" name="Text 3"/>
          <p:cNvSpPr/>
          <p:nvPr/>
        </p:nvSpPr>
        <p:spPr>
          <a:xfrm>
            <a:off x="812800" y="5430589"/>
            <a:ext cx="38404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7C8"/>
                </a:solidFill>
                <a:latin typeface="IBM Plex Mono" pitchFamily="49" charset="0"/>
                <a:ea typeface="IBM Plex Mono" pitchFamily="49" charset="-122"/>
                <a:cs typeface="IBM Plex Mono" pitchFamily="49" charset="-120"/>
              </a:rPr>
              <a:t>Rounds 1 … T: one bid decision each</a:t>
            </a:r>
            <a:endParaRPr lang="en-US" sz="1200" dirty="0"/>
          </a:p>
        </p:txBody>
      </p:sp>
      <p:sp>
        <p:nvSpPr>
          <p:cNvPr id="7" name="Text 4"/>
          <p:cNvSpPr/>
          <p:nvPr/>
        </p:nvSpPr>
        <p:spPr>
          <a:xfrm>
            <a:off x="7538720" y="5430589"/>
            <a:ext cx="38404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7C8"/>
                </a:solidFill>
                <a:latin typeface="IBM Plex Mono" pitchFamily="49" charset="0"/>
                <a:ea typeface="IBM Plex Mono" pitchFamily="49" charset="-122"/>
                <a:cs typeface="IBM Plex Mono" pitchFamily="49" charset="-120"/>
              </a:rPr>
              <a:t>One budget B for the whole campaign</a:t>
            </a:r>
            <a:endParaRPr lang="en-US" sz="1200" dirty="0"/>
          </a:p>
        </p:txBody>
      </p:sp>
      <p:sp>
        <p:nvSpPr>
          <p:cNvPr id="8" name="Text 5"/>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Antonio Arbizzani Tonelli · Leonardo Arisi · Claudia Berra · Gaia Di Paolo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THE DECISION PROBLEM</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A profitable bid must leave room for later rounds</a:t>
            </a:r>
            <a:endParaRPr lang="en-US" sz="2800" dirty="0"/>
          </a:p>
        </p:txBody>
      </p:sp>
      <p:sp>
        <p:nvSpPr>
          <p:cNvPr id="4" name="Text 2"/>
          <p:cNvSpPr/>
          <p:nvPr/>
        </p:nvSpPr>
        <p:spPr>
          <a:xfrm>
            <a:off x="812800" y="1671241"/>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4263D"/>
                </a:solidFill>
                <a:latin typeface="IBM Plex Sans" pitchFamily="34" charset="0"/>
                <a:ea typeface="IBM Plex Sans" pitchFamily="34" charset="-122"/>
                <a:cs typeface="IBM Plex Sans" pitchFamily="34" charset="-120"/>
              </a:rPr>
              <a:t>A higher bid can increase the chance of winning, but each win reduces the money available later. The bidder learns from outcomes while deciding how much of the campaign budget to risk now.</a:t>
            </a:r>
            <a:endParaRPr lang="en-US" sz="1800" dirty="0"/>
          </a:p>
        </p:txBody>
      </p:sp>
      <p:sp>
        <p:nvSpPr>
          <p:cNvPr id="5" name="Shape 3"/>
          <p:cNvSpPr/>
          <p:nvPr/>
        </p:nvSpPr>
        <p:spPr>
          <a:xfrm>
            <a:off x="815975" y="2545556"/>
            <a:ext cx="2216150" cy="1372741"/>
          </a:xfrm>
          <a:prstGeom prst="roundRect">
            <a:avLst>
              <a:gd name="adj" fmla="val 5320"/>
            </a:avLst>
          </a:prstGeom>
          <a:solidFill>
            <a:srgbClr val="FCFBF8"/>
          </a:solidFill>
          <a:ln w="6350">
            <a:solidFill>
              <a:srgbClr val="DCD8CF"/>
            </a:solidFill>
            <a:prstDash val="solid"/>
          </a:ln>
        </p:spPr>
      </p:sp>
      <p:sp>
        <p:nvSpPr>
          <p:cNvPr id="6" name="Text 4"/>
          <p:cNvSpPr/>
          <p:nvPr/>
        </p:nvSpPr>
        <p:spPr>
          <a:xfrm>
            <a:off x="1022350" y="2726531"/>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1 · BID</a:t>
            </a:r>
            <a:endParaRPr lang="en-US" sz="1200" dirty="0"/>
          </a:p>
        </p:txBody>
      </p:sp>
      <p:sp>
        <p:nvSpPr>
          <p:cNvPr id="7" name="Text 5"/>
          <p:cNvSpPr/>
          <p:nvPr/>
        </p:nvSpPr>
        <p:spPr>
          <a:xfrm>
            <a:off x="1022350" y="2990652"/>
            <a:ext cx="185750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Choose a bid b. A win is worth v to the campaign.</a:t>
            </a:r>
            <a:endParaRPr lang="en-US" sz="1400" dirty="0"/>
          </a:p>
        </p:txBody>
      </p:sp>
      <p:pic>
        <p:nvPicPr>
          <p:cNvPr id="8" name="Image 0" descr="arrow-right">    </p:cNvPr>
          <p:cNvPicPr>
            <a:picLocks noChangeAspect="1"/>
          </p:cNvPicPr>
          <p:nvPr/>
        </p:nvPicPr>
        <p:blipFill>
          <a:blip r:embed="rId1"/>
          <a:srcRect l="0" r="0" t="0" b="0"/>
          <a:stretch/>
        </p:blipFill>
        <p:spPr>
          <a:xfrm>
            <a:off x="3187700" y="3155702"/>
            <a:ext cx="254000" cy="152400"/>
          </a:xfrm>
          <a:prstGeom prst="rect">
            <a:avLst/>
          </a:prstGeom>
        </p:spPr>
      </p:pic>
      <p:sp>
        <p:nvSpPr>
          <p:cNvPr id="9" name="Shape 6"/>
          <p:cNvSpPr/>
          <p:nvPr/>
        </p:nvSpPr>
        <p:spPr>
          <a:xfrm>
            <a:off x="3597275" y="2545556"/>
            <a:ext cx="2216150" cy="1372741"/>
          </a:xfrm>
          <a:prstGeom prst="roundRect">
            <a:avLst>
              <a:gd name="adj" fmla="val 5320"/>
            </a:avLst>
          </a:prstGeom>
          <a:solidFill>
            <a:srgbClr val="FCFBF8"/>
          </a:solidFill>
          <a:ln w="6350">
            <a:solidFill>
              <a:srgbClr val="DCD8CF"/>
            </a:solidFill>
            <a:prstDash val="solid"/>
          </a:ln>
        </p:spPr>
      </p:sp>
      <p:sp>
        <p:nvSpPr>
          <p:cNvPr id="10" name="Text 7"/>
          <p:cNvSpPr/>
          <p:nvPr/>
        </p:nvSpPr>
        <p:spPr>
          <a:xfrm>
            <a:off x="3803650" y="2726531"/>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2 · AUCTION</a:t>
            </a:r>
            <a:endParaRPr lang="en-US" sz="1200" dirty="0"/>
          </a:p>
        </p:txBody>
      </p:sp>
      <p:sp>
        <p:nvSpPr>
          <p:cNvPr id="11" name="Text 8"/>
          <p:cNvSpPr/>
          <p:nvPr/>
        </p:nvSpPr>
        <p:spPr>
          <a:xfrm>
            <a:off x="3803650" y="2990652"/>
            <a:ext cx="185750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Win if b reaches m, the highest competing bid.</a:t>
            </a:r>
            <a:endParaRPr lang="en-US" sz="1400" dirty="0"/>
          </a:p>
        </p:txBody>
      </p:sp>
      <p:pic>
        <p:nvPicPr>
          <p:cNvPr id="12" name="Image 1" descr="arrow-right">    </p:cNvPr>
          <p:cNvPicPr>
            <a:picLocks noChangeAspect="1"/>
          </p:cNvPicPr>
          <p:nvPr/>
        </p:nvPicPr>
        <p:blipFill>
          <a:blip r:embed="rId2"/>
          <a:srcRect l="0" r="0" t="0" b="0"/>
          <a:stretch/>
        </p:blipFill>
        <p:spPr>
          <a:xfrm>
            <a:off x="5969000" y="3155702"/>
            <a:ext cx="254000" cy="152400"/>
          </a:xfrm>
          <a:prstGeom prst="rect">
            <a:avLst/>
          </a:prstGeom>
        </p:spPr>
      </p:pic>
      <p:sp>
        <p:nvSpPr>
          <p:cNvPr id="13" name="Shape 9"/>
          <p:cNvSpPr/>
          <p:nvPr/>
        </p:nvSpPr>
        <p:spPr>
          <a:xfrm>
            <a:off x="6378575" y="2545556"/>
            <a:ext cx="2216150" cy="1372741"/>
          </a:xfrm>
          <a:prstGeom prst="roundRect">
            <a:avLst>
              <a:gd name="adj" fmla="val 5320"/>
            </a:avLst>
          </a:prstGeom>
          <a:solidFill>
            <a:srgbClr val="FCFBF8"/>
          </a:solidFill>
          <a:ln w="6350">
            <a:solidFill>
              <a:srgbClr val="DCD8CF"/>
            </a:solidFill>
            <a:prstDash val="solid"/>
          </a:ln>
        </p:spPr>
      </p:sp>
      <p:sp>
        <p:nvSpPr>
          <p:cNvPr id="14" name="Text 10"/>
          <p:cNvSpPr/>
          <p:nvPr/>
        </p:nvSpPr>
        <p:spPr>
          <a:xfrm>
            <a:off x="6584950" y="2726531"/>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3 · OUTCOME</a:t>
            </a:r>
            <a:endParaRPr lang="en-US" sz="1200" dirty="0"/>
          </a:p>
        </p:txBody>
      </p:sp>
      <p:sp>
        <p:nvSpPr>
          <p:cNvPr id="15" name="Text 11"/>
          <p:cNvSpPr/>
          <p:nvPr/>
        </p:nvSpPr>
        <p:spPr>
          <a:xfrm>
            <a:off x="6584950" y="2990652"/>
            <a:ext cx="185750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A win earns v − b and costs b (first price).</a:t>
            </a:r>
            <a:endParaRPr lang="en-US" sz="1400" dirty="0"/>
          </a:p>
        </p:txBody>
      </p:sp>
      <p:pic>
        <p:nvPicPr>
          <p:cNvPr id="16" name="Image 2" descr="arrow-right">    </p:cNvPr>
          <p:cNvPicPr>
            <a:picLocks noChangeAspect="1"/>
          </p:cNvPicPr>
          <p:nvPr/>
        </p:nvPicPr>
        <p:blipFill>
          <a:blip r:embed="rId3"/>
          <a:srcRect l="0" r="0" t="0" b="0"/>
          <a:stretch/>
        </p:blipFill>
        <p:spPr>
          <a:xfrm>
            <a:off x="8750300" y="3155702"/>
            <a:ext cx="254000" cy="152400"/>
          </a:xfrm>
          <a:prstGeom prst="rect">
            <a:avLst/>
          </a:prstGeom>
        </p:spPr>
      </p:pic>
      <p:sp>
        <p:nvSpPr>
          <p:cNvPr id="17" name="Shape 12"/>
          <p:cNvSpPr/>
          <p:nvPr/>
        </p:nvSpPr>
        <p:spPr>
          <a:xfrm>
            <a:off x="9159875" y="2545556"/>
            <a:ext cx="2216150" cy="1372741"/>
          </a:xfrm>
          <a:prstGeom prst="roundRect">
            <a:avLst>
              <a:gd name="adj" fmla="val 5320"/>
            </a:avLst>
          </a:prstGeom>
          <a:solidFill>
            <a:srgbClr val="FCFBF8"/>
          </a:solidFill>
          <a:ln w="6350">
            <a:solidFill>
              <a:srgbClr val="B8492A"/>
            </a:solidFill>
            <a:prstDash val="solid"/>
          </a:ln>
        </p:spPr>
      </p:sp>
      <p:sp>
        <p:nvSpPr>
          <p:cNvPr id="18" name="Text 13"/>
          <p:cNvSpPr/>
          <p:nvPr/>
        </p:nvSpPr>
        <p:spPr>
          <a:xfrm>
            <a:off x="9366250" y="2726531"/>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92A"/>
                </a:solidFill>
                <a:latin typeface="IBM Plex Mono" pitchFamily="49" charset="0"/>
                <a:ea typeface="IBM Plex Mono" pitchFamily="49" charset="-122"/>
                <a:cs typeface="IBM Plex Mono" pitchFamily="49" charset="-120"/>
              </a:rPr>
              <a:t>4 · BUDGET</a:t>
            </a:r>
            <a:endParaRPr lang="en-US" sz="1200" dirty="0"/>
          </a:p>
        </p:txBody>
      </p:sp>
      <p:sp>
        <p:nvSpPr>
          <p:cNvPr id="19" name="Text 14"/>
          <p:cNvSpPr/>
          <p:nvPr/>
        </p:nvSpPr>
        <p:spPr>
          <a:xfrm>
            <a:off x="9366250" y="2990652"/>
            <a:ext cx="185750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Every cost shrinks the money left for later rounds.</a:t>
            </a:r>
            <a:endParaRPr lang="en-US" sz="1400" dirty="0"/>
          </a:p>
        </p:txBody>
      </p:sp>
      <p:sp>
        <p:nvSpPr>
          <p:cNvPr id="20" name="Text 15"/>
          <p:cNvSpPr/>
          <p:nvPr/>
        </p:nvSpPr>
        <p:spPr>
          <a:xfrm>
            <a:off x="812800" y="4175472"/>
            <a:ext cx="2512457" cy="322560"/>
          </a:xfrm>
          <a:prstGeom prst="rect">
            <a:avLst/>
          </a:prstGeom>
          <a:noFill/>
          <a:ln/>
        </p:spPr>
        <p:txBody>
          <a:bodyPr wrap="square" lIns="0" tIns="0" rIns="0" bIns="0" rtlCol="0" anchor="t">
            <a:normAutofit/>
          </a:bodyPr>
          <a:lstStyle/>
          <a:p>
            <a:pPr algn="l" indent="0" marL="0">
              <a:lnSpc>
                <a:spcPts val="2340"/>
              </a:lnSpc>
              <a:buNone/>
            </a:pPr>
            <a:r>
              <a:rPr lang="en-US" sz="1800" i="1" dirty="0">
                <a:solidFill>
                  <a:srgbClr val="14263D"/>
                </a:solidFill>
                <a:latin typeface="STIX Two Text" pitchFamily="18" charset="0"/>
                <a:ea typeface="STIX Two Text" pitchFamily="18" charset="-122"/>
                <a:cs typeface="STIX Two Text" pitchFamily="18" charset="-120"/>
              </a:rPr>
              <a:t>rₜ = (v − bₜ) · 1{bₜ ≥ mₜ}</a:t>
            </a:r>
            <a:endParaRPr lang="en-US" sz="1800" dirty="0"/>
          </a:p>
        </p:txBody>
      </p:sp>
      <p:sp>
        <p:nvSpPr>
          <p:cNvPr id="21" name="Text 16"/>
          <p:cNvSpPr/>
          <p:nvPr/>
        </p:nvSpPr>
        <p:spPr>
          <a:xfrm>
            <a:off x="3363714" y="4175472"/>
            <a:ext cx="1894403" cy="322560"/>
          </a:xfrm>
          <a:prstGeom prst="rect">
            <a:avLst/>
          </a:prstGeom>
          <a:noFill/>
          <a:ln/>
        </p:spPr>
        <p:txBody>
          <a:bodyPr wrap="square" lIns="0" tIns="0" rIns="0" bIns="0" rtlCol="0" anchor="t">
            <a:normAutofit/>
          </a:bodyPr>
          <a:lstStyle/>
          <a:p>
            <a:pPr algn="l" indent="0" marL="0">
              <a:lnSpc>
                <a:spcPts val="2340"/>
              </a:lnSpc>
              <a:buNone/>
            </a:pPr>
            <a:r>
              <a:rPr lang="en-US" sz="1800" i="1" dirty="0">
                <a:solidFill>
                  <a:srgbClr val="14263D"/>
                </a:solidFill>
                <a:latin typeface="STIX Two Text" pitchFamily="18" charset="0"/>
                <a:ea typeface="STIX Two Text" pitchFamily="18" charset="-122"/>
                <a:cs typeface="STIX Two Text" pitchFamily="18" charset="-120"/>
              </a:rPr>
              <a:t>cₜ = bₜ · 1{bₜ ≥ mₜ}</a:t>
            </a:r>
            <a:endParaRPr lang="en-US" sz="1800" dirty="0"/>
          </a:p>
        </p:txBody>
      </p:sp>
      <p:sp>
        <p:nvSpPr>
          <p:cNvPr id="22" name="Text 17"/>
          <p:cNvSpPr/>
          <p:nvPr/>
        </p:nvSpPr>
        <p:spPr>
          <a:xfrm>
            <a:off x="5399584" y="4175472"/>
            <a:ext cx="870942" cy="322560"/>
          </a:xfrm>
          <a:prstGeom prst="rect">
            <a:avLst/>
          </a:prstGeom>
          <a:noFill/>
          <a:ln/>
        </p:spPr>
        <p:txBody>
          <a:bodyPr wrap="square" lIns="0" tIns="0" rIns="0" bIns="0" rtlCol="0" anchor="t">
            <a:normAutofit/>
          </a:bodyPr>
          <a:lstStyle/>
          <a:p>
            <a:pPr algn="l" indent="0" marL="0">
              <a:lnSpc>
                <a:spcPts val="2340"/>
              </a:lnSpc>
              <a:buNone/>
            </a:pPr>
            <a:r>
              <a:rPr lang="en-US" sz="1800" i="1" dirty="0">
                <a:solidFill>
                  <a:srgbClr val="14263D"/>
                </a:solidFill>
                <a:latin typeface="STIX Two Text" pitchFamily="18" charset="0"/>
                <a:ea typeface="STIX Two Text" pitchFamily="18" charset="-122"/>
                <a:cs typeface="STIX Two Text" pitchFamily="18" charset="-120"/>
              </a:rPr>
              <a:t>Σₜ cₜ ≤ B</a:t>
            </a:r>
            <a:endParaRPr lang="en-US" sz="1800" dirty="0"/>
          </a:p>
        </p:txBody>
      </p:sp>
      <p:sp>
        <p:nvSpPr>
          <p:cNvPr id="23" name="Text 18"/>
          <p:cNvSpPr/>
          <p:nvPr/>
        </p:nvSpPr>
        <p:spPr>
          <a:xfrm>
            <a:off x="812800" y="4574232"/>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Budget-aware LP policies cap spending at B/T, or at remaining budget divided by remaining rounds. Primal-dual control uses B/T as its average-cost target. Separate affordability checks enforce the realized budget.</a:t>
            </a:r>
            <a:endParaRPr lang="en-US" sz="1400" dirty="0"/>
          </a:p>
        </p:txBody>
      </p:sp>
      <p:sp>
        <p:nvSpPr>
          <p:cNvPr id="24" name="Text 1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Model: R1, cells 2–4; R2, cells 3, 5, 7, 10, 12. With several campaigns, r and c sum over selected arms.</a:t>
            </a:r>
            <a:endParaRPr lang="en-US" sz="1200" dirty="0"/>
          </a:p>
        </p:txBody>
      </p:sp>
      <p:sp>
        <p:nvSpPr>
          <p:cNvPr id="25"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02 / 16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OVERVIEW</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Results from the saved simulations</a:t>
            </a:r>
            <a:endParaRPr lang="en-US" sz="2800" dirty="0"/>
          </a:p>
        </p:txBody>
      </p:sp>
      <p:sp>
        <p:nvSpPr>
          <p:cNvPr id="4" name="Shape 2"/>
          <p:cNvSpPr/>
          <p:nvPr/>
        </p:nvSpPr>
        <p:spPr>
          <a:xfrm>
            <a:off x="11376025" y="1671241"/>
            <a:ext cx="0" cy="2335113"/>
          </a:xfrm>
          <a:prstGeom prst="line">
            <a:avLst/>
          </a:prstGeom>
          <a:noFill/>
          <a:ln w="6350">
            <a:solidFill>
              <a:srgbClr val="DCD8CF"/>
            </a:solidFill>
            <a:prstDash val="solid"/>
          </a:ln>
        </p:spPr>
      </p:sp>
      <p:sp>
        <p:nvSpPr>
          <p:cNvPr id="5" name="Shape 3"/>
          <p:cNvSpPr/>
          <p:nvPr/>
        </p:nvSpPr>
        <p:spPr>
          <a:xfrm>
            <a:off x="812800" y="4003179"/>
            <a:ext cx="10566400" cy="0"/>
          </a:xfrm>
          <a:prstGeom prst="line">
            <a:avLst/>
          </a:prstGeom>
          <a:noFill/>
          <a:ln w="6350">
            <a:solidFill>
              <a:srgbClr val="DCD8CF"/>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683941"/>
          <a:ext cx="10547350" cy="2316063"/>
        </p:xfrm>
        <a:graphic>
          <a:graphicData uri="http://schemas.openxmlformats.org/drawingml/2006/table">
            <a:tbl>
              <a:tblPr/>
              <a:tblGrid>
                <a:gridCol w="2953258"/>
                <a:gridCol w="1265682"/>
                <a:gridCol w="1265682"/>
                <a:gridCol w="5062728"/>
              </a:tblGrid>
              <a:tr h="386011">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Setting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Baseline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Revised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Measure · comparator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Single campaign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39.6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B8492A"/>
                          </a:solidFill>
                          <a:latin typeface="IBM Plex Sans" pitchFamily="34" charset="0"/>
                          <a:ea typeface="IBM Plex Sans" pitchFamily="34" charset="-122"/>
                          <a:cs typeface="IBM Plex Sans" pitchFamily="34" charset="-120"/>
                        </a:rPr>
                        <a:t>11.4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Final regret · stochastic clairvoyant LP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Multiple campaigns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595.2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B8492A"/>
                          </a:solidFill>
                          <a:latin typeface="IBM Plex Sans" pitchFamily="34" charset="0"/>
                          <a:ea typeface="IBM Plex Sans" pitchFamily="34" charset="-122"/>
                          <a:cs typeface="IBM Plex Sans" pitchFamily="34" charset="-120"/>
                        </a:rPr>
                        <a:t>70.1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Final pseudo-regret · stochastic clairvoyant LP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Primal-dual, stochastic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0.249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B8492A"/>
                          </a:solidFill>
                          <a:latin typeface="IBM Plex Sans" pitchFamily="34" charset="0"/>
                          <a:ea typeface="IBM Plex Sans" pitchFamily="34" charset="-122"/>
                          <a:cs typeface="IBM Plex Sans" pitchFamily="34" charset="-120"/>
                        </a:rPr>
                        <a:t>0.121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Pseudo-regret per round · best fixed distribution in hindsight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Primal-dual, changing sequence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0.222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B8492A"/>
                          </a:solidFill>
                          <a:latin typeface="IBM Plex Sans" pitchFamily="34" charset="0"/>
                          <a:ea typeface="IBM Plex Sans" pitchFamily="34" charset="-122"/>
                          <a:cs typeface="IBM Plex Sans" pitchFamily="34" charset="-120"/>
                        </a:rPr>
                        <a:t>0.134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Same measure and comparator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Segmented market, CUSUM-UCB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533.3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B8492A"/>
                          </a:solidFill>
                          <a:latin typeface="IBM Plex Sans" pitchFamily="34" charset="0"/>
                          <a:ea typeface="IBM Plex Sans" pitchFamily="34" charset="-122"/>
                          <a:cs typeface="IBM Plex Sans" pitchFamily="34" charset="-120"/>
                        </a:rPr>
                        <a:t>344.9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Final gap · segment-local oracle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7" name="Text 4"/>
          <p:cNvSpPr/>
          <p:nvPr/>
        </p:nvSpPr>
        <p:spPr>
          <a:xfrm>
            <a:off x="812800" y="4260354"/>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Mean outcomes on synthetic auction instances. Each comparison uses paired market paths. Rows use different benchmarks and scales, so values are not comparable across rows. Definitions: appendix A1.</a:t>
            </a:r>
            <a:endParaRPr lang="en-US" sz="1400" dirty="0"/>
          </a:p>
        </p:txBody>
      </p:sp>
      <p:sp>
        <p:nvSpPr>
          <p:cNvPr id="8" name="Text 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Trials: 10 · 20 · 10 per environment · 30. Sources: B1/R1 cell 8, R2 cell 13, R3 cell 17, B4/R4 cell 17.</a:t>
            </a:r>
            <a:endParaRPr lang="en-US" sz="1200" dirty="0"/>
          </a:p>
        </p:txBody>
      </p:sp>
      <p:sp>
        <p:nvSpPr>
          <p:cNvPr id="9" name="Text 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03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OVERVIEW · SETUP</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Simulation conditions and paired comparisons</a:t>
            </a:r>
            <a:endParaRPr lang="en-US" sz="2800" dirty="0"/>
          </a:p>
        </p:txBody>
      </p:sp>
      <p:sp>
        <p:nvSpPr>
          <p:cNvPr id="4" name="Shape 2"/>
          <p:cNvSpPr/>
          <p:nvPr/>
        </p:nvSpPr>
        <p:spPr>
          <a:xfrm>
            <a:off x="11376025" y="1671241"/>
            <a:ext cx="0" cy="2446883"/>
          </a:xfrm>
          <a:prstGeom prst="line">
            <a:avLst/>
          </a:prstGeom>
          <a:noFill/>
          <a:ln w="6350">
            <a:solidFill>
              <a:srgbClr val="DCD8CF"/>
            </a:solidFill>
            <a:prstDash val="solid"/>
          </a:ln>
        </p:spPr>
      </p:sp>
      <p:sp>
        <p:nvSpPr>
          <p:cNvPr id="5" name="Shape 3"/>
          <p:cNvSpPr/>
          <p:nvPr/>
        </p:nvSpPr>
        <p:spPr>
          <a:xfrm>
            <a:off x="812800" y="4114949"/>
            <a:ext cx="10566400" cy="0"/>
          </a:xfrm>
          <a:prstGeom prst="line">
            <a:avLst/>
          </a:prstGeom>
          <a:noFill/>
          <a:ln w="6350">
            <a:solidFill>
              <a:srgbClr val="DCD8CF"/>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683941"/>
          <a:ext cx="10547350" cy="2427833"/>
        </p:xfrm>
        <a:graphic>
          <a:graphicData uri="http://schemas.openxmlformats.org/drawingml/2006/table">
            <a:tbl>
              <a:tblPr/>
              <a:tblGrid>
                <a:gridCol w="2953258"/>
                <a:gridCol w="1265682"/>
                <a:gridCol w="1160208"/>
                <a:gridCol w="1793050"/>
                <a:gridCol w="3375152"/>
              </a:tblGrid>
              <a:tr h="386011">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Scenario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Rounds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Budget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Main trials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Feedback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 Single campaign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Selected bid’s win outcome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2. Multiple campaigns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700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Semi-bandit, selected arms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63490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 Primal-dual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700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10 per environment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Full reward/cost vectors after acting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63490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4. Segmented market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560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UCB: semi-bandit. Primal-dual: full feedback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7" name="Shape 4"/>
          <p:cNvSpPr/>
          <p:nvPr/>
        </p:nvSpPr>
        <p:spPr>
          <a:xfrm>
            <a:off x="812800" y="4372124"/>
            <a:ext cx="2667000" cy="1117501"/>
          </a:xfrm>
          <a:prstGeom prst="roundRect">
            <a:avLst>
              <a:gd name="adj" fmla="val 6819"/>
            </a:avLst>
          </a:prstGeom>
          <a:solidFill>
            <a:srgbClr val="14263D"/>
          </a:solidFill>
          <a:ln/>
        </p:spPr>
      </p:sp>
      <p:sp>
        <p:nvSpPr>
          <p:cNvPr id="8" name="Text 5"/>
          <p:cNvSpPr/>
          <p:nvPr/>
        </p:nvSpPr>
        <p:spPr>
          <a:xfrm>
            <a:off x="1016000" y="4549924"/>
            <a:ext cx="232841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58A66"/>
                </a:solidFill>
                <a:latin typeface="IBM Plex Mono" pitchFamily="49" charset="0"/>
                <a:ea typeface="IBM Plex Mono" pitchFamily="49" charset="-122"/>
                <a:cs typeface="IBM Plex Mono" pitchFamily="49" charset="-120"/>
              </a:rPr>
              <a:t>SYNTHETIC DATA</a:t>
            </a:r>
            <a:endParaRPr lang="en-US" sz="1200" dirty="0"/>
          </a:p>
        </p:txBody>
      </p:sp>
      <p:sp>
        <p:nvSpPr>
          <p:cNvPr id="9" name="Text 6"/>
          <p:cNvSpPr/>
          <p:nvPr/>
        </p:nvSpPr>
        <p:spPr>
          <a:xfrm>
            <a:off x="1016000" y="4814044"/>
            <a:ext cx="232841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Simulated auctions only. No real campaigns.</a:t>
            </a:r>
            <a:endParaRPr lang="en-US" sz="1400" dirty="0"/>
          </a:p>
        </p:txBody>
      </p:sp>
      <p:sp>
        <p:nvSpPr>
          <p:cNvPr id="10" name="Text 7"/>
          <p:cNvSpPr/>
          <p:nvPr/>
        </p:nvSpPr>
        <p:spPr>
          <a:xfrm>
            <a:off x="3683000" y="4372124"/>
            <a:ext cx="7927086" cy="114290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Within each comparison, baseline and revised policies face the same market paths and use corresponding action seeds. Feedback differs between methods in Scenario 4.</a:t>
            </a:r>
            <a:endParaRPr lang="en-US" sz="1400" dirty="0"/>
          </a:p>
        </p:txBody>
      </p:sp>
      <p:sp>
        <p:nvSpPr>
          <p:cNvPr id="11" name="Text 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Sources: R1 cells 2, 8 · R2 cells 2, 3, 5, 13 · R3 cells 1, 3, 5, 12, 17 · R4 cells 1, 2, 4, 6, 15.</a:t>
            </a:r>
            <a:endParaRPr lang="en-US" sz="1200" dirty="0"/>
          </a:p>
        </p:txBody>
      </p:sp>
      <p:sp>
        <p:nvSpPr>
          <p:cNvPr id="12" name="Text 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04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SCENARIO 1 · SINGLE CAMPAIGN</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Single campaign: learning from infrequent wins</a:t>
            </a:r>
            <a:endParaRPr lang="en-US" sz="2800" dirty="0"/>
          </a:p>
        </p:txBody>
      </p:sp>
      <p:sp>
        <p:nvSpPr>
          <p:cNvPr id="4" name="Text 2"/>
          <p:cNvSpPr/>
          <p:nvPr/>
        </p:nvSpPr>
        <p:spPr>
          <a:xfrm>
            <a:off x="812800" y="1671241"/>
            <a:ext cx="523240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One campaign has value 0.6 per win and faces three independent uniform competitors. A bid b wins with probability b³, so low bids produce few wins.</a:t>
            </a:r>
            <a:endParaRPr lang="en-US" sz="1400" dirty="0"/>
          </a:p>
        </p:txBody>
      </p:sp>
      <p:sp>
        <p:nvSpPr>
          <p:cNvPr id="5" name="Shape 3"/>
          <p:cNvSpPr/>
          <p:nvPr/>
        </p:nvSpPr>
        <p:spPr>
          <a:xfrm>
            <a:off x="825500" y="2621111"/>
            <a:ext cx="0" cy="1028601"/>
          </a:xfrm>
          <a:prstGeom prst="line">
            <a:avLst/>
          </a:prstGeom>
          <a:noFill/>
          <a:ln w="25400">
            <a:solidFill>
              <a:srgbClr val="8D9AAE"/>
            </a:solidFill>
            <a:prstDash val="solid"/>
          </a:ln>
        </p:spPr>
      </p:sp>
      <p:sp>
        <p:nvSpPr>
          <p:cNvPr id="6" name="Text 4"/>
          <p:cNvSpPr/>
          <p:nvPr/>
        </p:nvSpPr>
        <p:spPr>
          <a:xfrm>
            <a:off x="990600" y="2621111"/>
            <a:ext cx="5049266"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5F6B7A"/>
                </a:solidFill>
                <a:latin typeface="IBM Plex Sans" pitchFamily="34" charset="0"/>
                <a:ea typeface="IBM Plex Sans" pitchFamily="34" charset="-122"/>
                <a:cs typeface="IBM Plex Sans" pitchFamily="34" charset="-120"/>
              </a:rPr>
              <a:t>Baseline</a:t>
            </a:r>
            <a:endParaRPr lang="en-US" sz="1400" dirty="0"/>
          </a:p>
        </p:txBody>
      </p:sp>
      <p:sp>
        <p:nvSpPr>
          <p:cNvPr id="7" name="Text 5"/>
          <p:cNvSpPr/>
          <p:nvPr/>
        </p:nvSpPr>
        <p:spPr>
          <a:xfrm>
            <a:off x="990600" y="2903041"/>
            <a:ext cx="504926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Budget-blind UCB1 and budgeted Hoeffding UCB spend too early. The budgeted policy’s loose cost lower bound can make the LP treat a bid as almost free.</a:t>
            </a:r>
            <a:endParaRPr lang="en-US" sz="1400" dirty="0"/>
          </a:p>
        </p:txBody>
      </p:sp>
      <p:sp>
        <p:nvSpPr>
          <p:cNvPr id="8" name="Shape 6"/>
          <p:cNvSpPr/>
          <p:nvPr/>
        </p:nvSpPr>
        <p:spPr>
          <a:xfrm>
            <a:off x="825500" y="3852912"/>
            <a:ext cx="0" cy="1028601"/>
          </a:xfrm>
          <a:prstGeom prst="line">
            <a:avLst/>
          </a:prstGeom>
          <a:noFill/>
          <a:ln w="25400">
            <a:solidFill>
              <a:srgbClr val="B8492A"/>
            </a:solidFill>
            <a:prstDash val="solid"/>
          </a:ln>
        </p:spPr>
      </p:sp>
      <p:sp>
        <p:nvSpPr>
          <p:cNvPr id="9" name="Text 7"/>
          <p:cNvSpPr/>
          <p:nvPr/>
        </p:nvSpPr>
        <p:spPr>
          <a:xfrm>
            <a:off x="990600" y="3852912"/>
            <a:ext cx="5049266"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8492A"/>
                </a:solidFill>
                <a:latin typeface="IBM Plex Sans" pitchFamily="34" charset="0"/>
                <a:ea typeface="IBM Plex Sans" pitchFamily="34" charset="-122"/>
                <a:cs typeface="IBM Plex Sans" pitchFamily="34" charset="-120"/>
              </a:rPr>
              <a:t>Revision</a:t>
            </a:r>
            <a:endParaRPr lang="en-US" sz="1400" dirty="0"/>
          </a:p>
        </p:txBody>
      </p:sp>
      <p:sp>
        <p:nvSpPr>
          <p:cNvPr id="10" name="Text 8"/>
          <p:cNvSpPr/>
          <p:nvPr/>
        </p:nvSpPr>
        <p:spPr>
          <a:xfrm>
            <a:off x="990600" y="4134842"/>
            <a:ext cx="5049266"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KL bounds for the Bernoulli win probability, and bids above the remaining budget are excluded. The fixed cap ρ = B/T stays.</a:t>
            </a:r>
            <a:endParaRPr lang="en-US" sz="1400" dirty="0"/>
          </a:p>
        </p:txBody>
      </p:sp>
      <p:sp>
        <p:nvSpPr>
          <p:cNvPr id="11" name="Text 9"/>
          <p:cNvSpPr/>
          <p:nvPr/>
        </p:nvSpPr>
        <p:spPr>
          <a:xfrm>
            <a:off x="6302375" y="1674416"/>
            <a:ext cx="5073650" cy="509240"/>
          </a:xfrm>
          <a:prstGeom prst="roundRect">
            <a:avLst>
              <a:gd name="adj" fmla="val 14340"/>
            </a:avLst>
          </a:prstGeom>
          <a:solidFill>
            <a:srgbClr val="FCFBF8"/>
          </a:solidFill>
          <a:ln w="6350">
            <a:solidFill>
              <a:srgbClr val="DCD8CF"/>
            </a:solidFill>
            <a:prstDash val="solid"/>
          </a:ln>
        </p:spPr>
        <p:txBody>
          <a:bodyPr wrap="square" lIns="134187" tIns="108787" rIns="0" bIns="83387"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Bid b ∈ {0.0, 0.1, …, 0.6}</a:t>
            </a:r>
            <a:endParaRPr lang="en-US" sz="1400" dirty="0"/>
          </a:p>
        </p:txBody>
      </p:sp>
      <p:pic>
        <p:nvPicPr>
          <p:cNvPr id="12" name="Image 0" descr="arrow-down">    </p:cNvPr>
          <p:cNvPicPr>
            <a:picLocks noChangeAspect="1"/>
          </p:cNvPicPr>
          <p:nvPr/>
        </p:nvPicPr>
        <p:blipFill>
          <a:blip r:embed="rId1"/>
          <a:srcRect l="0" r="0" t="0" b="0"/>
          <a:stretch/>
        </p:blipFill>
        <p:spPr>
          <a:xfrm>
            <a:off x="8763000" y="2263031"/>
            <a:ext cx="152400" cy="228600"/>
          </a:xfrm>
          <a:prstGeom prst="rect">
            <a:avLst/>
          </a:prstGeom>
        </p:spPr>
      </p:pic>
      <p:sp>
        <p:nvSpPr>
          <p:cNvPr id="13" name="Text 10"/>
          <p:cNvSpPr/>
          <p:nvPr/>
        </p:nvSpPr>
        <p:spPr>
          <a:xfrm>
            <a:off x="6302375" y="2571006"/>
            <a:ext cx="5073650" cy="509240"/>
          </a:xfrm>
          <a:prstGeom prst="roundRect">
            <a:avLst>
              <a:gd name="adj" fmla="val 14340"/>
            </a:avLst>
          </a:prstGeom>
          <a:solidFill>
            <a:srgbClr val="FCFBF8"/>
          </a:solidFill>
          <a:ln w="6350">
            <a:solidFill>
              <a:srgbClr val="DCD8CF"/>
            </a:solidFill>
            <a:prstDash val="solid"/>
          </a:ln>
        </p:spPr>
        <p:txBody>
          <a:bodyPr wrap="square" lIns="134187" tIns="108787" rIns="0" bIns="83387"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Observe a win or a loss</a:t>
            </a:r>
            <a:endParaRPr lang="en-US" sz="1400" dirty="0"/>
          </a:p>
        </p:txBody>
      </p:sp>
      <p:pic>
        <p:nvPicPr>
          <p:cNvPr id="14" name="Image 1" descr="arrow-down">    </p:cNvPr>
          <p:cNvPicPr>
            <a:picLocks noChangeAspect="1"/>
          </p:cNvPicPr>
          <p:nvPr/>
        </p:nvPicPr>
        <p:blipFill>
          <a:blip r:embed="rId2"/>
          <a:srcRect l="0" r="0" t="0" b="0"/>
          <a:stretch/>
        </p:blipFill>
        <p:spPr>
          <a:xfrm>
            <a:off x="8763000" y="3159621"/>
            <a:ext cx="152400" cy="228600"/>
          </a:xfrm>
          <a:prstGeom prst="rect">
            <a:avLst/>
          </a:prstGeom>
        </p:spPr>
      </p:pic>
      <p:sp>
        <p:nvSpPr>
          <p:cNvPr id="15" name="Shape 11"/>
          <p:cNvSpPr/>
          <p:nvPr/>
        </p:nvSpPr>
        <p:spPr>
          <a:xfrm>
            <a:off x="6305550" y="3470771"/>
            <a:ext cx="5067300" cy="1028601"/>
          </a:xfrm>
          <a:prstGeom prst="roundRect">
            <a:avLst>
              <a:gd name="adj" fmla="val 6791"/>
            </a:avLst>
          </a:prstGeom>
          <a:solidFill>
            <a:srgbClr val="F6E6DE"/>
          </a:solidFill>
          <a:ln w="12700">
            <a:solidFill>
              <a:srgbClr val="B8492A"/>
            </a:solidFill>
            <a:prstDash val="solid"/>
          </a:ln>
        </p:spPr>
      </p:sp>
      <p:sp>
        <p:nvSpPr>
          <p:cNvPr id="16" name="Text 12"/>
          <p:cNvSpPr/>
          <p:nvPr/>
        </p:nvSpPr>
        <p:spPr>
          <a:xfrm>
            <a:off x="6464300" y="3604121"/>
            <a:ext cx="48922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92A"/>
                </a:solidFill>
                <a:latin typeface="IBM Plex Mono" pitchFamily="49" charset="0"/>
                <a:ea typeface="IBM Plex Mono" pitchFamily="49" charset="-122"/>
                <a:cs typeface="IBM Plex Mono" pitchFamily="49" charset="-120"/>
              </a:rPr>
              <a:t>CHANGED: KL REPLACES HOEFFDING</a:t>
            </a:r>
            <a:endParaRPr lang="en-US" sz="1200" dirty="0"/>
          </a:p>
        </p:txBody>
      </p:sp>
      <p:sp>
        <p:nvSpPr>
          <p:cNvPr id="17" name="Text 13"/>
          <p:cNvSpPr/>
          <p:nvPr/>
        </p:nvSpPr>
        <p:spPr>
          <a:xfrm>
            <a:off x="6464300" y="3868241"/>
            <a:ext cx="489229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Estimate the win probability p(b) with a KL confidence bound</a:t>
            </a:r>
            <a:endParaRPr lang="en-US" sz="1400" dirty="0"/>
          </a:p>
        </p:txBody>
      </p:sp>
      <p:pic>
        <p:nvPicPr>
          <p:cNvPr id="18" name="Image 2" descr="arrow-down">    </p:cNvPr>
          <p:cNvPicPr>
            <a:picLocks noChangeAspect="1"/>
          </p:cNvPicPr>
          <p:nvPr/>
        </p:nvPicPr>
        <p:blipFill>
          <a:blip r:embed="rId3"/>
          <a:srcRect l="0" r="0" t="0" b="0"/>
          <a:stretch/>
        </p:blipFill>
        <p:spPr>
          <a:xfrm>
            <a:off x="8763000" y="4581922"/>
            <a:ext cx="152400" cy="228600"/>
          </a:xfrm>
          <a:prstGeom prst="rect">
            <a:avLst/>
          </a:prstGeom>
        </p:spPr>
      </p:pic>
      <p:sp>
        <p:nvSpPr>
          <p:cNvPr id="19" name="Text 14"/>
          <p:cNvSpPr/>
          <p:nvPr/>
        </p:nvSpPr>
        <p:spPr>
          <a:xfrm>
            <a:off x="6302375" y="4889897"/>
            <a:ext cx="5073650" cy="758130"/>
          </a:xfrm>
          <a:prstGeom prst="roundRect">
            <a:avLst>
              <a:gd name="adj" fmla="val 9632"/>
            </a:avLst>
          </a:prstGeom>
          <a:solidFill>
            <a:srgbClr val="FCFBF8"/>
          </a:solidFill>
          <a:ln w="6350">
            <a:solidFill>
              <a:srgbClr val="DCD8CF"/>
            </a:solidFill>
            <a:prstDash val="solid"/>
          </a:ln>
        </p:spPr>
        <p:txBody>
          <a:bodyPr wrap="square" lIns="134187" tIns="108787" rIns="0" bIns="83387"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LP chooses a bid distribution under ρ = B/T, among affordable bids</a:t>
            </a:r>
            <a:endParaRPr lang="en-US" sz="1400" dirty="0"/>
          </a:p>
        </p:txBody>
      </p:sp>
      <p:sp>
        <p:nvSpPr>
          <p:cNvPr id="20" name="Text 1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Sources: B1 cells 2, 3, 8 · R1 cells 2–4, 6. Horizon 5,000 rounds, budget 125.</a:t>
            </a:r>
            <a:endParaRPr lang="en-US" sz="1200" dirty="0"/>
          </a:p>
        </p:txBody>
      </p:sp>
      <p:sp>
        <p:nvSpPr>
          <p:cNvPr id="21"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05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SCENARIO 1 · RESULT</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KL-UCB reduces single-campaign regret</a:t>
            </a:r>
            <a:endParaRPr lang="en-US" sz="2800" dirty="0"/>
          </a:p>
        </p:txBody>
      </p:sp>
      <p:sp>
        <p:nvSpPr>
          <p:cNvPr id="4" name="Shape 2"/>
          <p:cNvSpPr/>
          <p:nvPr/>
        </p:nvSpPr>
        <p:spPr>
          <a:xfrm>
            <a:off x="11376025" y="1671241"/>
            <a:ext cx="0" cy="1563092"/>
          </a:xfrm>
          <a:prstGeom prst="line">
            <a:avLst/>
          </a:prstGeom>
          <a:noFill/>
          <a:ln w="6350">
            <a:solidFill>
              <a:srgbClr val="DCD8CF"/>
            </a:solidFill>
            <a:prstDash val="solid"/>
          </a:ln>
        </p:spPr>
      </p:sp>
      <p:sp>
        <p:nvSpPr>
          <p:cNvPr id="5" name="Shape 3"/>
          <p:cNvSpPr/>
          <p:nvPr/>
        </p:nvSpPr>
        <p:spPr>
          <a:xfrm>
            <a:off x="812800" y="3231158"/>
            <a:ext cx="10566400" cy="0"/>
          </a:xfrm>
          <a:prstGeom prst="line">
            <a:avLst/>
          </a:prstGeom>
          <a:noFill/>
          <a:ln w="6350">
            <a:solidFill>
              <a:srgbClr val="DCD8CF"/>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683941"/>
          <a:ext cx="10547350" cy="1544042"/>
        </p:xfrm>
        <a:graphic>
          <a:graphicData uri="http://schemas.openxmlformats.org/drawingml/2006/table">
            <a:tbl>
              <a:tblPr/>
              <a:tblGrid>
                <a:gridCol w="3586099"/>
                <a:gridCol w="2531364"/>
                <a:gridCol w="1898523"/>
                <a:gridCol w="2531364"/>
              </a:tblGrid>
              <a:tr h="386011">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Policy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Final regret, mean ± SEM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Mean spend / 125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Share of LP expected utility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Budget-blind UCB1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40.18 ± 0.49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124.29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36.4%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Budgeted Hoeffding UCB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39.55 ± 0.70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124.38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37.4%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Budgeted KL-UCB (revised)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11.37 ± 1.50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123.20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82.0%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r>
            </a:tbl>
          </a:graphicData>
        </a:graphic>
      </p:graphicFrame>
      <p:sp>
        <p:nvSpPr>
          <p:cNvPr id="7" name="Text 4"/>
          <p:cNvSpPr/>
          <p:nvPr/>
        </p:nvSpPr>
        <p:spPr>
          <a:xfrm>
            <a:off x="812800" y="3488333"/>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Final regret, mean ± SEM · lower is better</a:t>
            </a:r>
            <a:endParaRPr lang="en-US" sz="1200" dirty="0"/>
          </a:p>
        </p:txBody>
      </p:sp>
      <p:sp>
        <p:nvSpPr>
          <p:cNvPr id="8" name="Text 5"/>
          <p:cNvSpPr/>
          <p:nvPr/>
        </p:nvSpPr>
        <p:spPr>
          <a:xfrm>
            <a:off x="812800" y="3789263"/>
            <a:ext cx="170180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B7A"/>
                </a:solidFill>
                <a:latin typeface="IBM Plex Sans" pitchFamily="34" charset="0"/>
                <a:ea typeface="IBM Plex Sans" pitchFamily="34" charset="-122"/>
                <a:cs typeface="IBM Plex Sans" pitchFamily="34" charset="-120"/>
              </a:rPr>
              <a:t>UCB1</a:t>
            </a:r>
            <a:endParaRPr lang="en-US" sz="1400" dirty="0"/>
          </a:p>
        </p:txBody>
      </p:sp>
      <p:sp>
        <p:nvSpPr>
          <p:cNvPr id="9" name="Shape 6"/>
          <p:cNvSpPr/>
          <p:nvPr/>
        </p:nvSpPr>
        <p:spPr>
          <a:xfrm>
            <a:off x="2571750" y="3777853"/>
            <a:ext cx="0" cy="254000"/>
          </a:xfrm>
          <a:prstGeom prst="line">
            <a:avLst/>
          </a:prstGeom>
          <a:noFill/>
          <a:ln w="12700">
            <a:solidFill>
              <a:srgbClr val="14263D"/>
            </a:solidFill>
            <a:prstDash val="solid"/>
          </a:ln>
        </p:spPr>
      </p:sp>
      <p:sp>
        <p:nvSpPr>
          <p:cNvPr id="10" name="Shape 7"/>
          <p:cNvSpPr/>
          <p:nvPr/>
        </p:nvSpPr>
        <p:spPr>
          <a:xfrm>
            <a:off x="2578100" y="3777853"/>
            <a:ext cx="3575050" cy="254000"/>
          </a:xfrm>
          <a:prstGeom prst="rect">
            <a:avLst/>
          </a:prstGeom>
          <a:solidFill>
            <a:srgbClr val="A9B4C2"/>
          </a:solidFill>
          <a:ln/>
        </p:spPr>
      </p:sp>
      <p:sp>
        <p:nvSpPr>
          <p:cNvPr id="11" name="Text 8"/>
          <p:cNvSpPr/>
          <p:nvPr/>
        </p:nvSpPr>
        <p:spPr>
          <a:xfrm>
            <a:off x="6254750" y="3789263"/>
            <a:ext cx="1084907"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B7A"/>
                </a:solidFill>
                <a:latin typeface="IBM Plex Sans" pitchFamily="34" charset="0"/>
                <a:ea typeface="IBM Plex Sans" pitchFamily="34" charset="-122"/>
                <a:cs typeface="IBM Plex Sans" pitchFamily="34" charset="-120"/>
              </a:rPr>
              <a:t>40.18 ± 0.49</a:t>
            </a:r>
            <a:endParaRPr lang="en-US" sz="1400" dirty="0"/>
          </a:p>
        </p:txBody>
      </p:sp>
      <p:sp>
        <p:nvSpPr>
          <p:cNvPr id="12" name="Text 9"/>
          <p:cNvSpPr/>
          <p:nvPr/>
        </p:nvSpPr>
        <p:spPr>
          <a:xfrm>
            <a:off x="812800" y="4119463"/>
            <a:ext cx="170180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B7A"/>
                </a:solidFill>
                <a:latin typeface="IBM Plex Sans" pitchFamily="34" charset="0"/>
                <a:ea typeface="IBM Plex Sans" pitchFamily="34" charset="-122"/>
                <a:cs typeface="IBM Plex Sans" pitchFamily="34" charset="-120"/>
              </a:rPr>
              <a:t>Hoeffding UCB</a:t>
            </a:r>
            <a:endParaRPr lang="en-US" sz="1400" dirty="0"/>
          </a:p>
        </p:txBody>
      </p:sp>
      <p:sp>
        <p:nvSpPr>
          <p:cNvPr id="13" name="Shape 10"/>
          <p:cNvSpPr/>
          <p:nvPr/>
        </p:nvSpPr>
        <p:spPr>
          <a:xfrm>
            <a:off x="2571750" y="4108053"/>
            <a:ext cx="0" cy="254000"/>
          </a:xfrm>
          <a:prstGeom prst="line">
            <a:avLst/>
          </a:prstGeom>
          <a:noFill/>
          <a:ln w="12700">
            <a:solidFill>
              <a:srgbClr val="14263D"/>
            </a:solidFill>
            <a:prstDash val="solid"/>
          </a:ln>
        </p:spPr>
      </p:sp>
      <p:sp>
        <p:nvSpPr>
          <p:cNvPr id="14" name="Shape 11"/>
          <p:cNvSpPr/>
          <p:nvPr/>
        </p:nvSpPr>
        <p:spPr>
          <a:xfrm>
            <a:off x="2578100" y="4108053"/>
            <a:ext cx="3517900" cy="254000"/>
          </a:xfrm>
          <a:prstGeom prst="rect">
            <a:avLst/>
          </a:prstGeom>
          <a:solidFill>
            <a:srgbClr val="A9B4C2"/>
          </a:solidFill>
          <a:ln/>
        </p:spPr>
      </p:sp>
      <p:sp>
        <p:nvSpPr>
          <p:cNvPr id="15" name="Text 12"/>
          <p:cNvSpPr/>
          <p:nvPr/>
        </p:nvSpPr>
        <p:spPr>
          <a:xfrm>
            <a:off x="6197600" y="4119463"/>
            <a:ext cx="1084907"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B7A"/>
                </a:solidFill>
                <a:latin typeface="IBM Plex Sans" pitchFamily="34" charset="0"/>
                <a:ea typeface="IBM Plex Sans" pitchFamily="34" charset="-122"/>
                <a:cs typeface="IBM Plex Sans" pitchFamily="34" charset="-120"/>
              </a:rPr>
              <a:t>39.55 ± 0.70</a:t>
            </a:r>
            <a:endParaRPr lang="en-US" sz="1400" dirty="0"/>
          </a:p>
        </p:txBody>
      </p:sp>
      <p:sp>
        <p:nvSpPr>
          <p:cNvPr id="16" name="Text 13"/>
          <p:cNvSpPr/>
          <p:nvPr/>
        </p:nvSpPr>
        <p:spPr>
          <a:xfrm>
            <a:off x="812800" y="4449663"/>
            <a:ext cx="1701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8492A"/>
                </a:solidFill>
                <a:latin typeface="IBM Plex Sans" pitchFamily="34" charset="0"/>
                <a:ea typeface="IBM Plex Sans" pitchFamily="34" charset="-122"/>
                <a:cs typeface="IBM Plex Sans" pitchFamily="34" charset="-120"/>
              </a:rPr>
              <a:t>KL-UCB (revised)</a:t>
            </a:r>
            <a:endParaRPr lang="en-US" sz="1400" dirty="0"/>
          </a:p>
        </p:txBody>
      </p:sp>
      <p:sp>
        <p:nvSpPr>
          <p:cNvPr id="17" name="Shape 14"/>
          <p:cNvSpPr/>
          <p:nvPr/>
        </p:nvSpPr>
        <p:spPr>
          <a:xfrm>
            <a:off x="2571750" y="4438253"/>
            <a:ext cx="0" cy="254000"/>
          </a:xfrm>
          <a:prstGeom prst="line">
            <a:avLst/>
          </a:prstGeom>
          <a:noFill/>
          <a:ln w="12700">
            <a:solidFill>
              <a:srgbClr val="14263D"/>
            </a:solidFill>
            <a:prstDash val="solid"/>
          </a:ln>
        </p:spPr>
      </p:sp>
      <p:sp>
        <p:nvSpPr>
          <p:cNvPr id="18" name="Shape 15"/>
          <p:cNvSpPr/>
          <p:nvPr/>
        </p:nvSpPr>
        <p:spPr>
          <a:xfrm>
            <a:off x="2578100" y="4438253"/>
            <a:ext cx="1009650" cy="254000"/>
          </a:xfrm>
          <a:prstGeom prst="rect">
            <a:avLst/>
          </a:prstGeom>
          <a:solidFill>
            <a:srgbClr val="B8492A"/>
          </a:solidFill>
          <a:ln/>
        </p:spPr>
      </p:sp>
      <p:sp>
        <p:nvSpPr>
          <p:cNvPr id="19" name="Text 16"/>
          <p:cNvSpPr/>
          <p:nvPr/>
        </p:nvSpPr>
        <p:spPr>
          <a:xfrm>
            <a:off x="3689350" y="4449663"/>
            <a:ext cx="1094532"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8492A"/>
                </a:solidFill>
                <a:latin typeface="IBM Plex Sans" pitchFamily="34" charset="0"/>
                <a:ea typeface="IBM Plex Sans" pitchFamily="34" charset="-122"/>
                <a:cs typeface="IBM Plex Sans" pitchFamily="34" charset="-120"/>
              </a:rPr>
              <a:t>11.37 ± 1.50</a:t>
            </a:r>
            <a:endParaRPr lang="en-US" sz="1400" dirty="0"/>
          </a:p>
        </p:txBody>
      </p:sp>
      <p:sp>
        <p:nvSpPr>
          <p:cNvPr id="20" name="Text 17"/>
          <p:cNvSpPr/>
          <p:nvPr/>
        </p:nvSpPr>
        <p:spPr>
          <a:xfrm>
            <a:off x="7899400" y="3488333"/>
            <a:ext cx="358419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The revised policy obtains more utility with similar total expenditure on these 10 paired trials.</a:t>
            </a:r>
            <a:endParaRPr lang="en-US" sz="1400" dirty="0"/>
          </a:p>
        </p:txBody>
      </p:sp>
      <p:sp>
        <p:nvSpPr>
          <p:cNvPr id="21" name="Text 18"/>
          <p:cNvSpPr/>
          <p:nvPr/>
        </p:nvSpPr>
        <p:spPr>
          <a:xfrm>
            <a:off x="7899400" y="4336604"/>
            <a:ext cx="358419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Regret: expected stochastic-oracle utility minus realized learner utility.</a:t>
            </a:r>
            <a:endParaRPr lang="en-US" sz="1200" dirty="0"/>
          </a:p>
        </p:txBody>
      </p:sp>
      <p:sp>
        <p:nvSpPr>
          <p:cNvPr id="22" name="Text 1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10 paired trials. Sources: B1 cell 8; R1 cell 8 (UCB1, KL). Oracle LP: R1 cells 2, 5, 6.</a:t>
            </a:r>
            <a:endParaRPr lang="en-US" sz="1200" dirty="0"/>
          </a:p>
        </p:txBody>
      </p:sp>
      <p:sp>
        <p:nvSpPr>
          <p:cNvPr id="23"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06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SCENARIO 2 · MULTIPLE CAMPAIGNS</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Multiple campaigns share one spending decision</a:t>
            </a:r>
            <a:endParaRPr lang="en-US" sz="2800" dirty="0"/>
          </a:p>
        </p:txBody>
      </p:sp>
      <p:sp>
        <p:nvSpPr>
          <p:cNvPr id="4" name="Text 2"/>
          <p:cNvSpPr/>
          <p:nvPr/>
        </p:nvSpPr>
        <p:spPr>
          <a:xfrm>
            <a:off x="812800" y="1671241"/>
            <a:ext cx="523240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Four campaigns share a budget. Some campaigns conflict, so the bidder must choose a feasible combination of bids rather than optimize each campaign independently.</a:t>
            </a:r>
            <a:endParaRPr lang="en-US" sz="1400" dirty="0"/>
          </a:p>
        </p:txBody>
      </p:sp>
      <p:sp>
        <p:nvSpPr>
          <p:cNvPr id="5" name="Shape 3"/>
          <p:cNvSpPr/>
          <p:nvPr/>
        </p:nvSpPr>
        <p:spPr>
          <a:xfrm>
            <a:off x="825500" y="2621111"/>
            <a:ext cx="0" cy="530820"/>
          </a:xfrm>
          <a:prstGeom prst="line">
            <a:avLst/>
          </a:prstGeom>
          <a:noFill/>
          <a:ln w="25400">
            <a:solidFill>
              <a:srgbClr val="8D9AAE"/>
            </a:solidFill>
            <a:prstDash val="solid"/>
          </a:ln>
        </p:spPr>
      </p:sp>
      <p:sp>
        <p:nvSpPr>
          <p:cNvPr id="6" name="Text 4"/>
          <p:cNvSpPr/>
          <p:nvPr/>
        </p:nvSpPr>
        <p:spPr>
          <a:xfrm>
            <a:off x="990600" y="2621111"/>
            <a:ext cx="5049266"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5F6B7A"/>
                </a:solidFill>
                <a:latin typeface="IBM Plex Sans" pitchFamily="34" charset="0"/>
                <a:ea typeface="IBM Plex Sans" pitchFamily="34" charset="-122"/>
                <a:cs typeface="IBM Plex Sans" pitchFamily="34" charset="-120"/>
              </a:rPr>
              <a:t>Baseline</a:t>
            </a:r>
            <a:endParaRPr lang="en-US" sz="1400" dirty="0"/>
          </a:p>
        </p:txBody>
      </p:sp>
      <p:sp>
        <p:nvSpPr>
          <p:cNvPr id="7" name="Text 5"/>
          <p:cNvSpPr/>
          <p:nvPr/>
        </p:nvSpPr>
        <p:spPr>
          <a:xfrm>
            <a:off x="990600" y="2903041"/>
            <a:ext cx="504926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Combinatorial-UCB spends too early.</a:t>
            </a:r>
            <a:endParaRPr lang="en-US" sz="1400" dirty="0"/>
          </a:p>
        </p:txBody>
      </p:sp>
      <p:sp>
        <p:nvSpPr>
          <p:cNvPr id="8" name="Shape 6"/>
          <p:cNvSpPr/>
          <p:nvPr/>
        </p:nvSpPr>
        <p:spPr>
          <a:xfrm>
            <a:off x="825500" y="3355132"/>
            <a:ext cx="0" cy="1127671"/>
          </a:xfrm>
          <a:prstGeom prst="line">
            <a:avLst/>
          </a:prstGeom>
          <a:noFill/>
          <a:ln w="25400">
            <a:solidFill>
              <a:srgbClr val="B8492A"/>
            </a:solidFill>
            <a:prstDash val="solid"/>
          </a:ln>
        </p:spPr>
      </p:sp>
      <p:sp>
        <p:nvSpPr>
          <p:cNvPr id="9" name="Text 7"/>
          <p:cNvSpPr/>
          <p:nvPr/>
        </p:nvSpPr>
        <p:spPr>
          <a:xfrm>
            <a:off x="990600" y="3355132"/>
            <a:ext cx="5049266"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8492A"/>
                </a:solidFill>
                <a:latin typeface="IBM Plex Sans" pitchFamily="34" charset="0"/>
                <a:ea typeface="IBM Plex Sans" pitchFamily="34" charset="-122"/>
                <a:cs typeface="IBM Plex Sans" pitchFamily="34" charset="-120"/>
              </a:rPr>
              <a:t>Revision</a:t>
            </a:r>
            <a:endParaRPr lang="en-US" sz="1400" dirty="0"/>
          </a:p>
        </p:txBody>
      </p:sp>
      <p:sp>
        <p:nvSpPr>
          <p:cNvPr id="10" name="Text 8"/>
          <p:cNvSpPr/>
          <p:nvPr/>
        </p:nvSpPr>
        <p:spPr>
          <a:xfrm>
            <a:off x="990600" y="3637062"/>
            <a:ext cx="5049266"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Keeps semi-bandit learning, with KL reward bounds, empirical expected costs and a remaining-budget cap:</a:t>
            </a:r>
            <a:endParaRPr lang="en-US" sz="1400" dirty="0"/>
          </a:p>
        </p:txBody>
      </p:sp>
      <p:sp>
        <p:nvSpPr>
          <p:cNvPr id="11" name="Text 9"/>
          <p:cNvSpPr/>
          <p:nvPr/>
        </p:nvSpPr>
        <p:spPr>
          <a:xfrm>
            <a:off x="990600" y="4185642"/>
            <a:ext cx="5049266" cy="322560"/>
          </a:xfrm>
          <a:prstGeom prst="rect">
            <a:avLst/>
          </a:prstGeom>
          <a:noFill/>
          <a:ln/>
        </p:spPr>
        <p:txBody>
          <a:bodyPr wrap="square" lIns="0" tIns="0" rIns="0" bIns="0" rtlCol="0" anchor="t">
            <a:normAutofit/>
          </a:bodyPr>
          <a:lstStyle/>
          <a:p>
            <a:pPr algn="l" indent="0" marL="0">
              <a:lnSpc>
                <a:spcPts val="2340"/>
              </a:lnSpc>
              <a:buNone/>
            </a:pPr>
            <a:r>
              <a:rPr lang="en-US" sz="1800" i="1" dirty="0">
                <a:solidFill>
                  <a:srgbClr val="14263D"/>
                </a:solidFill>
                <a:latin typeface="STIX Two Text" pitchFamily="18" charset="0"/>
                <a:ea typeface="STIX Two Text" pitchFamily="18" charset="-122"/>
                <a:cs typeface="STIX Two Text" pitchFamily="18" charset="-120"/>
              </a:rPr>
              <a:t>ρₜ = remaining budget / (T − t)</a:t>
            </a:r>
            <a:endParaRPr lang="en-US" sz="1800" dirty="0"/>
          </a:p>
        </p:txBody>
      </p:sp>
      <p:sp>
        <p:nvSpPr>
          <p:cNvPr id="12" name="Text 10"/>
          <p:cNvSpPr/>
          <p:nvPr/>
        </p:nvSpPr>
        <p:spPr>
          <a:xfrm>
            <a:off x="812800" y="4686002"/>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33 arms · 250 feasible combinations · B = 700 · T = 3,000</a:t>
            </a:r>
            <a:endParaRPr lang="en-US" sz="1200" dirty="0"/>
          </a:p>
        </p:txBody>
      </p:sp>
      <p:sp>
        <p:nvSpPr>
          <p:cNvPr id="13" name="Shape 11"/>
          <p:cNvSpPr/>
          <p:nvPr/>
        </p:nvSpPr>
        <p:spPr>
          <a:xfrm>
            <a:off x="6302375" y="1674416"/>
            <a:ext cx="5073650" cy="3897511"/>
          </a:xfrm>
          <a:prstGeom prst="roundRect">
            <a:avLst>
              <a:gd name="adj" fmla="val 1874"/>
            </a:avLst>
          </a:prstGeom>
          <a:solidFill>
            <a:srgbClr val="FCFBF8"/>
          </a:solidFill>
          <a:ln w="6350">
            <a:solidFill>
              <a:srgbClr val="DCD8CF"/>
            </a:solidFill>
            <a:prstDash val="solid"/>
          </a:ln>
        </p:spPr>
      </p:sp>
      <p:sp>
        <p:nvSpPr>
          <p:cNvPr id="14" name="Text 12"/>
          <p:cNvSpPr/>
          <p:nvPr/>
        </p:nvSpPr>
        <p:spPr>
          <a:xfrm>
            <a:off x="6508750" y="1855391"/>
            <a:ext cx="480072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B7A"/>
                </a:solidFill>
                <a:latin typeface="IBM Plex Mono" pitchFamily="49" charset="0"/>
                <a:ea typeface="IBM Plex Mono" pitchFamily="49" charset="-122"/>
                <a:cs typeface="IBM Plex Mono" pitchFamily="49" charset="-120"/>
              </a:rPr>
              <a:t>CONFLICT CHAIN · EXAMPLE ROUND</a:t>
            </a:r>
            <a:endParaRPr lang="en-US" sz="1200" dirty="0"/>
          </a:p>
        </p:txBody>
      </p:sp>
      <p:sp>
        <p:nvSpPr>
          <p:cNvPr id="15" name="Text 13"/>
          <p:cNvSpPr/>
          <p:nvPr/>
        </p:nvSpPr>
        <p:spPr>
          <a:xfrm>
            <a:off x="6508750" y="2144911"/>
            <a:ext cx="457200" cy="457200"/>
          </a:xfrm>
          <a:prstGeom prst="roundRect">
            <a:avLst>
              <a:gd name="adj" fmla="val 50000"/>
            </a:avLst>
          </a:prstGeom>
          <a:solidFill>
            <a:srgbClr val="14263D"/>
          </a:solidFill>
          <a:ln/>
        </p:spPr>
        <p:txBody>
          <a:bodyPr wrap="square" lIns="0" tIns="0" rIns="0" bIns="0" rtlCol="0" anchor="ctr">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C1</a:t>
            </a:r>
            <a:endParaRPr lang="en-US" sz="1200" dirty="0"/>
          </a:p>
        </p:txBody>
      </p:sp>
      <p:sp>
        <p:nvSpPr>
          <p:cNvPr id="16" name="Text 14"/>
          <p:cNvSpPr/>
          <p:nvPr/>
        </p:nvSpPr>
        <p:spPr>
          <a:xfrm>
            <a:off x="7118350" y="226685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46A"/>
                </a:solidFill>
                <a:latin typeface="IBM Plex Sans" pitchFamily="34" charset="0"/>
                <a:ea typeface="IBM Plex Sans" pitchFamily="34" charset="-122"/>
                <a:cs typeface="IBM Plex Sans" pitchFamily="34" charset="-120"/>
              </a:rPr>
              <a:t>value 0.95</a:t>
            </a:r>
            <a:endParaRPr lang="en-US" sz="1200" dirty="0"/>
          </a:p>
        </p:txBody>
      </p:sp>
      <p:sp>
        <p:nvSpPr>
          <p:cNvPr id="17" name="Text 15"/>
          <p:cNvSpPr/>
          <p:nvPr/>
        </p:nvSpPr>
        <p:spPr>
          <a:xfrm>
            <a:off x="8286750" y="2241451"/>
            <a:ext cx="768499" cy="264120"/>
          </a:xfrm>
          <a:custGeom>
            <a:avLst/>
            <a:gdLst/>
            <a:ahLst/>
            <a:cxnLst/>
            <a:rect l="l" t="t" r="r" b="b"/>
            <a:pathLst>
              <a:path w="768499" h="264120">
                <a:moveTo>
                  <a:pt x="132060" y="0"/>
                </a:moveTo>
                <a:lnTo>
                  <a:pt x="636439" y="0"/>
                </a:lnTo>
                <a:arcTo hR="132060" wR="132060" stAng="16200000" swAng="5400000"/>
                <a:lnTo>
                  <a:pt x="768499" y="132060"/>
                </a:lnTo>
                <a:arcTo hR="132060" wR="132060" stAng="0" swAng="5400000"/>
                <a:lnTo>
                  <a:pt x="132060" y="264120"/>
                </a:lnTo>
                <a:arcTo hR="132060" wR="132060" stAng="5400000" swAng="5400000"/>
                <a:lnTo>
                  <a:pt x="0" y="132060"/>
                </a:lnTo>
                <a:arcTo hR="132060" wR="132060" stAng="10800000" swAng="5400000"/>
                <a:close/>
              </a:path>
            </a:pathLst>
          </a:custGeom>
          <a:solidFill>
            <a:srgbClr val="B8492A"/>
          </a:solidFill>
          <a:ln/>
        </p:spPr>
        <p:txBody>
          <a:bodyPr wrap="none" lIns="0" tIns="0" rIns="0" bIns="0" rtlCol="0" anchor="ctr">
            <a:normAutofit/>
          </a:bodyPr>
          <a:lstStyle/>
          <a:p>
            <a:pPr algn="ctr" indent="0" marL="0">
              <a:lnSpc>
                <a:spcPts val="1680"/>
              </a:lnSpc>
              <a:buNone/>
            </a:pPr>
            <a:r>
              <a:rPr lang="en-US" sz="1200" b="1" dirty="0">
                <a:solidFill>
                  <a:srgbClr val="FCFBF8"/>
                </a:solidFill>
                <a:latin typeface="IBM Plex Sans" pitchFamily="34" charset="0"/>
                <a:ea typeface="IBM Plex Sans" pitchFamily="34" charset="-122"/>
                <a:cs typeface="IBM Plex Sans" pitchFamily="34" charset="-120"/>
              </a:rPr>
              <a:t>bids 0.4</a:t>
            </a:r>
            <a:endParaRPr lang="en-US" sz="1200" dirty="0"/>
          </a:p>
        </p:txBody>
      </p:sp>
      <p:sp>
        <p:nvSpPr>
          <p:cNvPr id="18" name="Shape 16"/>
          <p:cNvSpPr/>
          <p:nvPr/>
        </p:nvSpPr>
        <p:spPr>
          <a:xfrm>
            <a:off x="6724650" y="2678311"/>
            <a:ext cx="25400" cy="127000"/>
          </a:xfrm>
          <a:prstGeom prst="rect">
            <a:avLst/>
          </a:prstGeom>
          <a:solidFill>
            <a:srgbClr val="8D9AAE"/>
          </a:solidFill>
          <a:ln/>
        </p:spPr>
      </p:sp>
      <p:sp>
        <p:nvSpPr>
          <p:cNvPr id="19" name="Text 17"/>
          <p:cNvSpPr/>
          <p:nvPr/>
        </p:nvSpPr>
        <p:spPr>
          <a:xfrm>
            <a:off x="6508750" y="2881511"/>
            <a:ext cx="457200" cy="457200"/>
          </a:xfrm>
          <a:prstGeom prst="roundRect">
            <a:avLst>
              <a:gd name="adj" fmla="val 50000"/>
            </a:avLst>
          </a:prstGeom>
          <a:solidFill>
            <a:srgbClr val="14263D"/>
          </a:solidFill>
          <a:ln/>
        </p:spPr>
        <p:txBody>
          <a:bodyPr wrap="square" lIns="0" tIns="0" rIns="0" bIns="0" rtlCol="0" anchor="ctr">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C2</a:t>
            </a:r>
            <a:endParaRPr lang="en-US" sz="1200" dirty="0"/>
          </a:p>
        </p:txBody>
      </p:sp>
      <p:sp>
        <p:nvSpPr>
          <p:cNvPr id="20" name="Text 18"/>
          <p:cNvSpPr/>
          <p:nvPr/>
        </p:nvSpPr>
        <p:spPr>
          <a:xfrm>
            <a:off x="7118350" y="300345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46A"/>
                </a:solidFill>
                <a:latin typeface="IBM Plex Sans" pitchFamily="34" charset="0"/>
                <a:ea typeface="IBM Plex Sans" pitchFamily="34" charset="-122"/>
                <a:cs typeface="IBM Plex Sans" pitchFamily="34" charset="-120"/>
              </a:rPr>
              <a:t>value 0.85</a:t>
            </a:r>
            <a:endParaRPr lang="en-US" sz="1200" dirty="0"/>
          </a:p>
        </p:txBody>
      </p:sp>
      <p:sp>
        <p:nvSpPr>
          <p:cNvPr id="21" name="Text 19"/>
          <p:cNvSpPr/>
          <p:nvPr/>
        </p:nvSpPr>
        <p:spPr>
          <a:xfrm>
            <a:off x="8293100" y="2984401"/>
            <a:ext cx="2116832" cy="251420"/>
          </a:xfrm>
          <a:custGeom>
            <a:avLst/>
            <a:gdLst/>
            <a:ahLst/>
            <a:cxnLst/>
            <a:rect l="l" t="t" r="r" b="b"/>
            <a:pathLst>
              <a:path w="2116832" h="251420">
                <a:moveTo>
                  <a:pt x="125710" y="0"/>
                </a:moveTo>
                <a:lnTo>
                  <a:pt x="1991122" y="0"/>
                </a:lnTo>
                <a:arcTo hR="125710" wR="125710" stAng="16200000" swAng="5400000"/>
                <a:lnTo>
                  <a:pt x="2116832" y="125710"/>
                </a:lnTo>
                <a:arcTo hR="125710" wR="125710" stAng="0" swAng="5400000"/>
                <a:lnTo>
                  <a:pt x="125710" y="251420"/>
                </a:lnTo>
                <a:arcTo hR="125710" wR="125710" stAng="5400000" swAng="5400000"/>
                <a:lnTo>
                  <a:pt x="0" y="125710"/>
                </a:lnTo>
                <a:arcTo hR="125710" wR="125710" stAng="10800000" swAng="5400000"/>
                <a:close/>
              </a:path>
            </a:pathLst>
          </a:custGeom>
          <a:noFill/>
          <a:ln w="12700">
            <a:solidFill>
              <a:srgbClr val="A9B4C2"/>
            </a:solidFill>
            <a:prstDash val="solid"/>
          </a:ln>
        </p:spPr>
        <p:txBody>
          <a:bodyPr wrap="none" lIns="0" tIns="0" rIns="0" bIns="0" rtlCol="0" anchor="ctr">
            <a:normAutofit/>
          </a:bodyPr>
          <a:lstStyle/>
          <a:p>
            <a:pPr algn="ct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no bid: conflicts with C1, C3</a:t>
            </a:r>
            <a:endParaRPr lang="en-US" sz="1200" dirty="0"/>
          </a:p>
        </p:txBody>
      </p:sp>
      <p:sp>
        <p:nvSpPr>
          <p:cNvPr id="22" name="Shape 20"/>
          <p:cNvSpPr/>
          <p:nvPr/>
        </p:nvSpPr>
        <p:spPr>
          <a:xfrm>
            <a:off x="6724650" y="3414911"/>
            <a:ext cx="25400" cy="127000"/>
          </a:xfrm>
          <a:prstGeom prst="rect">
            <a:avLst/>
          </a:prstGeom>
          <a:solidFill>
            <a:srgbClr val="8D9AAE"/>
          </a:solidFill>
          <a:ln/>
        </p:spPr>
      </p:sp>
      <p:sp>
        <p:nvSpPr>
          <p:cNvPr id="23" name="Text 21"/>
          <p:cNvSpPr/>
          <p:nvPr/>
        </p:nvSpPr>
        <p:spPr>
          <a:xfrm>
            <a:off x="6508750" y="3618111"/>
            <a:ext cx="457200" cy="457200"/>
          </a:xfrm>
          <a:prstGeom prst="roundRect">
            <a:avLst>
              <a:gd name="adj" fmla="val 50000"/>
            </a:avLst>
          </a:prstGeom>
          <a:solidFill>
            <a:srgbClr val="14263D"/>
          </a:solidFill>
          <a:ln/>
        </p:spPr>
        <p:txBody>
          <a:bodyPr wrap="square" lIns="0" tIns="0" rIns="0" bIns="0" rtlCol="0" anchor="ctr">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C3</a:t>
            </a:r>
            <a:endParaRPr lang="en-US" sz="1200" dirty="0"/>
          </a:p>
        </p:txBody>
      </p:sp>
      <p:sp>
        <p:nvSpPr>
          <p:cNvPr id="24" name="Text 22"/>
          <p:cNvSpPr/>
          <p:nvPr/>
        </p:nvSpPr>
        <p:spPr>
          <a:xfrm>
            <a:off x="7118350" y="374005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46A"/>
                </a:solidFill>
                <a:latin typeface="IBM Plex Sans" pitchFamily="34" charset="0"/>
                <a:ea typeface="IBM Plex Sans" pitchFamily="34" charset="-122"/>
                <a:cs typeface="IBM Plex Sans" pitchFamily="34" charset="-120"/>
              </a:rPr>
              <a:t>value 0.78</a:t>
            </a:r>
            <a:endParaRPr lang="en-US" sz="1200" dirty="0"/>
          </a:p>
        </p:txBody>
      </p:sp>
      <p:sp>
        <p:nvSpPr>
          <p:cNvPr id="25" name="Text 23"/>
          <p:cNvSpPr/>
          <p:nvPr/>
        </p:nvSpPr>
        <p:spPr>
          <a:xfrm>
            <a:off x="8286750" y="3714651"/>
            <a:ext cx="768499" cy="264120"/>
          </a:xfrm>
          <a:custGeom>
            <a:avLst/>
            <a:gdLst/>
            <a:ahLst/>
            <a:cxnLst/>
            <a:rect l="l" t="t" r="r" b="b"/>
            <a:pathLst>
              <a:path w="768499" h="264120">
                <a:moveTo>
                  <a:pt x="132060" y="0"/>
                </a:moveTo>
                <a:lnTo>
                  <a:pt x="636439" y="0"/>
                </a:lnTo>
                <a:arcTo hR="132060" wR="132060" stAng="16200000" swAng="5400000"/>
                <a:lnTo>
                  <a:pt x="768499" y="132060"/>
                </a:lnTo>
                <a:arcTo hR="132060" wR="132060" stAng="0" swAng="5400000"/>
                <a:lnTo>
                  <a:pt x="132060" y="264120"/>
                </a:lnTo>
                <a:arcTo hR="132060" wR="132060" stAng="5400000" swAng="5400000"/>
                <a:lnTo>
                  <a:pt x="0" y="132060"/>
                </a:lnTo>
                <a:arcTo hR="132060" wR="132060" stAng="10800000" swAng="5400000"/>
                <a:close/>
              </a:path>
            </a:pathLst>
          </a:custGeom>
          <a:solidFill>
            <a:srgbClr val="B8492A"/>
          </a:solidFill>
          <a:ln/>
        </p:spPr>
        <p:txBody>
          <a:bodyPr wrap="none" lIns="0" tIns="0" rIns="0" bIns="0" rtlCol="0" anchor="ctr">
            <a:normAutofit/>
          </a:bodyPr>
          <a:lstStyle/>
          <a:p>
            <a:pPr algn="ctr" indent="0" marL="0">
              <a:lnSpc>
                <a:spcPts val="1680"/>
              </a:lnSpc>
              <a:buNone/>
            </a:pPr>
            <a:r>
              <a:rPr lang="en-US" sz="1200" b="1" dirty="0">
                <a:solidFill>
                  <a:srgbClr val="FCFBF8"/>
                </a:solidFill>
                <a:latin typeface="IBM Plex Sans" pitchFamily="34" charset="0"/>
                <a:ea typeface="IBM Plex Sans" pitchFamily="34" charset="-122"/>
                <a:cs typeface="IBM Plex Sans" pitchFamily="34" charset="-120"/>
              </a:rPr>
              <a:t>bids 0.3</a:t>
            </a:r>
            <a:endParaRPr lang="en-US" sz="1200" dirty="0"/>
          </a:p>
        </p:txBody>
      </p:sp>
      <p:sp>
        <p:nvSpPr>
          <p:cNvPr id="26" name="Shape 24"/>
          <p:cNvSpPr/>
          <p:nvPr/>
        </p:nvSpPr>
        <p:spPr>
          <a:xfrm>
            <a:off x="6724650" y="4151511"/>
            <a:ext cx="25400" cy="127000"/>
          </a:xfrm>
          <a:prstGeom prst="rect">
            <a:avLst/>
          </a:prstGeom>
          <a:solidFill>
            <a:srgbClr val="8D9AAE"/>
          </a:solidFill>
          <a:ln/>
        </p:spPr>
      </p:sp>
      <p:sp>
        <p:nvSpPr>
          <p:cNvPr id="27" name="Text 25"/>
          <p:cNvSpPr/>
          <p:nvPr/>
        </p:nvSpPr>
        <p:spPr>
          <a:xfrm>
            <a:off x="6508750" y="4354711"/>
            <a:ext cx="457200" cy="457200"/>
          </a:xfrm>
          <a:prstGeom prst="roundRect">
            <a:avLst>
              <a:gd name="adj" fmla="val 50000"/>
            </a:avLst>
          </a:prstGeom>
          <a:solidFill>
            <a:srgbClr val="14263D"/>
          </a:solidFill>
          <a:ln/>
        </p:spPr>
        <p:txBody>
          <a:bodyPr wrap="square" lIns="0" tIns="0" rIns="0" bIns="0" rtlCol="0" anchor="ctr">
            <a:normAutofit/>
          </a:bodyPr>
          <a:lstStyle/>
          <a:p>
            <a:pPr algn="ctr" indent="0" marL="0">
              <a:lnSpc>
                <a:spcPts val="1680"/>
              </a:lnSpc>
              <a:buNone/>
            </a:pPr>
            <a:r>
              <a:rPr lang="en-US" sz="1200" b="1" dirty="0">
                <a:solidFill>
                  <a:srgbClr val="F2EFE8"/>
                </a:solidFill>
                <a:latin typeface="IBM Plex Sans" pitchFamily="34" charset="0"/>
                <a:ea typeface="IBM Plex Sans" pitchFamily="34" charset="-122"/>
                <a:cs typeface="IBM Plex Sans" pitchFamily="34" charset="-120"/>
              </a:rPr>
              <a:t>C4</a:t>
            </a:r>
            <a:endParaRPr lang="en-US" sz="1200" dirty="0"/>
          </a:p>
        </p:txBody>
      </p:sp>
      <p:sp>
        <p:nvSpPr>
          <p:cNvPr id="28" name="Text 26"/>
          <p:cNvSpPr/>
          <p:nvPr/>
        </p:nvSpPr>
        <p:spPr>
          <a:xfrm>
            <a:off x="7118350" y="4476651"/>
            <a:ext cx="1066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46A"/>
                </a:solidFill>
                <a:latin typeface="IBM Plex Sans" pitchFamily="34" charset="0"/>
                <a:ea typeface="IBM Plex Sans" pitchFamily="34" charset="-122"/>
                <a:cs typeface="IBM Plex Sans" pitchFamily="34" charset="-120"/>
              </a:rPr>
              <a:t>value 0.90</a:t>
            </a:r>
            <a:endParaRPr lang="en-US" sz="1200" dirty="0"/>
          </a:p>
        </p:txBody>
      </p:sp>
      <p:sp>
        <p:nvSpPr>
          <p:cNvPr id="29" name="Text 27"/>
          <p:cNvSpPr/>
          <p:nvPr/>
        </p:nvSpPr>
        <p:spPr>
          <a:xfrm>
            <a:off x="8293100" y="4457601"/>
            <a:ext cx="1853307" cy="251420"/>
          </a:xfrm>
          <a:custGeom>
            <a:avLst/>
            <a:gdLst/>
            <a:ahLst/>
            <a:cxnLst/>
            <a:rect l="l" t="t" r="r" b="b"/>
            <a:pathLst>
              <a:path w="1853307" h="251420">
                <a:moveTo>
                  <a:pt x="125710" y="0"/>
                </a:moveTo>
                <a:lnTo>
                  <a:pt x="1727597" y="0"/>
                </a:lnTo>
                <a:arcTo hR="125710" wR="125710" stAng="16200000" swAng="5400000"/>
                <a:lnTo>
                  <a:pt x="1853307" y="125710"/>
                </a:lnTo>
                <a:arcTo hR="125710" wR="125710" stAng="0" swAng="5400000"/>
                <a:lnTo>
                  <a:pt x="125710" y="251420"/>
                </a:lnTo>
                <a:arcTo hR="125710" wR="125710" stAng="5400000" swAng="5400000"/>
                <a:lnTo>
                  <a:pt x="0" y="125710"/>
                </a:lnTo>
                <a:arcTo hR="125710" wR="125710" stAng="10800000" swAng="5400000"/>
                <a:close/>
              </a:path>
            </a:pathLst>
          </a:custGeom>
          <a:noFill/>
          <a:ln w="12700">
            <a:solidFill>
              <a:srgbClr val="A9B4C2"/>
            </a:solidFill>
            <a:prstDash val="solid"/>
          </a:ln>
        </p:spPr>
        <p:txBody>
          <a:bodyPr wrap="none" lIns="0" tIns="0" rIns="0" bIns="0" rtlCol="0" anchor="ctr">
            <a:normAutofit/>
          </a:bodyPr>
          <a:lstStyle/>
          <a:p>
            <a:pPr algn="ct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no bid: conflicts with C3</a:t>
            </a:r>
            <a:endParaRPr lang="en-US" sz="1200" dirty="0"/>
          </a:p>
        </p:txBody>
      </p:sp>
      <p:sp>
        <p:nvSpPr>
          <p:cNvPr id="30" name="Text 28"/>
          <p:cNvSpPr/>
          <p:nvPr/>
        </p:nvSpPr>
        <p:spPr>
          <a:xfrm>
            <a:off x="6508750" y="4964311"/>
            <a:ext cx="4800727"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Adjacent campaigns cannot bid in the same round. Illustrative combination, not a recorded action.</a:t>
            </a:r>
            <a:endParaRPr lang="en-US" sz="1200" dirty="0"/>
          </a:p>
        </p:txBody>
      </p:sp>
      <p:sp>
        <p:nvSpPr>
          <p:cNvPr id="31" name="Text 2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Sources: R2 cells 2, 3, 5, 7, 10, 12 · B2 cells 12, 14. t is counted from zero.</a:t>
            </a:r>
            <a:endParaRPr lang="en-US" sz="1200" dirty="0"/>
          </a:p>
        </p:txBody>
      </p:sp>
      <p:sp>
        <p:nvSpPr>
          <p:cNvPr id="32" name="Text 3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07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SCENARIO 2 · OVER THE HORIZON</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Saved checkpoints show the effect of early spending</a:t>
            </a:r>
            <a:endParaRPr lang="en-US" sz="2800" dirty="0"/>
          </a:p>
        </p:txBody>
      </p:sp>
      <p:sp>
        <p:nvSpPr>
          <p:cNvPr id="4" name="Text 2"/>
          <p:cNvSpPr/>
          <p:nvPr/>
        </p:nvSpPr>
        <p:spPr>
          <a:xfrm>
            <a:off x="812800" y="1671241"/>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Pseudo-regret per round at four saved checkpoints · mean of 20 paired trials</a:t>
            </a:r>
            <a:endParaRPr lang="en-US" sz="1200" dirty="0"/>
          </a:p>
        </p:txBody>
      </p:sp>
      <p:pic>
        <p:nvPicPr>
          <p:cNvPr id="5" name="Image 0" descr="Two series at rounds 750, 1,500, 2,250 and 3,000. Baseline rises to 0.1984 by round 3,000; revised falls to 0.0234.">    </p:cNvPr>
          <p:cNvPicPr>
            <a:picLocks noChangeAspect="1"/>
          </p:cNvPicPr>
          <p:nvPr/>
        </p:nvPicPr>
        <p:blipFill>
          <a:blip r:embed="rId1"/>
          <a:srcRect l="0" r="0" t="-12" b="-12"/>
          <a:stretch/>
        </p:blipFill>
        <p:spPr>
          <a:xfrm>
            <a:off x="812800" y="1986161"/>
            <a:ext cx="6985000" cy="2794000"/>
          </a:xfrm>
          <a:prstGeom prst="rect">
            <a:avLst/>
          </a:prstGeom>
        </p:spPr>
      </p:pic>
      <p:sp>
        <p:nvSpPr>
          <p:cNvPr id="6" name="Text 3"/>
          <p:cNvSpPr/>
          <p:nvPr/>
        </p:nvSpPr>
        <p:spPr>
          <a:xfrm>
            <a:off x="762000" y="2398911"/>
            <a:ext cx="622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0.20</a:t>
            </a:r>
            <a:endParaRPr lang="en-US" sz="1200" dirty="0"/>
          </a:p>
        </p:txBody>
      </p:sp>
      <p:sp>
        <p:nvSpPr>
          <p:cNvPr id="7" name="Text 4"/>
          <p:cNvSpPr/>
          <p:nvPr/>
        </p:nvSpPr>
        <p:spPr>
          <a:xfrm>
            <a:off x="762000" y="3179961"/>
            <a:ext cx="622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0.10</a:t>
            </a:r>
            <a:endParaRPr lang="en-US" sz="1200" dirty="0"/>
          </a:p>
        </p:txBody>
      </p:sp>
      <p:sp>
        <p:nvSpPr>
          <p:cNvPr id="8" name="Text 5"/>
          <p:cNvSpPr/>
          <p:nvPr/>
        </p:nvSpPr>
        <p:spPr>
          <a:xfrm>
            <a:off x="762000" y="3961011"/>
            <a:ext cx="622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4263D"/>
                </a:solidFill>
                <a:latin typeface="IBM Plex Sans" pitchFamily="34" charset="0"/>
                <a:ea typeface="IBM Plex Sans" pitchFamily="34" charset="-122"/>
                <a:cs typeface="IBM Plex Sans" pitchFamily="34" charset="-120"/>
              </a:rPr>
              <a:t>0.00</a:t>
            </a:r>
            <a:endParaRPr lang="en-US" sz="1200" dirty="0"/>
          </a:p>
        </p:txBody>
      </p:sp>
      <p:sp>
        <p:nvSpPr>
          <p:cNvPr id="9" name="Text 6"/>
          <p:cNvSpPr/>
          <p:nvPr/>
        </p:nvSpPr>
        <p:spPr>
          <a:xfrm>
            <a:off x="762000" y="4354711"/>
            <a:ext cx="622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−0.05</a:t>
            </a:r>
            <a:endParaRPr lang="en-US" sz="1200" dirty="0"/>
          </a:p>
        </p:txBody>
      </p:sp>
      <p:sp>
        <p:nvSpPr>
          <p:cNvPr id="10" name="Text 7"/>
          <p:cNvSpPr/>
          <p:nvPr/>
        </p:nvSpPr>
        <p:spPr>
          <a:xfrm>
            <a:off x="1422400" y="455156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750</a:t>
            </a:r>
            <a:endParaRPr lang="en-US" sz="1200" dirty="0"/>
          </a:p>
        </p:txBody>
      </p:sp>
      <p:sp>
        <p:nvSpPr>
          <p:cNvPr id="11" name="Text 8"/>
          <p:cNvSpPr/>
          <p:nvPr/>
        </p:nvSpPr>
        <p:spPr>
          <a:xfrm>
            <a:off x="2774950" y="455156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1,500</a:t>
            </a:r>
            <a:endParaRPr lang="en-US" sz="1200" dirty="0"/>
          </a:p>
        </p:txBody>
      </p:sp>
      <p:sp>
        <p:nvSpPr>
          <p:cNvPr id="12" name="Text 9"/>
          <p:cNvSpPr/>
          <p:nvPr/>
        </p:nvSpPr>
        <p:spPr>
          <a:xfrm>
            <a:off x="4133850" y="455156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2,250</a:t>
            </a:r>
            <a:endParaRPr lang="en-US" sz="1200" dirty="0"/>
          </a:p>
        </p:txBody>
      </p:sp>
      <p:sp>
        <p:nvSpPr>
          <p:cNvPr id="13" name="Text 10"/>
          <p:cNvSpPr/>
          <p:nvPr/>
        </p:nvSpPr>
        <p:spPr>
          <a:xfrm>
            <a:off x="5486400" y="455156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3,000</a:t>
            </a:r>
            <a:endParaRPr lang="en-US" sz="1200" dirty="0"/>
          </a:p>
        </p:txBody>
      </p:sp>
      <p:sp>
        <p:nvSpPr>
          <p:cNvPr id="14" name="Text 11"/>
          <p:cNvSpPr/>
          <p:nvPr/>
        </p:nvSpPr>
        <p:spPr>
          <a:xfrm>
            <a:off x="6121400" y="2405261"/>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B7A"/>
                </a:solidFill>
                <a:latin typeface="IBM Plex Sans" pitchFamily="34" charset="0"/>
                <a:ea typeface="IBM Plex Sans" pitchFamily="34" charset="-122"/>
                <a:cs typeface="IBM Plex Sans" pitchFamily="34" charset="-120"/>
              </a:rPr>
              <a:t>Baseline 0.1984</a:t>
            </a:r>
            <a:endParaRPr lang="en-US" sz="1200" dirty="0"/>
          </a:p>
        </p:txBody>
      </p:sp>
      <p:sp>
        <p:nvSpPr>
          <p:cNvPr id="15" name="Text 12"/>
          <p:cNvSpPr/>
          <p:nvPr/>
        </p:nvSpPr>
        <p:spPr>
          <a:xfrm>
            <a:off x="6121400" y="3776861"/>
            <a:ext cx="1701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8492A"/>
                </a:solidFill>
                <a:latin typeface="IBM Plex Sans" pitchFamily="34" charset="0"/>
                <a:ea typeface="IBM Plex Sans" pitchFamily="34" charset="-122"/>
                <a:cs typeface="IBM Plex Sans" pitchFamily="34" charset="-120"/>
              </a:rPr>
              <a:t>Revised 0.0234</a:t>
            </a:r>
            <a:endParaRPr lang="en-US" sz="1200" dirty="0"/>
          </a:p>
        </p:txBody>
      </p:sp>
      <p:sp>
        <p:nvSpPr>
          <p:cNvPr id="16" name="Text 13"/>
          <p:cNvSpPr/>
          <p:nvPr/>
        </p:nvSpPr>
        <p:spPr>
          <a:xfrm>
            <a:off x="812800" y="4881761"/>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Round. Markers are saved checkpoints; straight lines only guide the eye.</a:t>
            </a:r>
            <a:endParaRPr lang="en-US" sz="1200" dirty="0"/>
          </a:p>
        </p:txBody>
      </p:sp>
      <p:sp>
        <p:nvSpPr>
          <p:cNvPr id="17" name="Shape 14"/>
          <p:cNvSpPr/>
          <p:nvPr/>
        </p:nvSpPr>
        <p:spPr>
          <a:xfrm>
            <a:off x="11376025" y="1671241"/>
            <a:ext cx="0" cy="1949103"/>
          </a:xfrm>
          <a:prstGeom prst="line">
            <a:avLst/>
          </a:prstGeom>
          <a:noFill/>
          <a:ln w="6350">
            <a:solidFill>
              <a:srgbClr val="DCD8CF"/>
            </a:solidFill>
            <a:prstDash val="solid"/>
          </a:ln>
        </p:spPr>
      </p:sp>
      <p:sp>
        <p:nvSpPr>
          <p:cNvPr id="18" name="Shape 15"/>
          <p:cNvSpPr/>
          <p:nvPr/>
        </p:nvSpPr>
        <p:spPr>
          <a:xfrm>
            <a:off x="8204200" y="3617168"/>
            <a:ext cx="3175000" cy="0"/>
          </a:xfrm>
          <a:prstGeom prst="line">
            <a:avLst/>
          </a:prstGeom>
          <a:noFill/>
          <a:ln w="6350">
            <a:solidFill>
              <a:srgbClr val="DCD8CF"/>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216900" y="1683941"/>
          <a:ext cx="3155950" cy="1930053"/>
        </p:xfrm>
        <a:graphic>
          <a:graphicData uri="http://schemas.openxmlformats.org/drawingml/2006/table">
            <a:tbl>
              <a:tblPr/>
              <a:tblGrid>
                <a:gridCol w="946785"/>
                <a:gridCol w="1104582"/>
                <a:gridCol w="1104582"/>
              </a:tblGrid>
              <a:tr h="386011">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Round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Baseline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Revised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r>
              <a:tr h="386011">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750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0.0385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0.0500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1,500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−0.0033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0.0349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2,250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0.0819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0.0275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0.1984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0.0234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20" name="Text 16"/>
          <p:cNvSpPr/>
          <p:nvPr/>
        </p:nvSpPr>
        <p:spPr>
          <a:xfrm>
            <a:off x="8204200" y="3772743"/>
            <a:ext cx="3270250" cy="126985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The baseline’s normalized pseudo-regret rises later in the campaign. The revised policy finishes with a smaller difference from the fixed stochastic oracle.</a:t>
            </a:r>
            <a:endParaRPr lang="en-US" sz="1400" dirty="0"/>
          </a:p>
        </p:txBody>
      </p:sp>
      <p:sp>
        <p:nvSpPr>
          <p:cNvPr id="21"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Sources: B2 cell 12, R2 cell 13 (saved checkpoint summaries). Comparator: true-mean LP, fixed distribution.</a:t>
            </a:r>
            <a:endParaRPr lang="en-US" sz="1200" dirty="0"/>
          </a:p>
        </p:txBody>
      </p:sp>
      <p:sp>
        <p:nvSpPr>
          <p:cNvPr id="22" name="Text 18"/>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08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SCENARIO 2 · RESULT</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The revised policy uses almost all the budget</a:t>
            </a:r>
            <a:endParaRPr lang="en-US" sz="2800" dirty="0"/>
          </a:p>
        </p:txBody>
      </p:sp>
      <p:sp>
        <p:nvSpPr>
          <p:cNvPr id="4" name="Shape 2"/>
          <p:cNvSpPr/>
          <p:nvPr/>
        </p:nvSpPr>
        <p:spPr>
          <a:xfrm>
            <a:off x="815975" y="1674416"/>
            <a:ext cx="3380284" cy="1570930"/>
          </a:xfrm>
          <a:prstGeom prst="roundRect">
            <a:avLst>
              <a:gd name="adj" fmla="val 4649"/>
            </a:avLst>
          </a:prstGeom>
          <a:solidFill>
            <a:srgbClr val="FCFBF8"/>
          </a:solidFill>
          <a:ln w="6350">
            <a:solidFill>
              <a:srgbClr val="DCD8CF"/>
            </a:solidFill>
            <a:prstDash val="solid"/>
          </a:ln>
        </p:spPr>
      </p:sp>
      <p:sp>
        <p:nvSpPr>
          <p:cNvPr id="5" name="Text 3"/>
          <p:cNvSpPr/>
          <p:nvPr/>
        </p:nvSpPr>
        <p:spPr>
          <a:xfrm>
            <a:off x="1022350" y="1855391"/>
            <a:ext cx="3056560" cy="685800"/>
          </a:xfrm>
          <a:prstGeom prst="rect">
            <a:avLst/>
          </a:prstGeom>
          <a:noFill/>
          <a:ln/>
        </p:spPr>
        <p:txBody>
          <a:bodyPr wrap="square" lIns="0" tIns="0" rIns="0" bIns="0" rtlCol="0" anchor="t">
            <a:normAutofit/>
          </a:bodyPr>
          <a:lstStyle/>
          <a:p>
            <a:pPr algn="l" indent="0" marL="0">
              <a:lnSpc>
                <a:spcPts val="5200"/>
              </a:lnSpc>
              <a:buNone/>
            </a:pPr>
            <a:r>
              <a:rPr lang="en-US" sz="5200" b="1" spc="-100" kern="0" dirty="0">
                <a:solidFill>
                  <a:srgbClr val="B8492A"/>
                </a:solidFill>
                <a:latin typeface="IBM Plex Sans" pitchFamily="34" charset="0"/>
                <a:ea typeface="IBM Plex Sans" pitchFamily="34" charset="-122"/>
                <a:cs typeface="IBM Plex Sans" pitchFamily="34" charset="-120"/>
              </a:rPr>
              <a:t>70.05</a:t>
            </a:r>
            <a:endParaRPr lang="en-US" sz="5200" dirty="0"/>
          </a:p>
        </p:txBody>
      </p:sp>
      <p:sp>
        <p:nvSpPr>
          <p:cNvPr id="6" name="Text 4"/>
          <p:cNvSpPr/>
          <p:nvPr/>
        </p:nvSpPr>
        <p:spPr>
          <a:xfrm>
            <a:off x="1022350" y="2566591"/>
            <a:ext cx="305656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final pseudo-regret, revised (baseline 595.15)</a:t>
            </a:r>
            <a:endParaRPr lang="en-US" sz="1400" dirty="0"/>
          </a:p>
        </p:txBody>
      </p:sp>
      <p:sp>
        <p:nvSpPr>
          <p:cNvPr id="7" name="Shape 5"/>
          <p:cNvSpPr/>
          <p:nvPr/>
        </p:nvSpPr>
        <p:spPr>
          <a:xfrm>
            <a:off x="4405809" y="1674416"/>
            <a:ext cx="3380333" cy="1570930"/>
          </a:xfrm>
          <a:prstGeom prst="roundRect">
            <a:avLst>
              <a:gd name="adj" fmla="val 4649"/>
            </a:avLst>
          </a:prstGeom>
          <a:solidFill>
            <a:srgbClr val="FCFBF8"/>
          </a:solidFill>
          <a:ln w="6350">
            <a:solidFill>
              <a:srgbClr val="DCD8CF"/>
            </a:solidFill>
            <a:prstDash val="solid"/>
          </a:ln>
        </p:spPr>
      </p:sp>
      <p:sp>
        <p:nvSpPr>
          <p:cNvPr id="8" name="Text 6"/>
          <p:cNvSpPr/>
          <p:nvPr/>
        </p:nvSpPr>
        <p:spPr>
          <a:xfrm>
            <a:off x="4612184" y="1855391"/>
            <a:ext cx="3056611" cy="685800"/>
          </a:xfrm>
          <a:prstGeom prst="rect">
            <a:avLst/>
          </a:prstGeom>
          <a:noFill/>
          <a:ln/>
        </p:spPr>
        <p:txBody>
          <a:bodyPr wrap="square" lIns="0" tIns="0" rIns="0" bIns="0" rtlCol="0" anchor="t">
            <a:normAutofit/>
          </a:bodyPr>
          <a:lstStyle/>
          <a:p>
            <a:pPr algn="l" indent="0" marL="0">
              <a:lnSpc>
                <a:spcPts val="5200"/>
              </a:lnSpc>
              <a:buNone/>
            </a:pPr>
            <a:r>
              <a:rPr lang="en-US" sz="5200" b="1" spc="-100" kern="0" dirty="0">
                <a:solidFill>
                  <a:srgbClr val="14263D"/>
                </a:solidFill>
                <a:latin typeface="IBM Plex Sans" pitchFamily="34" charset="0"/>
                <a:ea typeface="IBM Plex Sans" pitchFamily="34" charset="-122"/>
                <a:cs typeface="IBM Plex Sans" pitchFamily="34" charset="-120"/>
              </a:rPr>
              <a:t>95.6%</a:t>
            </a:r>
            <a:endParaRPr lang="en-US" sz="5200" dirty="0"/>
          </a:p>
        </p:txBody>
      </p:sp>
      <p:sp>
        <p:nvSpPr>
          <p:cNvPr id="9" name="Text 7"/>
          <p:cNvSpPr/>
          <p:nvPr/>
        </p:nvSpPr>
        <p:spPr>
          <a:xfrm>
            <a:off x="4612184" y="2566591"/>
            <a:ext cx="317078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of the stochastic LP’s expected utility</a:t>
            </a:r>
            <a:endParaRPr lang="en-US" sz="1400" dirty="0"/>
          </a:p>
        </p:txBody>
      </p:sp>
      <p:sp>
        <p:nvSpPr>
          <p:cNvPr id="10" name="Shape 8"/>
          <p:cNvSpPr/>
          <p:nvPr/>
        </p:nvSpPr>
        <p:spPr>
          <a:xfrm>
            <a:off x="7995692" y="1674416"/>
            <a:ext cx="3380333" cy="1570930"/>
          </a:xfrm>
          <a:prstGeom prst="roundRect">
            <a:avLst>
              <a:gd name="adj" fmla="val 4649"/>
            </a:avLst>
          </a:prstGeom>
          <a:solidFill>
            <a:srgbClr val="FCFBF8"/>
          </a:solidFill>
          <a:ln w="6350">
            <a:solidFill>
              <a:srgbClr val="DCD8CF"/>
            </a:solidFill>
            <a:prstDash val="solid"/>
          </a:ln>
        </p:spPr>
      </p:sp>
      <p:sp>
        <p:nvSpPr>
          <p:cNvPr id="11" name="Text 9"/>
          <p:cNvSpPr/>
          <p:nvPr/>
        </p:nvSpPr>
        <p:spPr>
          <a:xfrm>
            <a:off x="8202067" y="1855391"/>
            <a:ext cx="3056611" cy="685800"/>
          </a:xfrm>
          <a:prstGeom prst="rect">
            <a:avLst/>
          </a:prstGeom>
          <a:noFill/>
          <a:ln/>
        </p:spPr>
        <p:txBody>
          <a:bodyPr wrap="square" lIns="0" tIns="0" rIns="0" bIns="0" rtlCol="0" anchor="t">
            <a:normAutofit/>
          </a:bodyPr>
          <a:lstStyle/>
          <a:p>
            <a:pPr algn="l" indent="0" marL="0">
              <a:lnSpc>
                <a:spcPts val="5200"/>
              </a:lnSpc>
              <a:buNone/>
            </a:pPr>
            <a:r>
              <a:rPr lang="en-US" sz="5200" b="1" spc="-100" kern="0" dirty="0">
                <a:solidFill>
                  <a:srgbClr val="14263D"/>
                </a:solidFill>
                <a:latin typeface="IBM Plex Sans" pitchFamily="34" charset="0"/>
                <a:ea typeface="IBM Plex Sans" pitchFamily="34" charset="-122"/>
                <a:cs typeface="IBM Plex Sans" pitchFamily="34" charset="-120"/>
              </a:rPr>
              <a:t>699.84</a:t>
            </a:r>
            <a:endParaRPr lang="en-US" sz="5200" dirty="0"/>
          </a:p>
        </p:txBody>
      </p:sp>
      <p:sp>
        <p:nvSpPr>
          <p:cNvPr id="12" name="Text 10"/>
          <p:cNvSpPr/>
          <p:nvPr/>
        </p:nvSpPr>
        <p:spPr>
          <a:xfrm>
            <a:off x="8202067" y="2566591"/>
            <a:ext cx="3056611"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mean spend of 700 (baseline 698.58)</a:t>
            </a:r>
            <a:endParaRPr lang="en-US" sz="1400" dirty="0"/>
          </a:p>
        </p:txBody>
      </p:sp>
      <p:sp>
        <p:nvSpPr>
          <p:cNvPr id="13" name="Shape 11"/>
          <p:cNvSpPr/>
          <p:nvPr/>
        </p:nvSpPr>
        <p:spPr>
          <a:xfrm>
            <a:off x="11376025" y="3502521"/>
            <a:ext cx="0" cy="1177082"/>
          </a:xfrm>
          <a:prstGeom prst="line">
            <a:avLst/>
          </a:prstGeom>
          <a:noFill/>
          <a:ln w="6350">
            <a:solidFill>
              <a:srgbClr val="DCD8CF"/>
            </a:solidFill>
            <a:prstDash val="solid"/>
          </a:ln>
        </p:spPr>
      </p:sp>
      <p:sp>
        <p:nvSpPr>
          <p:cNvPr id="14" name="Shape 12"/>
          <p:cNvSpPr/>
          <p:nvPr/>
        </p:nvSpPr>
        <p:spPr>
          <a:xfrm>
            <a:off x="812800" y="4676428"/>
            <a:ext cx="10566400" cy="0"/>
          </a:xfrm>
          <a:prstGeom prst="line">
            <a:avLst/>
          </a:prstGeom>
          <a:noFill/>
          <a:ln w="6350">
            <a:solidFill>
              <a:srgbClr val="DCD8CF"/>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5500" y="3515221"/>
          <a:ext cx="10547350" cy="1158032"/>
        </p:xfrm>
        <a:graphic>
          <a:graphicData uri="http://schemas.openxmlformats.org/drawingml/2006/table">
            <a:tbl>
              <a:tblPr/>
              <a:tblGrid>
                <a:gridCol w="3164205"/>
                <a:gridCol w="1898523"/>
                <a:gridCol w="1898523"/>
                <a:gridCol w="1687576"/>
                <a:gridCol w="1898523"/>
              </a:tblGrid>
              <a:tr h="386011">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Policy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Final pseudo-regret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Final realized regret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Mean utility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Mean spend / 700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Combinatorial-UCB baseline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595.15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596.32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1047.22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698.58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Revised KL-UCB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70.05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73.09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1570.45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699.84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r>
            </a:tbl>
          </a:graphicData>
        </a:graphic>
      </p:graphicFrame>
      <p:sp>
        <p:nvSpPr>
          <p:cNvPr id="16" name="Text 13"/>
          <p:cNvSpPr/>
          <p:nvPr/>
        </p:nvSpPr>
        <p:spPr>
          <a:xfrm>
            <a:off x="812800" y="4933603"/>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Saved mean pseudo-regret 70.054544, or 70.1 at one decimal. Pseudo-regret is the main measure; the sampled clairvoyant policy’s realized utility is not the LP objective.</a:t>
            </a:r>
            <a:endParaRPr lang="en-US" sz="1200" dirty="0"/>
          </a:p>
        </p:txBody>
      </p:sp>
      <p:sp>
        <p:nvSpPr>
          <p:cNvPr id="17" name="Text 1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20 paired trials. Source: R2 cell 13, corroborated by B2 cell 12. Oracle LP: R2 cell 7.</a:t>
            </a:r>
            <a:endParaRPr lang="en-US" sz="1200" dirty="0"/>
          </a:p>
        </p:txBody>
      </p:sp>
      <p:sp>
        <p:nvSpPr>
          <p:cNvPr id="18" name="Text 1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09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SCENARIO 3 · PRIMAL-DUAL CONTROL</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Primal-dual control sets a price for spending</a:t>
            </a:r>
            <a:endParaRPr lang="en-US" sz="2800" dirty="0"/>
          </a:p>
        </p:txBody>
      </p:sp>
      <p:sp>
        <p:nvSpPr>
          <p:cNvPr id="4" name="Text 2"/>
          <p:cNvSpPr/>
          <p:nvPr/>
        </p:nvSpPr>
        <p:spPr>
          <a:xfrm>
            <a:off x="812800" y="1671241"/>
            <a:ext cx="470916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Full feedback makes every feasible combination’s reward and cost available after acting. Hedge chooses a distribution over combinations; a dual multiplier λ raises the penalty for spending.</a:t>
            </a:r>
            <a:endParaRPr lang="en-US" sz="1400" dirty="0"/>
          </a:p>
        </p:txBody>
      </p:sp>
      <p:sp>
        <p:nvSpPr>
          <p:cNvPr id="5" name="Shape 3"/>
          <p:cNvSpPr/>
          <p:nvPr/>
        </p:nvSpPr>
        <p:spPr>
          <a:xfrm>
            <a:off x="815975" y="2873177"/>
            <a:ext cx="4565650" cy="923230"/>
          </a:xfrm>
          <a:prstGeom prst="roundRect">
            <a:avLst>
              <a:gd name="adj" fmla="val 7910"/>
            </a:avLst>
          </a:prstGeom>
          <a:solidFill>
            <a:srgbClr val="FCFBF8"/>
          </a:solidFill>
          <a:ln w="6350">
            <a:solidFill>
              <a:srgbClr val="DCD8CF"/>
            </a:solidFill>
            <a:prstDash val="solid"/>
          </a:ln>
        </p:spPr>
      </p:sp>
      <p:sp>
        <p:nvSpPr>
          <p:cNvPr id="6" name="Text 4"/>
          <p:cNvSpPr/>
          <p:nvPr/>
        </p:nvSpPr>
        <p:spPr>
          <a:xfrm>
            <a:off x="1022350" y="3054152"/>
            <a:ext cx="4277487"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B7A"/>
                </a:solidFill>
                <a:latin typeface="IBM Plex Mono" pitchFamily="49" charset="0"/>
                <a:ea typeface="IBM Plex Mono" pitchFamily="49" charset="-122"/>
                <a:cs typeface="IBM Plex Mono" pitchFamily="49" charset="-120"/>
              </a:rPr>
              <a:t>LAGRANGIAN SCORED BY HEDGE</a:t>
            </a:r>
            <a:endParaRPr lang="en-US" sz="1200" dirty="0"/>
          </a:p>
        </p:txBody>
      </p:sp>
      <p:sp>
        <p:nvSpPr>
          <p:cNvPr id="7" name="Text 5"/>
          <p:cNvSpPr/>
          <p:nvPr/>
        </p:nvSpPr>
        <p:spPr>
          <a:xfrm>
            <a:off x="1022350" y="3318272"/>
            <a:ext cx="4277487" cy="322560"/>
          </a:xfrm>
          <a:prstGeom prst="rect">
            <a:avLst/>
          </a:prstGeom>
          <a:noFill/>
          <a:ln/>
        </p:spPr>
        <p:txBody>
          <a:bodyPr wrap="square" lIns="0" tIns="0" rIns="0" bIns="0" rtlCol="0" anchor="t">
            <a:normAutofit/>
          </a:bodyPr>
          <a:lstStyle/>
          <a:p>
            <a:pPr algn="l" indent="0" marL="0">
              <a:lnSpc>
                <a:spcPts val="2340"/>
              </a:lnSpc>
              <a:buNone/>
            </a:pPr>
            <a:r>
              <a:rPr lang="en-US" sz="1800" i="1" dirty="0">
                <a:solidFill>
                  <a:srgbClr val="14263D"/>
                </a:solidFill>
                <a:latin typeface="STIX Two Text" pitchFamily="18" charset="0"/>
                <a:ea typeface="STIX Two Text" pitchFamily="18" charset="-122"/>
                <a:cs typeface="STIX Two Text" pitchFamily="18" charset="-120"/>
              </a:rPr>
              <a:t>Lₜ(a) = fₜ(a) − λₜ (cₜ(a) − ρ)</a:t>
            </a:r>
            <a:endParaRPr lang="en-US" sz="1800" dirty="0"/>
          </a:p>
        </p:txBody>
      </p:sp>
      <p:sp>
        <p:nvSpPr>
          <p:cNvPr id="8" name="Text 6"/>
          <p:cNvSpPr/>
          <p:nvPr/>
        </p:nvSpPr>
        <p:spPr>
          <a:xfrm>
            <a:off x="812800" y="4002782"/>
            <a:ext cx="470916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6546A"/>
                </a:solidFill>
                <a:latin typeface="IBM Plex Sans" pitchFamily="34" charset="0"/>
                <a:ea typeface="IBM Plex Sans" pitchFamily="34" charset="-122"/>
                <a:cs typeface="IBM Plex Sans" pitchFamily="34" charset="-120"/>
              </a:rPr>
              <a:t>Baseline:</a:t>
            </a:r>
            <a:r>
              <a:rPr lang="en-US" sz="1400" dirty="0">
                <a:solidFill>
                  <a:srgbClr val="46546A"/>
                </a:solidFill>
                <a:latin typeface="IBM Plex Sans" pitchFamily="34" charset="0"/>
                <a:ea typeface="IBM Plex Sans" pitchFamily="34" charset="-122"/>
                <a:cs typeface="IBM Plex Sans" pitchFamily="34" charset="-120"/>
              </a:rPr>
              <a:t> conservative update rates leave budget unused.</a:t>
            </a:r>
            <a:endParaRPr lang="en-US" sz="1400" dirty="0"/>
          </a:p>
        </p:txBody>
      </p:sp>
      <p:sp>
        <p:nvSpPr>
          <p:cNvPr id="9" name="Text 7"/>
          <p:cNvSpPr/>
          <p:nvPr/>
        </p:nvSpPr>
        <p:spPr>
          <a:xfrm>
            <a:off x="812800" y="4602163"/>
            <a:ext cx="470916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92A"/>
                </a:solidFill>
                <a:latin typeface="IBM Plex Sans" pitchFamily="34" charset="0"/>
                <a:ea typeface="IBM Plex Sans" pitchFamily="34" charset="-122"/>
                <a:cs typeface="IBM Plex Sans" pitchFamily="34" charset="-120"/>
              </a:rPr>
              <a:t>Revision:</a:t>
            </a:r>
            <a:r>
              <a:rPr lang="en-US" sz="1400" dirty="0">
                <a:solidFill>
                  <a:srgbClr val="46546A"/>
                </a:solidFill>
                <a:latin typeface="IBM Plex Sans" pitchFamily="34" charset="0"/>
                <a:ea typeface="IBM Plex Sans" pitchFamily="34" charset="-122"/>
                <a:cs typeface="IBM Plex Sans" pitchFamily="34" charset="-120"/>
              </a:rPr>
              <a:t> Hedge and dual rates calibrated to their update ranges.</a:t>
            </a:r>
            <a:endParaRPr lang="en-US" sz="1400" dirty="0"/>
          </a:p>
        </p:txBody>
      </p:sp>
      <p:sp>
        <p:nvSpPr>
          <p:cNvPr id="10" name="Shape 8"/>
          <p:cNvSpPr/>
          <p:nvPr/>
        </p:nvSpPr>
        <p:spPr>
          <a:xfrm>
            <a:off x="5794375" y="1674416"/>
            <a:ext cx="2406650" cy="1390650"/>
          </a:xfrm>
          <a:prstGeom prst="roundRect">
            <a:avLst>
              <a:gd name="adj" fmla="val 5251"/>
            </a:avLst>
          </a:prstGeom>
          <a:solidFill>
            <a:srgbClr val="FCFBF8"/>
          </a:solidFill>
          <a:ln w="6350">
            <a:solidFill>
              <a:srgbClr val="DCD8CF"/>
            </a:solidFill>
            <a:prstDash val="solid"/>
          </a:ln>
        </p:spPr>
      </p:sp>
      <p:sp>
        <p:nvSpPr>
          <p:cNvPr id="11" name="Text 9"/>
          <p:cNvSpPr/>
          <p:nvPr/>
        </p:nvSpPr>
        <p:spPr>
          <a:xfrm>
            <a:off x="5949950" y="1829991"/>
            <a:ext cx="21583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92A"/>
                </a:solidFill>
                <a:latin typeface="IBM Plex Mono" pitchFamily="49" charset="0"/>
                <a:ea typeface="IBM Plex Mono" pitchFamily="49" charset="-122"/>
                <a:cs typeface="IBM Plex Mono" pitchFamily="49" charset="-120"/>
              </a:rPr>
              <a:t>1 · PRIMAL</a:t>
            </a:r>
            <a:endParaRPr lang="en-US" sz="1200" dirty="0"/>
          </a:p>
        </p:txBody>
      </p:sp>
      <p:sp>
        <p:nvSpPr>
          <p:cNvPr id="12" name="Text 10"/>
          <p:cNvSpPr/>
          <p:nvPr/>
        </p:nvSpPr>
        <p:spPr>
          <a:xfrm>
            <a:off x="5949950" y="2094111"/>
            <a:ext cx="215836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Hedge proposes a distribution over the 250 combinations</a:t>
            </a:r>
            <a:endParaRPr lang="en-US" sz="1400" dirty="0"/>
          </a:p>
        </p:txBody>
      </p:sp>
      <p:sp>
        <p:nvSpPr>
          <p:cNvPr id="13" name="Shape 11"/>
          <p:cNvSpPr/>
          <p:nvPr/>
        </p:nvSpPr>
        <p:spPr>
          <a:xfrm>
            <a:off x="8969375" y="1674416"/>
            <a:ext cx="2406650" cy="1390650"/>
          </a:xfrm>
          <a:prstGeom prst="roundRect">
            <a:avLst>
              <a:gd name="adj" fmla="val 5251"/>
            </a:avLst>
          </a:prstGeom>
          <a:solidFill>
            <a:srgbClr val="FCFBF8"/>
          </a:solidFill>
          <a:ln w="6350">
            <a:solidFill>
              <a:srgbClr val="DCD8CF"/>
            </a:solidFill>
            <a:prstDash val="solid"/>
          </a:ln>
        </p:spPr>
      </p:sp>
      <p:sp>
        <p:nvSpPr>
          <p:cNvPr id="14" name="Text 12"/>
          <p:cNvSpPr/>
          <p:nvPr/>
        </p:nvSpPr>
        <p:spPr>
          <a:xfrm>
            <a:off x="9124950" y="1829991"/>
            <a:ext cx="21583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92A"/>
                </a:solidFill>
                <a:latin typeface="IBM Plex Mono" pitchFamily="49" charset="0"/>
                <a:ea typeface="IBM Plex Mono" pitchFamily="49" charset="-122"/>
                <a:cs typeface="IBM Plex Mono" pitchFamily="49" charset="-120"/>
              </a:rPr>
              <a:t>2 · ACT</a:t>
            </a:r>
            <a:endParaRPr lang="en-US" sz="1200" dirty="0"/>
          </a:p>
        </p:txBody>
      </p:sp>
      <p:sp>
        <p:nvSpPr>
          <p:cNvPr id="15" name="Text 13"/>
          <p:cNvSpPr/>
          <p:nvPr/>
        </p:nvSpPr>
        <p:spPr>
          <a:xfrm>
            <a:off x="9124950" y="2094111"/>
            <a:ext cx="215836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Sample one combination and bid; a budget guard keeps it affordable</a:t>
            </a:r>
            <a:endParaRPr lang="en-US" sz="1400" dirty="0"/>
          </a:p>
        </p:txBody>
      </p:sp>
      <p:sp>
        <p:nvSpPr>
          <p:cNvPr id="16" name="Shape 14"/>
          <p:cNvSpPr/>
          <p:nvPr/>
        </p:nvSpPr>
        <p:spPr>
          <a:xfrm>
            <a:off x="8969375" y="4087416"/>
            <a:ext cx="2406650" cy="1390650"/>
          </a:xfrm>
          <a:prstGeom prst="roundRect">
            <a:avLst>
              <a:gd name="adj" fmla="val 5251"/>
            </a:avLst>
          </a:prstGeom>
          <a:solidFill>
            <a:srgbClr val="FCFBF8"/>
          </a:solidFill>
          <a:ln w="6350">
            <a:solidFill>
              <a:srgbClr val="DCD8CF"/>
            </a:solidFill>
            <a:prstDash val="solid"/>
          </a:ln>
        </p:spPr>
      </p:sp>
      <p:sp>
        <p:nvSpPr>
          <p:cNvPr id="17" name="Text 15"/>
          <p:cNvSpPr/>
          <p:nvPr/>
        </p:nvSpPr>
        <p:spPr>
          <a:xfrm>
            <a:off x="9124950" y="4242991"/>
            <a:ext cx="21583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92A"/>
                </a:solidFill>
                <a:latin typeface="IBM Plex Mono" pitchFamily="49" charset="0"/>
                <a:ea typeface="IBM Plex Mono" pitchFamily="49" charset="-122"/>
                <a:cs typeface="IBM Plex Mono" pitchFamily="49" charset="-120"/>
              </a:rPr>
              <a:t>3 · OBSERVE</a:t>
            </a:r>
            <a:endParaRPr lang="en-US" sz="1200" dirty="0"/>
          </a:p>
        </p:txBody>
      </p:sp>
      <p:sp>
        <p:nvSpPr>
          <p:cNvPr id="18" name="Text 16"/>
          <p:cNvSpPr/>
          <p:nvPr/>
        </p:nvSpPr>
        <p:spPr>
          <a:xfrm>
            <a:off x="9124950" y="4507111"/>
            <a:ext cx="215836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Full feedback: reward and cost of every combination</a:t>
            </a:r>
            <a:endParaRPr lang="en-US" sz="1400" dirty="0"/>
          </a:p>
        </p:txBody>
      </p:sp>
      <p:sp>
        <p:nvSpPr>
          <p:cNvPr id="19" name="Shape 17"/>
          <p:cNvSpPr/>
          <p:nvPr/>
        </p:nvSpPr>
        <p:spPr>
          <a:xfrm>
            <a:off x="5794375" y="4087416"/>
            <a:ext cx="2406650" cy="1390650"/>
          </a:xfrm>
          <a:prstGeom prst="roundRect">
            <a:avLst>
              <a:gd name="adj" fmla="val 5251"/>
            </a:avLst>
          </a:prstGeom>
          <a:solidFill>
            <a:srgbClr val="FCFBF8"/>
          </a:solidFill>
          <a:ln w="6350">
            <a:solidFill>
              <a:srgbClr val="DCD8CF"/>
            </a:solidFill>
            <a:prstDash val="solid"/>
          </a:ln>
        </p:spPr>
      </p:sp>
      <p:sp>
        <p:nvSpPr>
          <p:cNvPr id="20" name="Text 18"/>
          <p:cNvSpPr/>
          <p:nvPr/>
        </p:nvSpPr>
        <p:spPr>
          <a:xfrm>
            <a:off x="5949950" y="4242991"/>
            <a:ext cx="21583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92A"/>
                </a:solidFill>
                <a:latin typeface="IBM Plex Mono" pitchFamily="49" charset="0"/>
                <a:ea typeface="IBM Plex Mono" pitchFamily="49" charset="-122"/>
                <a:cs typeface="IBM Plex Mono" pitchFamily="49" charset="-120"/>
              </a:rPr>
              <a:t>4 · DUAL</a:t>
            </a:r>
            <a:endParaRPr lang="en-US" sz="1200" dirty="0"/>
          </a:p>
        </p:txBody>
      </p:sp>
      <p:sp>
        <p:nvSpPr>
          <p:cNvPr id="21" name="Text 19"/>
          <p:cNvSpPr/>
          <p:nvPr/>
        </p:nvSpPr>
        <p:spPr>
          <a:xfrm>
            <a:off x="5949950" y="4507111"/>
            <a:ext cx="2158365"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Raise λ when cost exceeds ρ, lower it otherwise</a:t>
            </a:r>
            <a:endParaRPr lang="en-US" sz="1400" dirty="0"/>
          </a:p>
        </p:txBody>
      </p:sp>
      <p:pic>
        <p:nvPicPr>
          <p:cNvPr id="22" name="Image 0" descr="connector">    </p:cNvPr>
          <p:cNvPicPr>
            <a:picLocks noChangeAspect="1"/>
          </p:cNvPicPr>
          <p:nvPr/>
        </p:nvPicPr>
        <p:blipFill>
          <a:blip r:embed="rId1"/>
          <a:srcRect l="0" r="0" t="0" b="0"/>
          <a:stretch/>
        </p:blipFill>
        <p:spPr>
          <a:xfrm>
            <a:off x="8153400" y="2318941"/>
            <a:ext cx="863600" cy="101600"/>
          </a:xfrm>
          <a:prstGeom prst="rect">
            <a:avLst/>
          </a:prstGeom>
        </p:spPr>
      </p:pic>
      <p:pic>
        <p:nvPicPr>
          <p:cNvPr id="23" name="Image 1" descr="connector">    </p:cNvPr>
          <p:cNvPicPr>
            <a:picLocks noChangeAspect="1"/>
          </p:cNvPicPr>
          <p:nvPr/>
        </p:nvPicPr>
        <p:blipFill>
          <a:blip r:embed="rId2"/>
          <a:srcRect l="0" r="0" t="0" b="0"/>
          <a:stretch/>
        </p:blipFill>
        <p:spPr>
          <a:xfrm>
            <a:off x="10121900" y="3017441"/>
            <a:ext cx="101600" cy="1117600"/>
          </a:xfrm>
          <a:prstGeom prst="rect">
            <a:avLst/>
          </a:prstGeom>
        </p:spPr>
      </p:pic>
      <p:pic>
        <p:nvPicPr>
          <p:cNvPr id="24" name="Image 2" descr="connector">    </p:cNvPr>
          <p:cNvPicPr>
            <a:picLocks noChangeAspect="1"/>
          </p:cNvPicPr>
          <p:nvPr/>
        </p:nvPicPr>
        <p:blipFill>
          <a:blip r:embed="rId3"/>
          <a:srcRect l="0" r="0" t="0" b="0"/>
          <a:stretch/>
        </p:blipFill>
        <p:spPr>
          <a:xfrm>
            <a:off x="8153400" y="4731941"/>
            <a:ext cx="863600" cy="101600"/>
          </a:xfrm>
          <a:prstGeom prst="rect">
            <a:avLst/>
          </a:prstGeom>
        </p:spPr>
      </p:pic>
      <p:pic>
        <p:nvPicPr>
          <p:cNvPr id="25" name="Image 3" descr="connector">    </p:cNvPr>
          <p:cNvPicPr>
            <a:picLocks noChangeAspect="1"/>
          </p:cNvPicPr>
          <p:nvPr/>
        </p:nvPicPr>
        <p:blipFill>
          <a:blip r:embed="rId4"/>
          <a:srcRect l="0" r="0" t="0" b="0"/>
          <a:stretch/>
        </p:blipFill>
        <p:spPr>
          <a:xfrm>
            <a:off x="6946900" y="3017441"/>
            <a:ext cx="101600" cy="1117600"/>
          </a:xfrm>
          <a:prstGeom prst="rect">
            <a:avLst/>
          </a:prstGeom>
        </p:spPr>
      </p:pic>
      <p:sp>
        <p:nvSpPr>
          <p:cNvPr id="26" name="Text 2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Sources: B3 cells 6, 8, 10 · R3 cells 1, 3, 5, 7, 8, 10, 12. Same instance as Scenario 2: T = 3,000, B = 700.</a:t>
            </a:r>
            <a:endParaRPr lang="en-US" sz="1200" dirty="0"/>
          </a:p>
        </p:txBody>
      </p:sp>
      <p:sp>
        <p:nvSpPr>
          <p:cNvPr id="27" name="Text 21"/>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10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SCENARIO 3 · RESULT</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Calibrated rates improve both tested environments</a:t>
            </a:r>
            <a:endParaRPr lang="en-US" sz="2800" dirty="0"/>
          </a:p>
        </p:txBody>
      </p:sp>
      <p:sp>
        <p:nvSpPr>
          <p:cNvPr id="4" name="Shape 2"/>
          <p:cNvSpPr/>
          <p:nvPr/>
        </p:nvSpPr>
        <p:spPr>
          <a:xfrm>
            <a:off x="11376025" y="1671241"/>
            <a:ext cx="0" cy="1949103"/>
          </a:xfrm>
          <a:prstGeom prst="line">
            <a:avLst/>
          </a:prstGeom>
          <a:noFill/>
          <a:ln w="6350">
            <a:solidFill>
              <a:srgbClr val="DCD8CF"/>
            </a:solidFill>
            <a:prstDash val="solid"/>
          </a:ln>
        </p:spPr>
      </p:sp>
      <p:sp>
        <p:nvSpPr>
          <p:cNvPr id="5" name="Shape 3"/>
          <p:cNvSpPr/>
          <p:nvPr/>
        </p:nvSpPr>
        <p:spPr>
          <a:xfrm>
            <a:off x="812800" y="3617168"/>
            <a:ext cx="10566400" cy="0"/>
          </a:xfrm>
          <a:prstGeom prst="line">
            <a:avLst/>
          </a:prstGeom>
          <a:noFill/>
          <a:ln w="6350">
            <a:solidFill>
              <a:srgbClr val="DCD8CF"/>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683941"/>
          <a:ext cx="10547350" cy="1930053"/>
        </p:xfrm>
        <a:graphic>
          <a:graphicData uri="http://schemas.openxmlformats.org/drawingml/2006/table">
            <a:tbl>
              <a:tblPr/>
              <a:tblGrid>
                <a:gridCol w="2742311"/>
                <a:gridCol w="1687576"/>
                <a:gridCol w="2320417"/>
                <a:gridCol w="1898523"/>
                <a:gridCol w="1898523"/>
              </a:tblGrid>
              <a:tr h="386011">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Environment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Version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Pseudo-regret / round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Realized utility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Mean spend / 700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Stochastic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Baseline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0.249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895.8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568.6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Stochastic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Calibrated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0.121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1287.9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675.8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Changing sequence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B8B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Baseline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B8B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0.222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B8B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835.4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B8B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557.6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B8B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Changing sequence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Calibrated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0.134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1100.0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596.8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r>
            </a:tbl>
          </a:graphicData>
        </a:graphic>
      </p:graphicFrame>
      <p:sp>
        <p:nvSpPr>
          <p:cNvPr id="7" name="Text 4"/>
          <p:cNvSpPr/>
          <p:nvPr/>
        </p:nvSpPr>
        <p:spPr>
          <a:xfrm>
            <a:off x="812800" y="3874343"/>
            <a:ext cx="7063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Pseudo-regret per round · lower is better</a:t>
            </a:r>
            <a:endParaRPr lang="en-US" sz="1200" dirty="0"/>
          </a:p>
        </p:txBody>
      </p:sp>
      <p:sp>
        <p:nvSpPr>
          <p:cNvPr id="8" name="Text 5"/>
          <p:cNvSpPr/>
          <p:nvPr/>
        </p:nvSpPr>
        <p:spPr>
          <a:xfrm>
            <a:off x="812800" y="4327674"/>
            <a:ext cx="1574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63D"/>
                </a:solidFill>
                <a:latin typeface="IBM Plex Sans" pitchFamily="34" charset="0"/>
                <a:ea typeface="IBM Plex Sans" pitchFamily="34" charset="-122"/>
                <a:cs typeface="IBM Plex Sans" pitchFamily="34" charset="-120"/>
              </a:rPr>
              <a:t>Stochastic</a:t>
            </a:r>
            <a:endParaRPr lang="en-US" sz="1400" dirty="0"/>
          </a:p>
        </p:txBody>
      </p:sp>
      <p:sp>
        <p:nvSpPr>
          <p:cNvPr id="9" name="Shape 6"/>
          <p:cNvSpPr/>
          <p:nvPr/>
        </p:nvSpPr>
        <p:spPr>
          <a:xfrm>
            <a:off x="2495550" y="4163864"/>
            <a:ext cx="0" cy="558800"/>
          </a:xfrm>
          <a:prstGeom prst="line">
            <a:avLst/>
          </a:prstGeom>
          <a:noFill/>
          <a:ln w="12700">
            <a:solidFill>
              <a:srgbClr val="14263D"/>
            </a:solidFill>
            <a:prstDash val="solid"/>
          </a:ln>
        </p:spPr>
      </p:sp>
      <p:sp>
        <p:nvSpPr>
          <p:cNvPr id="10" name="Shape 7"/>
          <p:cNvSpPr/>
          <p:nvPr/>
        </p:nvSpPr>
        <p:spPr>
          <a:xfrm>
            <a:off x="2501900" y="4163864"/>
            <a:ext cx="3479800" cy="254000"/>
          </a:xfrm>
          <a:prstGeom prst="rect">
            <a:avLst/>
          </a:prstGeom>
          <a:solidFill>
            <a:srgbClr val="A9B4C2"/>
          </a:solidFill>
          <a:ln/>
        </p:spPr>
      </p:sp>
      <p:sp>
        <p:nvSpPr>
          <p:cNvPr id="11" name="Text 8"/>
          <p:cNvSpPr/>
          <p:nvPr/>
        </p:nvSpPr>
        <p:spPr>
          <a:xfrm>
            <a:off x="6083300" y="4175274"/>
            <a:ext cx="144446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B7A"/>
                </a:solidFill>
                <a:latin typeface="IBM Plex Sans" pitchFamily="34" charset="0"/>
                <a:ea typeface="IBM Plex Sans" pitchFamily="34" charset="-122"/>
                <a:cs typeface="IBM Plex Sans" pitchFamily="34" charset="-120"/>
              </a:rPr>
              <a:t>Baseline 0.249</a:t>
            </a:r>
            <a:endParaRPr lang="en-US" sz="1400" dirty="0"/>
          </a:p>
        </p:txBody>
      </p:sp>
      <p:sp>
        <p:nvSpPr>
          <p:cNvPr id="12" name="Shape 9"/>
          <p:cNvSpPr/>
          <p:nvPr/>
        </p:nvSpPr>
        <p:spPr>
          <a:xfrm>
            <a:off x="2501900" y="4468664"/>
            <a:ext cx="1689100" cy="254000"/>
          </a:xfrm>
          <a:prstGeom prst="rect">
            <a:avLst/>
          </a:prstGeom>
          <a:solidFill>
            <a:srgbClr val="B8492A"/>
          </a:solidFill>
          <a:ln/>
        </p:spPr>
      </p:sp>
      <p:sp>
        <p:nvSpPr>
          <p:cNvPr id="13" name="Text 10"/>
          <p:cNvSpPr/>
          <p:nvPr/>
        </p:nvSpPr>
        <p:spPr>
          <a:xfrm>
            <a:off x="4292600" y="4480074"/>
            <a:ext cx="165776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8492A"/>
                </a:solidFill>
                <a:latin typeface="IBM Plex Sans" pitchFamily="34" charset="0"/>
                <a:ea typeface="IBM Plex Sans" pitchFamily="34" charset="-122"/>
                <a:cs typeface="IBM Plex Sans" pitchFamily="34" charset="-120"/>
              </a:rPr>
              <a:t>Calibrated 0.121</a:t>
            </a:r>
            <a:endParaRPr lang="en-US" sz="1400" dirty="0"/>
          </a:p>
        </p:txBody>
      </p:sp>
      <p:sp>
        <p:nvSpPr>
          <p:cNvPr id="14" name="Text 11"/>
          <p:cNvSpPr/>
          <p:nvPr/>
        </p:nvSpPr>
        <p:spPr>
          <a:xfrm>
            <a:off x="812800" y="4923334"/>
            <a:ext cx="1574800"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63D"/>
                </a:solidFill>
                <a:latin typeface="IBM Plex Sans" pitchFamily="34" charset="0"/>
                <a:ea typeface="IBM Plex Sans" pitchFamily="34" charset="-122"/>
                <a:cs typeface="IBM Plex Sans" pitchFamily="34" charset="-120"/>
              </a:rPr>
              <a:t>Changing sequence</a:t>
            </a:r>
            <a:endParaRPr lang="en-US" sz="1400" dirty="0"/>
          </a:p>
        </p:txBody>
      </p:sp>
      <p:sp>
        <p:nvSpPr>
          <p:cNvPr id="15" name="Shape 12"/>
          <p:cNvSpPr/>
          <p:nvPr/>
        </p:nvSpPr>
        <p:spPr>
          <a:xfrm>
            <a:off x="2495550" y="4875064"/>
            <a:ext cx="0" cy="558800"/>
          </a:xfrm>
          <a:prstGeom prst="line">
            <a:avLst/>
          </a:prstGeom>
          <a:noFill/>
          <a:ln w="12700">
            <a:solidFill>
              <a:srgbClr val="14263D"/>
            </a:solidFill>
            <a:prstDash val="solid"/>
          </a:ln>
        </p:spPr>
      </p:sp>
      <p:sp>
        <p:nvSpPr>
          <p:cNvPr id="16" name="Shape 13"/>
          <p:cNvSpPr/>
          <p:nvPr/>
        </p:nvSpPr>
        <p:spPr>
          <a:xfrm>
            <a:off x="2501900" y="4875064"/>
            <a:ext cx="3098800" cy="254000"/>
          </a:xfrm>
          <a:prstGeom prst="rect">
            <a:avLst/>
          </a:prstGeom>
          <a:solidFill>
            <a:srgbClr val="A9B4C2"/>
          </a:solidFill>
          <a:ln/>
        </p:spPr>
      </p:sp>
      <p:sp>
        <p:nvSpPr>
          <p:cNvPr id="17" name="Text 14"/>
          <p:cNvSpPr/>
          <p:nvPr/>
        </p:nvSpPr>
        <p:spPr>
          <a:xfrm>
            <a:off x="5702300" y="4886474"/>
            <a:ext cx="144446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B7A"/>
                </a:solidFill>
                <a:latin typeface="IBM Plex Sans" pitchFamily="34" charset="0"/>
                <a:ea typeface="IBM Plex Sans" pitchFamily="34" charset="-122"/>
                <a:cs typeface="IBM Plex Sans" pitchFamily="34" charset="-120"/>
              </a:rPr>
              <a:t>Baseline 0.222</a:t>
            </a:r>
            <a:endParaRPr lang="en-US" sz="1400" dirty="0"/>
          </a:p>
        </p:txBody>
      </p:sp>
      <p:sp>
        <p:nvSpPr>
          <p:cNvPr id="18" name="Shape 15"/>
          <p:cNvSpPr/>
          <p:nvPr/>
        </p:nvSpPr>
        <p:spPr>
          <a:xfrm>
            <a:off x="2501900" y="5179864"/>
            <a:ext cx="1873250" cy="254000"/>
          </a:xfrm>
          <a:prstGeom prst="rect">
            <a:avLst/>
          </a:prstGeom>
          <a:solidFill>
            <a:srgbClr val="B8492A"/>
          </a:solidFill>
          <a:ln/>
        </p:spPr>
      </p:sp>
      <p:sp>
        <p:nvSpPr>
          <p:cNvPr id="19" name="Text 16"/>
          <p:cNvSpPr/>
          <p:nvPr/>
        </p:nvSpPr>
        <p:spPr>
          <a:xfrm>
            <a:off x="4476750" y="5191274"/>
            <a:ext cx="1657767"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8492A"/>
                </a:solidFill>
                <a:latin typeface="IBM Plex Sans" pitchFamily="34" charset="0"/>
                <a:ea typeface="IBM Plex Sans" pitchFamily="34" charset="-122"/>
                <a:cs typeface="IBM Plex Sans" pitchFamily="34" charset="-120"/>
              </a:rPr>
              <a:t>Calibrated 0.134</a:t>
            </a:r>
            <a:endParaRPr lang="en-US" sz="1400" dirty="0"/>
          </a:p>
        </p:txBody>
      </p:sp>
      <p:sp>
        <p:nvSpPr>
          <p:cNvPr id="20" name="Text 17"/>
          <p:cNvSpPr/>
          <p:nvPr/>
        </p:nvSpPr>
        <p:spPr>
          <a:xfrm>
            <a:off x="8026400" y="3874343"/>
            <a:ext cx="3453384"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10-trial paired comparisons against the best fixed distribution in hindsight. All main runs satisfy the hard budget.</a:t>
            </a:r>
            <a:endParaRPr lang="en-US" sz="1400" dirty="0"/>
          </a:p>
        </p:txBody>
      </p:sp>
      <p:sp>
        <p:nvSpPr>
          <p:cNvPr id="21" name="Text 18"/>
          <p:cNvSpPr/>
          <p:nvPr/>
        </p:nvSpPr>
        <p:spPr>
          <a:xfrm>
            <a:off x="8026400" y="4722614"/>
            <a:ext cx="345338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Pseudo-regret uses proposed distributions; utility and spend use executed actions.</a:t>
            </a:r>
            <a:endParaRPr lang="en-US" sz="1200" dirty="0"/>
          </a:p>
        </p:txBody>
      </p:sp>
      <p:sp>
        <p:nvSpPr>
          <p:cNvPr id="22" name="Text 1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10 paired trials per environment. Sources: R3 cells 14, 17. Not comparable with Scenario 2 values.</a:t>
            </a:r>
            <a:endParaRPr lang="en-US" sz="1200" dirty="0"/>
          </a:p>
        </p:txBody>
      </p:sp>
      <p:sp>
        <p:nvSpPr>
          <p:cNvPr id="23" name="Text 20"/>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11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SCENARIO 4 · CHANGING MARKETS</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Changing markets require learning again</a:t>
            </a:r>
            <a:endParaRPr lang="en-US" sz="2800" dirty="0"/>
          </a:p>
        </p:txBody>
      </p:sp>
      <p:sp>
        <p:nvSpPr>
          <p:cNvPr id="4" name="Text 2"/>
          <p:cNvSpPr/>
          <p:nvPr/>
        </p:nvSpPr>
        <p:spPr>
          <a:xfrm>
            <a:off x="812800" y="1620441"/>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Competitor distributions change across three 1,000-round segments. A bid that was useful earlier may become expensive later, so information has a limited lifetime.</a:t>
            </a:r>
            <a:endParaRPr lang="en-US" sz="1400" dirty="0"/>
          </a:p>
        </p:txBody>
      </p:sp>
      <p:sp>
        <p:nvSpPr>
          <p:cNvPr id="5" name="Shape 3"/>
          <p:cNvSpPr/>
          <p:nvPr/>
        </p:nvSpPr>
        <p:spPr>
          <a:xfrm>
            <a:off x="815975" y="2324596"/>
            <a:ext cx="3515767" cy="1088281"/>
          </a:xfrm>
          <a:prstGeom prst="rect">
            <a:avLst/>
          </a:prstGeom>
          <a:solidFill>
            <a:srgbClr val="FCFBF8"/>
          </a:solidFill>
          <a:ln w="6350">
            <a:solidFill>
              <a:srgbClr val="DCD8CF"/>
            </a:solidFill>
            <a:prstDash val="solid"/>
          </a:ln>
        </p:spPr>
      </p:sp>
      <p:sp>
        <p:nvSpPr>
          <p:cNvPr id="6" name="Text 4"/>
          <p:cNvSpPr/>
          <p:nvPr/>
        </p:nvSpPr>
        <p:spPr>
          <a:xfrm>
            <a:off x="1022350" y="2480171"/>
            <a:ext cx="3196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ROUNDS 1–1,000</a:t>
            </a:r>
            <a:endParaRPr lang="en-US" sz="1200" dirty="0"/>
          </a:p>
        </p:txBody>
      </p:sp>
      <p:sp>
        <p:nvSpPr>
          <p:cNvPr id="7" name="Text 5"/>
          <p:cNvSpPr/>
          <p:nvPr/>
        </p:nvSpPr>
        <p:spPr>
          <a:xfrm>
            <a:off x="1022350" y="2744291"/>
            <a:ext cx="319610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Segment 1</a:t>
            </a:r>
            <a:endParaRPr lang="en-US" sz="1400" dirty="0"/>
          </a:p>
        </p:txBody>
      </p:sp>
      <p:sp>
        <p:nvSpPr>
          <p:cNvPr id="8" name="Text 6"/>
          <p:cNvSpPr/>
          <p:nvPr/>
        </p:nvSpPr>
        <p:spPr>
          <a:xfrm>
            <a:off x="1022350" y="3043982"/>
            <a:ext cx="3196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46A"/>
                </a:solidFill>
                <a:latin typeface="IBM Plex Sans" pitchFamily="34" charset="0"/>
                <a:ea typeface="IBM Plex Sans" pitchFamily="34" charset="-122"/>
                <a:cs typeface="IBM Plex Sans" pitchFamily="34" charset="-120"/>
              </a:rPr>
              <a:t>Cheapest competition: Campaign 1</a:t>
            </a:r>
            <a:endParaRPr lang="en-US" sz="1200" dirty="0"/>
          </a:p>
        </p:txBody>
      </p:sp>
      <p:sp>
        <p:nvSpPr>
          <p:cNvPr id="9" name="Shape 7"/>
          <p:cNvSpPr/>
          <p:nvPr/>
        </p:nvSpPr>
        <p:spPr>
          <a:xfrm>
            <a:off x="4338092" y="2324596"/>
            <a:ext cx="3515816" cy="1088281"/>
          </a:xfrm>
          <a:prstGeom prst="rect">
            <a:avLst/>
          </a:prstGeom>
          <a:solidFill>
            <a:srgbClr val="FCFBF8"/>
          </a:solidFill>
          <a:ln w="6350">
            <a:solidFill>
              <a:srgbClr val="DCD8CF"/>
            </a:solidFill>
            <a:prstDash val="solid"/>
          </a:ln>
        </p:spPr>
      </p:sp>
      <p:sp>
        <p:nvSpPr>
          <p:cNvPr id="10" name="Text 8"/>
          <p:cNvSpPr/>
          <p:nvPr/>
        </p:nvSpPr>
        <p:spPr>
          <a:xfrm>
            <a:off x="4544467" y="2480171"/>
            <a:ext cx="31961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92A"/>
                </a:solidFill>
                <a:latin typeface="IBM Plex Mono" pitchFamily="49" charset="0"/>
                <a:ea typeface="IBM Plex Mono" pitchFamily="49" charset="-122"/>
                <a:cs typeface="IBM Plex Mono" pitchFamily="49" charset="-120"/>
              </a:rPr>
              <a:t>CHANGE · ROUND 1,001</a:t>
            </a:r>
            <a:endParaRPr lang="en-US" sz="1200" dirty="0"/>
          </a:p>
        </p:txBody>
      </p:sp>
      <p:sp>
        <p:nvSpPr>
          <p:cNvPr id="11" name="Text 9"/>
          <p:cNvSpPr/>
          <p:nvPr/>
        </p:nvSpPr>
        <p:spPr>
          <a:xfrm>
            <a:off x="4544467" y="2744291"/>
            <a:ext cx="3196158"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Segment 2</a:t>
            </a:r>
            <a:endParaRPr lang="en-US" sz="1400" dirty="0"/>
          </a:p>
        </p:txBody>
      </p:sp>
      <p:sp>
        <p:nvSpPr>
          <p:cNvPr id="12" name="Text 10"/>
          <p:cNvSpPr/>
          <p:nvPr/>
        </p:nvSpPr>
        <p:spPr>
          <a:xfrm>
            <a:off x="4544467" y="3043982"/>
            <a:ext cx="319615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46A"/>
                </a:solidFill>
                <a:latin typeface="IBM Plex Sans" pitchFamily="34" charset="0"/>
                <a:ea typeface="IBM Plex Sans" pitchFamily="34" charset="-122"/>
                <a:cs typeface="IBM Plex Sans" pitchFamily="34" charset="-120"/>
              </a:rPr>
              <a:t>Cheapest competition: Campaign 2</a:t>
            </a:r>
            <a:endParaRPr lang="en-US" sz="1200" dirty="0"/>
          </a:p>
        </p:txBody>
      </p:sp>
      <p:sp>
        <p:nvSpPr>
          <p:cNvPr id="13" name="Shape 11"/>
          <p:cNvSpPr/>
          <p:nvPr/>
        </p:nvSpPr>
        <p:spPr>
          <a:xfrm>
            <a:off x="7860258" y="2324596"/>
            <a:ext cx="3515767" cy="1088281"/>
          </a:xfrm>
          <a:prstGeom prst="rect">
            <a:avLst/>
          </a:prstGeom>
          <a:solidFill>
            <a:srgbClr val="FCFBF8"/>
          </a:solidFill>
          <a:ln w="6350">
            <a:solidFill>
              <a:srgbClr val="DCD8CF"/>
            </a:solidFill>
            <a:prstDash val="solid"/>
          </a:ln>
        </p:spPr>
      </p:sp>
      <p:sp>
        <p:nvSpPr>
          <p:cNvPr id="14" name="Text 12"/>
          <p:cNvSpPr/>
          <p:nvPr/>
        </p:nvSpPr>
        <p:spPr>
          <a:xfrm>
            <a:off x="8066633" y="2480171"/>
            <a:ext cx="3196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8492A"/>
                </a:solidFill>
                <a:latin typeface="IBM Plex Mono" pitchFamily="49" charset="0"/>
                <a:ea typeface="IBM Plex Mono" pitchFamily="49" charset="-122"/>
                <a:cs typeface="IBM Plex Mono" pitchFamily="49" charset="-120"/>
              </a:rPr>
              <a:t>CHANGE · ROUND 2,001</a:t>
            </a:r>
            <a:endParaRPr lang="en-US" sz="1200" dirty="0"/>
          </a:p>
        </p:txBody>
      </p:sp>
      <p:sp>
        <p:nvSpPr>
          <p:cNvPr id="15" name="Text 13"/>
          <p:cNvSpPr/>
          <p:nvPr/>
        </p:nvSpPr>
        <p:spPr>
          <a:xfrm>
            <a:off x="8066633" y="2744291"/>
            <a:ext cx="3196107"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Segment 3</a:t>
            </a:r>
            <a:endParaRPr lang="en-US" sz="1400" dirty="0"/>
          </a:p>
        </p:txBody>
      </p:sp>
      <p:sp>
        <p:nvSpPr>
          <p:cNvPr id="16" name="Text 14"/>
          <p:cNvSpPr/>
          <p:nvPr/>
        </p:nvSpPr>
        <p:spPr>
          <a:xfrm>
            <a:off x="8066633" y="3043982"/>
            <a:ext cx="31961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46A"/>
                </a:solidFill>
                <a:latin typeface="IBM Plex Sans" pitchFamily="34" charset="0"/>
                <a:ea typeface="IBM Plex Sans" pitchFamily="34" charset="-122"/>
                <a:cs typeface="IBM Plex Sans" pitchFamily="34" charset="-120"/>
              </a:rPr>
              <a:t>Cheapest competition: Campaign 3</a:t>
            </a:r>
            <a:endParaRPr lang="en-US" sz="1200" dirty="0"/>
          </a:p>
        </p:txBody>
      </p:sp>
      <p:sp>
        <p:nvSpPr>
          <p:cNvPr id="17" name="Text 15"/>
          <p:cNvSpPr/>
          <p:nvPr/>
        </p:nvSpPr>
        <p:spPr>
          <a:xfrm>
            <a:off x="812800" y="361925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4 campaigns share budget 560 · 27 positive arms · 168 feasible combinations · 2 changes, known by construction</a:t>
            </a:r>
            <a:endParaRPr lang="en-US" sz="1200" dirty="0"/>
          </a:p>
        </p:txBody>
      </p:sp>
      <p:sp>
        <p:nvSpPr>
          <p:cNvPr id="18" name="Shape 16"/>
          <p:cNvSpPr/>
          <p:nvPr/>
        </p:nvSpPr>
        <p:spPr>
          <a:xfrm>
            <a:off x="819150" y="4042122"/>
            <a:ext cx="5175250" cy="1229271"/>
          </a:xfrm>
          <a:prstGeom prst="roundRect">
            <a:avLst>
              <a:gd name="adj" fmla="val 5682"/>
            </a:avLst>
          </a:prstGeom>
          <a:solidFill>
            <a:srgbClr val="FCFBF8"/>
          </a:solidFill>
          <a:ln w="12700">
            <a:solidFill>
              <a:srgbClr val="14263D"/>
            </a:solidFill>
            <a:prstDash val="solid"/>
          </a:ln>
        </p:spPr>
      </p:sp>
      <p:sp>
        <p:nvSpPr>
          <p:cNvPr id="19" name="Text 17"/>
          <p:cNvSpPr/>
          <p:nvPr/>
        </p:nvSpPr>
        <p:spPr>
          <a:xfrm>
            <a:off x="1028700" y="4226272"/>
            <a:ext cx="48988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63D"/>
                </a:solidFill>
                <a:latin typeface="IBM Plex Mono" pitchFamily="49" charset="0"/>
                <a:ea typeface="IBM Plex Mono" pitchFamily="49" charset="-122"/>
                <a:cs typeface="IBM Plex Mono" pitchFamily="49" charset="-120"/>
              </a:rPr>
              <a:t>MAIN COMPARATOR · SEGMENT-LOCAL</a:t>
            </a:r>
            <a:endParaRPr lang="en-US" sz="1200" dirty="0"/>
          </a:p>
        </p:txBody>
      </p:sp>
      <p:sp>
        <p:nvSpPr>
          <p:cNvPr id="20" name="Text 18"/>
          <p:cNvSpPr/>
          <p:nvPr/>
        </p:nvSpPr>
        <p:spPr>
          <a:xfrm>
            <a:off x="1028700" y="4490393"/>
            <a:ext cx="489883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One true-mean LP per segment, each with cap B/T</a:t>
            </a:r>
            <a:endParaRPr lang="en-US" sz="1400" dirty="0"/>
          </a:p>
        </p:txBody>
      </p:sp>
      <p:sp>
        <p:nvSpPr>
          <p:cNvPr id="21" name="Text 19"/>
          <p:cNvSpPr/>
          <p:nvPr/>
        </p:nvSpPr>
        <p:spPr>
          <a:xfrm>
            <a:off x="1028700" y="4790083"/>
            <a:ext cx="4898835"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4263D"/>
                </a:solidFill>
                <a:latin typeface="IBM Plex Sans" pitchFamily="34" charset="0"/>
                <a:ea typeface="IBM Plex Sans" pitchFamily="34" charset="-122"/>
                <a:cs typeface="IBM Plex Sans" pitchFamily="34" charset="-120"/>
              </a:rPr>
              <a:t>1,228.6 expected utility</a:t>
            </a:r>
            <a:endParaRPr lang="en-US" sz="1800" dirty="0"/>
          </a:p>
        </p:txBody>
      </p:sp>
      <p:sp>
        <p:nvSpPr>
          <p:cNvPr id="22" name="Shape 20"/>
          <p:cNvSpPr/>
          <p:nvPr/>
        </p:nvSpPr>
        <p:spPr>
          <a:xfrm>
            <a:off x="6207125" y="4038947"/>
            <a:ext cx="5168900" cy="1235621"/>
          </a:xfrm>
          <a:prstGeom prst="roundRect">
            <a:avLst>
              <a:gd name="adj" fmla="val 5910"/>
            </a:avLst>
          </a:prstGeom>
          <a:solidFill>
            <a:srgbClr val="FCFBF8"/>
          </a:solidFill>
          <a:ln w="6350">
            <a:solidFill>
              <a:srgbClr val="DCD8CF"/>
            </a:solidFill>
            <a:prstDash val="solid"/>
          </a:ln>
        </p:spPr>
      </p:sp>
      <p:sp>
        <p:nvSpPr>
          <p:cNvPr id="23" name="Text 21"/>
          <p:cNvSpPr/>
          <p:nvPr/>
        </p:nvSpPr>
        <p:spPr>
          <a:xfrm>
            <a:off x="6413500" y="4219922"/>
            <a:ext cx="48988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STRONGER · SEGMENT-GLOBAL</a:t>
            </a:r>
            <a:endParaRPr lang="en-US" sz="1200" dirty="0"/>
          </a:p>
        </p:txBody>
      </p:sp>
      <p:sp>
        <p:nvSpPr>
          <p:cNvPr id="24" name="Text 22"/>
          <p:cNvSpPr/>
          <p:nvPr/>
        </p:nvSpPr>
        <p:spPr>
          <a:xfrm>
            <a:off x="6413500" y="4484043"/>
            <a:ext cx="489883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Can redistribute expected spending across segments</a:t>
            </a:r>
            <a:endParaRPr lang="en-US" sz="1400" dirty="0"/>
          </a:p>
        </p:txBody>
      </p:sp>
      <p:sp>
        <p:nvSpPr>
          <p:cNvPr id="25" name="Text 23"/>
          <p:cNvSpPr/>
          <p:nvPr/>
        </p:nvSpPr>
        <p:spPr>
          <a:xfrm>
            <a:off x="6413500" y="4783733"/>
            <a:ext cx="4898835"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5F6B7A"/>
                </a:solidFill>
                <a:latin typeface="IBM Plex Sans" pitchFamily="34" charset="0"/>
                <a:ea typeface="IBM Plex Sans" pitchFamily="34" charset="-122"/>
                <a:cs typeface="IBM Plex Sans" pitchFamily="34" charset="-120"/>
              </a:rPr>
              <a:t>1,252.0 expected utility</a:t>
            </a:r>
            <a:endParaRPr lang="en-US" sz="1800" dirty="0"/>
          </a:p>
        </p:txBody>
      </p:sp>
      <p:sp>
        <p:nvSpPr>
          <p:cNvPr id="26" name="Text 2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Sources: R4 cells 1, 2, 4, 6, 8. “Cheapest competition” = lowest Beta mean (cell 2). Oracles: expected values.</a:t>
            </a:r>
            <a:endParaRPr lang="en-US" sz="1200" dirty="0"/>
          </a:p>
        </p:txBody>
      </p:sp>
      <p:sp>
        <p:nvSpPr>
          <p:cNvPr id="27" name="Text 25"/>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12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SCENARIO 4 · METHODS</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Adaptation also needs budget for later segments</a:t>
            </a:r>
            <a:endParaRPr lang="en-US" sz="2800" dirty="0"/>
          </a:p>
        </p:txBody>
      </p:sp>
      <p:sp>
        <p:nvSpPr>
          <p:cNvPr id="4" name="Text 2"/>
          <p:cNvSpPr/>
          <p:nvPr/>
        </p:nvSpPr>
        <p:spPr>
          <a:xfrm>
            <a:off x="812800" y="1671241"/>
            <a:ext cx="697651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B7A"/>
                </a:solidFill>
                <a:latin typeface="IBM Plex Mono" pitchFamily="49" charset="0"/>
                <a:ea typeface="IBM Plex Mono" pitchFamily="49" charset="-122"/>
                <a:cs typeface="IBM Plex Mono" pitchFamily="49" charset="-120"/>
              </a:rPr>
              <a:t>SEMI-BANDIT · UPDATING MARKET ESTIMATES</a:t>
            </a:r>
            <a:endParaRPr lang="en-US" sz="1200" dirty="0"/>
          </a:p>
        </p:txBody>
      </p:sp>
      <p:sp>
        <p:nvSpPr>
          <p:cNvPr id="5" name="Shape 3"/>
          <p:cNvSpPr/>
          <p:nvPr/>
        </p:nvSpPr>
        <p:spPr>
          <a:xfrm>
            <a:off x="815975" y="1989336"/>
            <a:ext cx="3278684" cy="1408311"/>
          </a:xfrm>
          <a:prstGeom prst="roundRect">
            <a:avLst>
              <a:gd name="adj" fmla="val 5185"/>
            </a:avLst>
          </a:prstGeom>
          <a:solidFill>
            <a:srgbClr val="FCFBF8"/>
          </a:solidFill>
          <a:ln w="6350">
            <a:solidFill>
              <a:srgbClr val="DCD8CF"/>
            </a:solidFill>
            <a:prstDash val="solid"/>
          </a:ln>
        </p:spPr>
      </p:sp>
      <p:sp>
        <p:nvSpPr>
          <p:cNvPr id="6" name="Text 4"/>
          <p:cNvSpPr/>
          <p:nvPr/>
        </p:nvSpPr>
        <p:spPr>
          <a:xfrm>
            <a:off x="1022350" y="2170311"/>
            <a:ext cx="29519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SW-UCB forgets</a:t>
            </a:r>
            <a:endParaRPr lang="en-US" sz="1400" dirty="0"/>
          </a:p>
        </p:txBody>
      </p:sp>
      <p:sp>
        <p:nvSpPr>
          <p:cNvPr id="7" name="Text 5"/>
          <p:cNvSpPr/>
          <p:nvPr/>
        </p:nvSpPr>
        <p:spPr>
          <a:xfrm>
            <a:off x="1022350" y="2470001"/>
            <a:ext cx="2951912"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Uses only observations inside a calendar-round window. Revised window: 219 → 500 rounds.</a:t>
            </a:r>
            <a:endParaRPr lang="en-US" sz="1400" dirty="0"/>
          </a:p>
        </p:txBody>
      </p:sp>
      <p:sp>
        <p:nvSpPr>
          <p:cNvPr id="8" name="Shape 6"/>
          <p:cNvSpPr/>
          <p:nvPr/>
        </p:nvSpPr>
        <p:spPr>
          <a:xfrm>
            <a:off x="4304209" y="1989336"/>
            <a:ext cx="3278733" cy="1408311"/>
          </a:xfrm>
          <a:prstGeom prst="roundRect">
            <a:avLst>
              <a:gd name="adj" fmla="val 5185"/>
            </a:avLst>
          </a:prstGeom>
          <a:solidFill>
            <a:srgbClr val="FCFBF8"/>
          </a:solidFill>
          <a:ln w="6350">
            <a:solidFill>
              <a:srgbClr val="DCD8CF"/>
            </a:solidFill>
            <a:prstDash val="solid"/>
          </a:ln>
        </p:spPr>
      </p:sp>
      <p:sp>
        <p:nvSpPr>
          <p:cNvPr id="9" name="Text 7"/>
          <p:cNvSpPr/>
          <p:nvPr/>
        </p:nvSpPr>
        <p:spPr>
          <a:xfrm>
            <a:off x="4510584" y="2170311"/>
            <a:ext cx="295196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CUSUM-UCB resets</a:t>
            </a:r>
            <a:endParaRPr lang="en-US" sz="1400" dirty="0"/>
          </a:p>
        </p:txBody>
      </p:sp>
      <p:sp>
        <p:nvSpPr>
          <p:cNvPr id="10" name="Text 8"/>
          <p:cNvSpPr/>
          <p:nvPr/>
        </p:nvSpPr>
        <p:spPr>
          <a:xfrm>
            <a:off x="4510584" y="2470001"/>
            <a:ext cx="295196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Resets an arm’s estimate after detecting a change. Detector settings unchanged.</a:t>
            </a:r>
            <a:endParaRPr lang="en-US" sz="1400" dirty="0"/>
          </a:p>
        </p:txBody>
      </p:sp>
      <p:pic>
        <p:nvPicPr>
          <p:cNvPr id="11" name="Image 0" descr="arrow-down">    </p:cNvPr>
          <p:cNvPicPr>
            <a:picLocks noChangeAspect="1"/>
          </p:cNvPicPr>
          <p:nvPr/>
        </p:nvPicPr>
        <p:blipFill>
          <a:blip r:embed="rId1"/>
          <a:srcRect l="0" r="0" t="0" b="0"/>
          <a:stretch/>
        </p:blipFill>
        <p:spPr>
          <a:xfrm>
            <a:off x="2379117" y="3502422"/>
            <a:ext cx="152400" cy="254000"/>
          </a:xfrm>
          <a:prstGeom prst="rect">
            <a:avLst/>
          </a:prstGeom>
        </p:spPr>
      </p:pic>
      <p:pic>
        <p:nvPicPr>
          <p:cNvPr id="12" name="Image 1" descr="arrow-down">    </p:cNvPr>
          <p:cNvPicPr>
            <a:picLocks noChangeAspect="1"/>
          </p:cNvPicPr>
          <p:nvPr/>
        </p:nvPicPr>
        <p:blipFill>
          <a:blip r:embed="rId2"/>
          <a:srcRect l="0" r="0" t="0" b="0"/>
          <a:stretch/>
        </p:blipFill>
        <p:spPr>
          <a:xfrm>
            <a:off x="5867350" y="3502422"/>
            <a:ext cx="152400" cy="254000"/>
          </a:xfrm>
          <a:prstGeom prst="rect">
            <a:avLst/>
          </a:prstGeom>
        </p:spPr>
      </p:pic>
      <p:sp>
        <p:nvSpPr>
          <p:cNvPr id="13" name="Shape 9"/>
          <p:cNvSpPr/>
          <p:nvPr/>
        </p:nvSpPr>
        <p:spPr>
          <a:xfrm>
            <a:off x="819150" y="3864372"/>
            <a:ext cx="6760617" cy="1130201"/>
          </a:xfrm>
          <a:prstGeom prst="roundRect">
            <a:avLst>
              <a:gd name="adj" fmla="val 6180"/>
            </a:avLst>
          </a:prstGeom>
          <a:solidFill>
            <a:srgbClr val="F6E6DE"/>
          </a:solidFill>
          <a:ln w="12700">
            <a:solidFill>
              <a:srgbClr val="B8492A"/>
            </a:solidFill>
            <a:prstDash val="solid"/>
          </a:ln>
        </p:spPr>
      </p:sp>
      <p:sp>
        <p:nvSpPr>
          <p:cNvPr id="14" name="Text 10"/>
          <p:cNvSpPr/>
          <p:nvPr/>
        </p:nvSpPr>
        <p:spPr>
          <a:xfrm>
            <a:off x="1028700" y="4048522"/>
            <a:ext cx="653176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8492A"/>
                </a:solidFill>
                <a:latin typeface="IBM Plex Mono" pitchFamily="49" charset="0"/>
                <a:ea typeface="IBM Plex Mono" pitchFamily="49" charset="-122"/>
                <a:cs typeface="IBM Plex Mono" pitchFamily="49" charset="-120"/>
              </a:rPr>
              <a:t>CONTROLLING EXPENDITURE · SAME REVISED BUDGET LP</a:t>
            </a:r>
            <a:endParaRPr lang="en-US" sz="1200" dirty="0"/>
          </a:p>
        </p:txBody>
      </p:sp>
      <p:sp>
        <p:nvSpPr>
          <p:cNvPr id="15" name="Text 11"/>
          <p:cNvSpPr/>
          <p:nvPr/>
        </p:nvSpPr>
        <p:spPr>
          <a:xfrm>
            <a:off x="1028700" y="4312642"/>
            <a:ext cx="653176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Empirical costs and remaining-budget pacing for both. Both baselines spend too early, limiting what they can learn later.</a:t>
            </a:r>
            <a:endParaRPr lang="en-US" sz="1400" dirty="0"/>
          </a:p>
        </p:txBody>
      </p:sp>
      <p:sp>
        <p:nvSpPr>
          <p:cNvPr id="16" name="Text 12"/>
          <p:cNvSpPr/>
          <p:nvPr/>
        </p:nvSpPr>
        <p:spPr>
          <a:xfrm>
            <a:off x="7992517" y="1671241"/>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B7A"/>
                </a:solidFill>
                <a:latin typeface="IBM Plex Mono" pitchFamily="49" charset="0"/>
                <a:ea typeface="IBM Plex Mono" pitchFamily="49" charset="-122"/>
                <a:cs typeface="IBM Plex Mono" pitchFamily="49" charset="-120"/>
              </a:rPr>
              <a:t>FULL FEEDBACK · SEPARATE</a:t>
            </a:r>
            <a:endParaRPr lang="en-US" sz="1200" dirty="0"/>
          </a:p>
        </p:txBody>
      </p:sp>
      <p:sp>
        <p:nvSpPr>
          <p:cNvPr id="17" name="Shape 13"/>
          <p:cNvSpPr/>
          <p:nvPr/>
        </p:nvSpPr>
        <p:spPr>
          <a:xfrm>
            <a:off x="7998867" y="1992511"/>
            <a:ext cx="3373983" cy="3002062"/>
          </a:xfrm>
          <a:prstGeom prst="roundRect">
            <a:avLst>
              <a:gd name="adj" fmla="val 2327"/>
            </a:avLst>
          </a:prstGeom>
          <a:solidFill>
            <a:srgbClr val="FCFBF8"/>
          </a:solidFill>
          <a:ln w="12700">
            <a:solidFill>
              <a:srgbClr val="8D9AAE"/>
            </a:solidFill>
            <a:prstDash val="dash"/>
          </a:ln>
        </p:spPr>
      </p:sp>
      <p:sp>
        <p:nvSpPr>
          <p:cNvPr id="18" name="Text 14"/>
          <p:cNvSpPr/>
          <p:nvPr/>
        </p:nvSpPr>
        <p:spPr>
          <a:xfrm>
            <a:off x="8208417" y="2176661"/>
            <a:ext cx="304353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Primal-dual</a:t>
            </a:r>
            <a:endParaRPr lang="en-US" sz="1400" dirty="0"/>
          </a:p>
        </p:txBody>
      </p:sp>
      <p:sp>
        <p:nvSpPr>
          <p:cNvPr id="19" name="Text 15"/>
          <p:cNvSpPr/>
          <p:nvPr/>
        </p:nvSpPr>
        <p:spPr>
          <a:xfrm>
            <a:off x="8208417" y="2527151"/>
            <a:ext cx="304353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Calibrated Hedge and dual rates.</a:t>
            </a:r>
            <a:endParaRPr lang="en-US" sz="1400" dirty="0"/>
          </a:p>
        </p:txBody>
      </p:sp>
      <p:sp>
        <p:nvSpPr>
          <p:cNvPr id="20" name="Text 16"/>
          <p:cNvSpPr/>
          <p:nvPr/>
        </p:nvSpPr>
        <p:spPr>
          <a:xfrm>
            <a:off x="8208417" y="2877641"/>
            <a:ext cx="315808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Retains its full history: no forgetting.</a:t>
            </a:r>
            <a:endParaRPr lang="en-US" sz="1400" dirty="0"/>
          </a:p>
        </p:txBody>
      </p:sp>
      <p:sp>
        <p:nvSpPr>
          <p:cNvPr id="21" name="Text 17"/>
          <p:cNvSpPr/>
          <p:nvPr/>
        </p:nvSpPr>
        <p:spPr>
          <a:xfrm>
            <a:off x="8208417" y="3228132"/>
            <a:ext cx="304353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The baseline already has a per-action affordability check.</a:t>
            </a:r>
            <a:endParaRPr lang="en-US" sz="1400" dirty="0"/>
          </a:p>
        </p:txBody>
      </p:sp>
      <p:sp>
        <p:nvSpPr>
          <p:cNvPr id="22" name="Text 18"/>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Sources: B4 cells 10, 12 · R4 cells 2, 10, 12, 15.</a:t>
            </a:r>
            <a:endParaRPr lang="en-US" sz="1200" dirty="0"/>
          </a:p>
        </p:txBody>
      </p:sp>
      <p:sp>
        <p:nvSpPr>
          <p:cNvPr id="23" name="Text 19"/>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13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SCENARIO 4 · RESULT</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CUSUM-UCB has the lowest recorded local-oracle gap</a:t>
            </a:r>
            <a:endParaRPr lang="en-US" sz="2800" dirty="0"/>
          </a:p>
        </p:txBody>
      </p:sp>
      <p:sp>
        <p:nvSpPr>
          <p:cNvPr id="4" name="Text 2"/>
          <p:cNvSpPr/>
          <p:nvPr/>
        </p:nvSpPr>
        <p:spPr>
          <a:xfrm>
            <a:off x="812800" y="16712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Final gap to the segment-local oracle · mean ± SEM over 30 paired trials · lower is better</a:t>
            </a:r>
            <a:endParaRPr lang="en-US" sz="1200" dirty="0"/>
          </a:p>
        </p:txBody>
      </p:sp>
      <p:sp>
        <p:nvSpPr>
          <p:cNvPr id="5" name="Text 3"/>
          <p:cNvSpPr/>
          <p:nvPr/>
        </p:nvSpPr>
        <p:spPr>
          <a:xfrm>
            <a:off x="812800" y="2106811"/>
            <a:ext cx="196215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63D"/>
                </a:solidFill>
                <a:latin typeface="IBM Plex Sans" pitchFamily="34" charset="0"/>
                <a:ea typeface="IBM Plex Sans" pitchFamily="34" charset="-122"/>
                <a:cs typeface="IBM Plex Sans" pitchFamily="34" charset="-120"/>
              </a:rPr>
              <a:t>SW-UCB</a:t>
            </a:r>
            <a:endParaRPr lang="en-US" sz="1400" dirty="0"/>
          </a:p>
        </p:txBody>
      </p:sp>
      <p:sp>
        <p:nvSpPr>
          <p:cNvPr id="6" name="Text 4"/>
          <p:cNvSpPr/>
          <p:nvPr/>
        </p:nvSpPr>
        <p:spPr>
          <a:xfrm>
            <a:off x="812800" y="236334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semi-bandit</a:t>
            </a:r>
            <a:endParaRPr lang="en-US" sz="1200" dirty="0"/>
          </a:p>
        </p:txBody>
      </p:sp>
      <p:sp>
        <p:nvSpPr>
          <p:cNvPr id="7" name="Shape 5"/>
          <p:cNvSpPr/>
          <p:nvPr/>
        </p:nvSpPr>
        <p:spPr>
          <a:xfrm>
            <a:off x="2876550" y="2036961"/>
            <a:ext cx="0" cy="609600"/>
          </a:xfrm>
          <a:prstGeom prst="line">
            <a:avLst/>
          </a:prstGeom>
          <a:noFill/>
          <a:ln w="12700">
            <a:solidFill>
              <a:srgbClr val="14263D"/>
            </a:solidFill>
            <a:prstDash val="solid"/>
          </a:ln>
        </p:spPr>
      </p:sp>
      <p:sp>
        <p:nvSpPr>
          <p:cNvPr id="8" name="Shape 6"/>
          <p:cNvSpPr/>
          <p:nvPr/>
        </p:nvSpPr>
        <p:spPr>
          <a:xfrm>
            <a:off x="2882900" y="2036961"/>
            <a:ext cx="4279900" cy="279400"/>
          </a:xfrm>
          <a:prstGeom prst="rect">
            <a:avLst/>
          </a:prstGeom>
          <a:solidFill>
            <a:srgbClr val="A9B4C2"/>
          </a:solidFill>
          <a:ln/>
        </p:spPr>
      </p:sp>
      <p:sp>
        <p:nvSpPr>
          <p:cNvPr id="9" name="Text 7"/>
          <p:cNvSpPr/>
          <p:nvPr/>
        </p:nvSpPr>
        <p:spPr>
          <a:xfrm>
            <a:off x="7264400" y="2061071"/>
            <a:ext cx="224331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B7A"/>
                </a:solidFill>
                <a:latin typeface="IBM Plex Sans" pitchFamily="34" charset="0"/>
                <a:ea typeface="IBM Plex Sans" pitchFamily="34" charset="-122"/>
                <a:cs typeface="IBM Plex Sans" pitchFamily="34" charset="-120"/>
              </a:rPr>
              <a:t>Baseline 561.99 ± 2.25</a:t>
            </a:r>
            <a:endParaRPr lang="en-US" sz="1400" dirty="0"/>
          </a:p>
        </p:txBody>
      </p:sp>
      <p:sp>
        <p:nvSpPr>
          <p:cNvPr id="10" name="Shape 8"/>
          <p:cNvSpPr/>
          <p:nvPr/>
        </p:nvSpPr>
        <p:spPr>
          <a:xfrm>
            <a:off x="2882900" y="2367161"/>
            <a:ext cx="3175000" cy="279400"/>
          </a:xfrm>
          <a:prstGeom prst="rect">
            <a:avLst/>
          </a:prstGeom>
          <a:solidFill>
            <a:srgbClr val="B8492A"/>
          </a:solidFill>
          <a:ln/>
        </p:spPr>
      </p:sp>
      <p:sp>
        <p:nvSpPr>
          <p:cNvPr id="11" name="Text 9"/>
          <p:cNvSpPr/>
          <p:nvPr/>
        </p:nvSpPr>
        <p:spPr>
          <a:xfrm>
            <a:off x="6159500" y="2391271"/>
            <a:ext cx="2210336"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8492A"/>
                </a:solidFill>
                <a:latin typeface="IBM Plex Sans" pitchFamily="34" charset="0"/>
                <a:ea typeface="IBM Plex Sans" pitchFamily="34" charset="-122"/>
                <a:cs typeface="IBM Plex Sans" pitchFamily="34" charset="-120"/>
              </a:rPr>
              <a:t>Revised 416.65 ± 2.78</a:t>
            </a:r>
            <a:endParaRPr lang="en-US" sz="1400" dirty="0"/>
          </a:p>
        </p:txBody>
      </p:sp>
      <p:sp>
        <p:nvSpPr>
          <p:cNvPr id="12" name="Text 10"/>
          <p:cNvSpPr/>
          <p:nvPr/>
        </p:nvSpPr>
        <p:spPr>
          <a:xfrm>
            <a:off x="812800" y="2919611"/>
            <a:ext cx="196215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63D"/>
                </a:solidFill>
                <a:latin typeface="IBM Plex Sans" pitchFamily="34" charset="0"/>
                <a:ea typeface="IBM Plex Sans" pitchFamily="34" charset="-122"/>
                <a:cs typeface="IBM Plex Sans" pitchFamily="34" charset="-120"/>
              </a:rPr>
              <a:t>CUSUM-UCB</a:t>
            </a:r>
            <a:endParaRPr lang="en-US" sz="1400" dirty="0"/>
          </a:p>
        </p:txBody>
      </p:sp>
      <p:sp>
        <p:nvSpPr>
          <p:cNvPr id="13" name="Text 11"/>
          <p:cNvSpPr/>
          <p:nvPr/>
        </p:nvSpPr>
        <p:spPr>
          <a:xfrm>
            <a:off x="812800" y="317614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semi-bandit</a:t>
            </a:r>
            <a:endParaRPr lang="en-US" sz="1200" dirty="0"/>
          </a:p>
        </p:txBody>
      </p:sp>
      <p:sp>
        <p:nvSpPr>
          <p:cNvPr id="14" name="Shape 12"/>
          <p:cNvSpPr/>
          <p:nvPr/>
        </p:nvSpPr>
        <p:spPr>
          <a:xfrm>
            <a:off x="2876550" y="2849761"/>
            <a:ext cx="0" cy="609600"/>
          </a:xfrm>
          <a:prstGeom prst="line">
            <a:avLst/>
          </a:prstGeom>
          <a:noFill/>
          <a:ln w="12700">
            <a:solidFill>
              <a:srgbClr val="14263D"/>
            </a:solidFill>
            <a:prstDash val="solid"/>
          </a:ln>
        </p:spPr>
      </p:sp>
      <p:sp>
        <p:nvSpPr>
          <p:cNvPr id="15" name="Shape 13"/>
          <p:cNvSpPr/>
          <p:nvPr/>
        </p:nvSpPr>
        <p:spPr>
          <a:xfrm>
            <a:off x="2882900" y="2849761"/>
            <a:ext cx="4064000" cy="279400"/>
          </a:xfrm>
          <a:prstGeom prst="rect">
            <a:avLst/>
          </a:prstGeom>
          <a:solidFill>
            <a:srgbClr val="A9B4C2"/>
          </a:solidFill>
          <a:ln/>
        </p:spPr>
      </p:sp>
      <p:sp>
        <p:nvSpPr>
          <p:cNvPr id="16" name="Text 14"/>
          <p:cNvSpPr/>
          <p:nvPr/>
        </p:nvSpPr>
        <p:spPr>
          <a:xfrm>
            <a:off x="7048500" y="2873871"/>
            <a:ext cx="224331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B7A"/>
                </a:solidFill>
                <a:latin typeface="IBM Plex Sans" pitchFamily="34" charset="0"/>
                <a:ea typeface="IBM Plex Sans" pitchFamily="34" charset="-122"/>
                <a:cs typeface="IBM Plex Sans" pitchFamily="34" charset="-120"/>
              </a:rPr>
              <a:t>Baseline 533.30 ± 5.10</a:t>
            </a:r>
            <a:endParaRPr lang="en-US" sz="1400" dirty="0"/>
          </a:p>
        </p:txBody>
      </p:sp>
      <p:sp>
        <p:nvSpPr>
          <p:cNvPr id="17" name="Shape 15"/>
          <p:cNvSpPr/>
          <p:nvPr/>
        </p:nvSpPr>
        <p:spPr>
          <a:xfrm>
            <a:off x="2882900" y="3179961"/>
            <a:ext cx="2628900" cy="279400"/>
          </a:xfrm>
          <a:prstGeom prst="rect">
            <a:avLst/>
          </a:prstGeom>
          <a:solidFill>
            <a:srgbClr val="B8492A"/>
          </a:solidFill>
          <a:ln/>
        </p:spPr>
      </p:sp>
      <p:sp>
        <p:nvSpPr>
          <p:cNvPr id="18" name="Text 16"/>
          <p:cNvSpPr/>
          <p:nvPr/>
        </p:nvSpPr>
        <p:spPr>
          <a:xfrm>
            <a:off x="5613400" y="3204071"/>
            <a:ext cx="2210336"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8492A"/>
                </a:solidFill>
                <a:latin typeface="IBM Plex Sans" pitchFamily="34" charset="0"/>
                <a:ea typeface="IBM Plex Sans" pitchFamily="34" charset="-122"/>
                <a:cs typeface="IBM Plex Sans" pitchFamily="34" charset="-120"/>
              </a:rPr>
              <a:t>Revised 344.93 ± 4.06</a:t>
            </a:r>
            <a:endParaRPr lang="en-US" sz="1400" dirty="0"/>
          </a:p>
        </p:txBody>
      </p:sp>
      <p:sp>
        <p:nvSpPr>
          <p:cNvPr id="19" name="Text 17"/>
          <p:cNvSpPr/>
          <p:nvPr/>
        </p:nvSpPr>
        <p:spPr>
          <a:xfrm>
            <a:off x="812800" y="3732411"/>
            <a:ext cx="196215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63D"/>
                </a:solidFill>
                <a:latin typeface="IBM Plex Sans" pitchFamily="34" charset="0"/>
                <a:ea typeface="IBM Plex Sans" pitchFamily="34" charset="-122"/>
                <a:cs typeface="IBM Plex Sans" pitchFamily="34" charset="-120"/>
              </a:rPr>
              <a:t>Primal-dual</a:t>
            </a:r>
            <a:endParaRPr lang="en-US" sz="1400" dirty="0"/>
          </a:p>
        </p:txBody>
      </p:sp>
      <p:sp>
        <p:nvSpPr>
          <p:cNvPr id="20" name="Text 18"/>
          <p:cNvSpPr/>
          <p:nvPr/>
        </p:nvSpPr>
        <p:spPr>
          <a:xfrm>
            <a:off x="812800" y="398894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full feedback</a:t>
            </a:r>
            <a:endParaRPr lang="en-US" sz="1200" dirty="0"/>
          </a:p>
        </p:txBody>
      </p:sp>
      <p:sp>
        <p:nvSpPr>
          <p:cNvPr id="21" name="Shape 19"/>
          <p:cNvSpPr/>
          <p:nvPr/>
        </p:nvSpPr>
        <p:spPr>
          <a:xfrm>
            <a:off x="2876550" y="3662561"/>
            <a:ext cx="0" cy="609600"/>
          </a:xfrm>
          <a:prstGeom prst="line">
            <a:avLst/>
          </a:prstGeom>
          <a:noFill/>
          <a:ln w="12700">
            <a:solidFill>
              <a:srgbClr val="14263D"/>
            </a:solidFill>
            <a:prstDash val="solid"/>
          </a:ln>
        </p:spPr>
      </p:sp>
      <p:sp>
        <p:nvSpPr>
          <p:cNvPr id="22" name="Shape 20"/>
          <p:cNvSpPr/>
          <p:nvPr/>
        </p:nvSpPr>
        <p:spPr>
          <a:xfrm>
            <a:off x="2882900" y="3662561"/>
            <a:ext cx="5454650" cy="279400"/>
          </a:xfrm>
          <a:prstGeom prst="rect">
            <a:avLst/>
          </a:prstGeom>
          <a:solidFill>
            <a:srgbClr val="A9B4C2"/>
          </a:solidFill>
          <a:ln/>
        </p:spPr>
      </p:sp>
      <p:sp>
        <p:nvSpPr>
          <p:cNvPr id="23" name="Text 21"/>
          <p:cNvSpPr/>
          <p:nvPr/>
        </p:nvSpPr>
        <p:spPr>
          <a:xfrm>
            <a:off x="8439150" y="3686671"/>
            <a:ext cx="2243316"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5F6B7A"/>
                </a:solidFill>
                <a:latin typeface="IBM Plex Sans" pitchFamily="34" charset="0"/>
                <a:ea typeface="IBM Plex Sans" pitchFamily="34" charset="-122"/>
                <a:cs typeface="IBM Plex Sans" pitchFamily="34" charset="-120"/>
              </a:rPr>
              <a:t>Baseline 715.78 ± 2.55</a:t>
            </a:r>
            <a:endParaRPr lang="en-US" sz="1400" dirty="0"/>
          </a:p>
        </p:txBody>
      </p:sp>
      <p:sp>
        <p:nvSpPr>
          <p:cNvPr id="24" name="Shape 22"/>
          <p:cNvSpPr/>
          <p:nvPr/>
        </p:nvSpPr>
        <p:spPr>
          <a:xfrm>
            <a:off x="2882900" y="3992761"/>
            <a:ext cx="5029200" cy="279400"/>
          </a:xfrm>
          <a:prstGeom prst="rect">
            <a:avLst/>
          </a:prstGeom>
          <a:solidFill>
            <a:srgbClr val="B8492A"/>
          </a:solidFill>
          <a:ln/>
        </p:spPr>
      </p:sp>
      <p:sp>
        <p:nvSpPr>
          <p:cNvPr id="25" name="Text 23"/>
          <p:cNvSpPr/>
          <p:nvPr/>
        </p:nvSpPr>
        <p:spPr>
          <a:xfrm>
            <a:off x="8013700" y="4016871"/>
            <a:ext cx="2210336"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8492A"/>
                </a:solidFill>
                <a:latin typeface="IBM Plex Sans" pitchFamily="34" charset="0"/>
                <a:ea typeface="IBM Plex Sans" pitchFamily="34" charset="-122"/>
                <a:cs typeface="IBM Plex Sans" pitchFamily="34" charset="-120"/>
              </a:rPr>
              <a:t>Revised 660.35 ± 2.77</a:t>
            </a:r>
            <a:endParaRPr lang="en-US" sz="1400" dirty="0"/>
          </a:p>
        </p:txBody>
      </p:sp>
      <p:sp>
        <p:nvSpPr>
          <p:cNvPr id="26" name="Text 24"/>
          <p:cNvSpPr/>
          <p:nvPr/>
        </p:nvSpPr>
        <p:spPr>
          <a:xfrm>
            <a:off x="812800" y="4526161"/>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Each gap subtracts realized learner utility from the same segment-local oracle’s expected utility. The methods do not all receive the same feedback.</a:t>
            </a:r>
            <a:endParaRPr lang="en-US" sz="1400" dirty="0"/>
          </a:p>
        </p:txBody>
      </p:sp>
      <p:sp>
        <p:nvSpPr>
          <p:cNvPr id="27" name="Text 2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30 paired trials. Sources: B4 cell 17, R4 cell 17 (saved HTML tables). Not Scenario 3 pseudo-regret.</a:t>
            </a:r>
            <a:endParaRPr lang="en-US" sz="1200" dirty="0"/>
          </a:p>
        </p:txBody>
      </p:sp>
      <p:sp>
        <p:nvSpPr>
          <p:cNvPr id="28" name="Text 2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14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CONCLUSIONS</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What the evidence supports</a:t>
            </a:r>
            <a:endParaRPr lang="en-US" sz="2800" dirty="0"/>
          </a:p>
        </p:txBody>
      </p:sp>
      <p:sp>
        <p:nvSpPr>
          <p:cNvPr id="4" name="Shape 2"/>
          <p:cNvSpPr/>
          <p:nvPr/>
        </p:nvSpPr>
        <p:spPr>
          <a:xfrm>
            <a:off x="7540625" y="1671241"/>
            <a:ext cx="0" cy="3193554"/>
          </a:xfrm>
          <a:prstGeom prst="line">
            <a:avLst/>
          </a:prstGeom>
          <a:noFill/>
          <a:ln w="6350">
            <a:solidFill>
              <a:srgbClr val="DCD8CF"/>
            </a:solidFill>
            <a:prstDash val="solid"/>
          </a:ln>
        </p:spPr>
      </p:sp>
      <p:sp>
        <p:nvSpPr>
          <p:cNvPr id="5" name="Shape 3"/>
          <p:cNvSpPr/>
          <p:nvPr/>
        </p:nvSpPr>
        <p:spPr>
          <a:xfrm>
            <a:off x="812800" y="4861620"/>
            <a:ext cx="6731000" cy="0"/>
          </a:xfrm>
          <a:prstGeom prst="line">
            <a:avLst/>
          </a:prstGeom>
          <a:noFill/>
          <a:ln w="6350">
            <a:solidFill>
              <a:srgbClr val="DCD8CF"/>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683941"/>
          <a:ext cx="6711950" cy="3174504"/>
        </p:xfrm>
        <a:graphic>
          <a:graphicData uri="http://schemas.openxmlformats.org/drawingml/2006/table">
            <a:tbl>
              <a:tblPr/>
              <a:tblGrid>
                <a:gridCol w="3087497"/>
                <a:gridCol w="3624453"/>
              </a:tblGrid>
              <a:tr h="386011">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Supported finding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Evidence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r>
              <a:tr h="63490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KL bounds improve the saved sparse-win comparisons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Regret 11.37 vs 35.72 (Scenario 1); pseudo-regret 70.1 vs 100.5 (Scenario 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63490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Empirical cost estimates improve the combinatorial cost ablation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Pseudo-regret 70.1 vs 166.2; spend by T/4 176.0 vs 241.4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88379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Calibrated primal-dual rates improve both tested full-feedback environments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0.249 → 0.121 and 0.222 → 0.134 per round; the guard ablation shows no measured gain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63490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A wider SW-UCB window improves the selected segmented instance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Local gap 496.1 with 219 rounds vs 416.6 with 500 rounds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7" name="Shape 4"/>
          <p:cNvSpPr/>
          <p:nvPr/>
        </p:nvSpPr>
        <p:spPr>
          <a:xfrm>
            <a:off x="7899400" y="1671241"/>
            <a:ext cx="3479800" cy="3193554"/>
          </a:xfrm>
          <a:prstGeom prst="roundRect">
            <a:avLst>
              <a:gd name="adj" fmla="val 2386"/>
            </a:avLst>
          </a:prstGeom>
          <a:solidFill>
            <a:srgbClr val="14263D"/>
          </a:solidFill>
          <a:ln/>
        </p:spPr>
      </p:sp>
      <p:sp>
        <p:nvSpPr>
          <p:cNvPr id="8" name="Text 5"/>
          <p:cNvSpPr/>
          <p:nvPr/>
        </p:nvSpPr>
        <p:spPr>
          <a:xfrm>
            <a:off x="8102600" y="1874441"/>
            <a:ext cx="316560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58A66"/>
                </a:solidFill>
                <a:latin typeface="IBM Plex Mono" pitchFamily="49" charset="0"/>
                <a:ea typeface="IBM Plex Mono" pitchFamily="49" charset="-122"/>
                <a:cs typeface="IBM Plex Mono" pitchFamily="49" charset="-120"/>
              </a:rPr>
              <a:t>LIMITS</a:t>
            </a:r>
            <a:endParaRPr lang="en-US" sz="1200" dirty="0"/>
          </a:p>
        </p:txBody>
      </p:sp>
      <p:sp>
        <p:nvSpPr>
          <p:cNvPr id="9" name="Text 6"/>
          <p:cNvSpPr/>
          <p:nvPr/>
        </p:nvSpPr>
        <p:spPr>
          <a:xfrm>
            <a:off x="8102600" y="2214761"/>
            <a:ext cx="316560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Synthetic auction configurations and saved outputs only.</a:t>
            </a:r>
            <a:endParaRPr lang="en-US" sz="1400" dirty="0"/>
          </a:p>
        </p:txBody>
      </p:sp>
      <p:sp>
        <p:nvSpPr>
          <p:cNvPr id="10" name="Text 7"/>
          <p:cNvSpPr/>
          <p:nvPr/>
        </p:nvSpPr>
        <p:spPr>
          <a:xfrm>
            <a:off x="8102600" y="2839541"/>
            <a:ext cx="316560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Joint changes do not identify every component’s contribution.</a:t>
            </a:r>
            <a:endParaRPr lang="en-US" sz="1400" dirty="0"/>
          </a:p>
        </p:txBody>
      </p:sp>
      <p:sp>
        <p:nvSpPr>
          <p:cNvPr id="11" name="Text 8"/>
          <p:cNvSpPr/>
          <p:nvPr/>
        </p:nvSpPr>
        <p:spPr>
          <a:xfrm>
            <a:off x="8102600" y="3464322"/>
            <a:ext cx="316560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Finite horizon sweeps do not prove asymptotic behavior.</a:t>
            </a:r>
            <a:endParaRPr lang="en-US" sz="1400" dirty="0"/>
          </a:p>
        </p:txBody>
      </p:sp>
      <p:sp>
        <p:nvSpPr>
          <p:cNvPr id="12" name="Text 9"/>
          <p:cNvSpPr/>
          <p:nvPr/>
        </p:nvSpPr>
        <p:spPr>
          <a:xfrm>
            <a:off x="8102600" y="4089102"/>
            <a:ext cx="316560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Feedback and benchmark differences constrain comparisons.</a:t>
            </a:r>
            <a:endParaRPr lang="en-US" sz="1400" dirty="0"/>
          </a:p>
        </p:txBody>
      </p:sp>
      <p:sp>
        <p:nvSpPr>
          <p:cNvPr id="13" name="Text 10"/>
          <p:cNvSpPr/>
          <p:nvPr/>
        </p:nvSpPr>
        <p:spPr>
          <a:xfrm>
            <a:off x="812800" y="511879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Ablation details in the appendix: A2 (Scenario 1), A3 (Scenario 2), A4–A5 (Scenario 3), A6 (Scenario 4).</a:t>
            </a:r>
            <a:endParaRPr lang="en-US" sz="1200" dirty="0"/>
          </a:p>
        </p:txBody>
      </p:sp>
      <p:sp>
        <p:nvSpPr>
          <p:cNvPr id="14" name="Text 1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Sources: R1 cells 16–17 · R2 cells 17–18 · R3 cells 17–21 · R4 cells 19–22 · docs/documentation-audit.md</a:t>
            </a:r>
            <a:endParaRPr lang="en-US" sz="1200" dirty="0"/>
          </a:p>
        </p:txBody>
      </p:sp>
      <p:sp>
        <p:nvSpPr>
          <p:cNvPr id="15" name="Text 1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15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6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58A66"/>
                </a:solidFill>
                <a:latin typeface="IBM Plex Mono" pitchFamily="49" charset="0"/>
                <a:ea typeface="IBM Plex Mono" pitchFamily="49" charset="-122"/>
                <a:cs typeface="IBM Plex Mono" pitchFamily="49" charset="-120"/>
              </a:rPr>
              <a:t>REPOSITORY</a:t>
            </a:r>
            <a:endParaRPr lang="en-US" sz="1200" dirty="0"/>
          </a:p>
        </p:txBody>
      </p:sp>
      <p:sp>
        <p:nvSpPr>
          <p:cNvPr id="3" name="Text 1"/>
          <p:cNvSpPr/>
          <p:nvPr>
            <p:ph type="title"/>
          </p:nvPr>
        </p:nvSpPr>
        <p:spPr>
          <a:xfrm>
            <a:off x="812800" y="1127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F2EFE8"/>
                </a:solidFill>
                <a:latin typeface="IBM Plex Sans" pitchFamily="34" charset="0"/>
                <a:ea typeface="IBM Plex Sans" pitchFamily="34" charset="-122"/>
                <a:cs typeface="IBM Plex Sans" pitchFamily="34" charset="-120"/>
              </a:rPr>
              <a:t>Code, saved outputs and sources</a:t>
            </a:r>
            <a:endParaRPr lang="en-US" sz="2800" dirty="0"/>
          </a:p>
        </p:txBody>
      </p:sp>
      <p:sp>
        <p:nvSpPr>
          <p:cNvPr id="4" name="Text 2"/>
          <p:cNvSpPr/>
          <p:nvPr/>
        </p:nvSpPr>
        <p:spPr>
          <a:xfrm>
            <a:off x="812800" y="177284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u="sng" dirty="0">
                <a:solidFill>
                  <a:srgbClr val="E58A66"/>
                </a:solidFill>
                <a:latin typeface="IBM Plex Mono" pitchFamily="49" charset="0"/>
                <a:ea typeface="IBM Plex Mono" pitchFamily="49" charset="-122"/>
                <a:cs typeface="IBM Plex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github.com/antonio-arbizzani-tonelli/adaptive-budget-allocation-online-learning</a:t>
            </a:r>
            <a:endParaRPr lang="en-US" sz="1400" dirty="0"/>
          </a:p>
        </p:txBody>
      </p:sp>
      <p:sp>
        <p:nvSpPr>
          <p:cNvPr id="5" name="Text 3"/>
          <p:cNvSpPr/>
          <p:nvPr/>
        </p:nvSpPr>
        <p:spPr>
          <a:xfrm>
            <a:off x="812800" y="212333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9"/>
                </a:solidFill>
                <a:latin typeface="IBM Plex Sans" pitchFamily="34" charset="0"/>
                <a:ea typeface="IBM Plex Sans" pitchFamily="34" charset="-122"/>
                <a:cs typeface="IBM Plex Sans" pitchFamily="34" charset="-120"/>
              </a:rPr>
              <a:t>Repository maintainer: Antonio Arbizzani Tonelli · </a:t>
            </a:r>
            <a:r>
              <a:rPr lang="en-US" sz="1200" u="sng" dirty="0">
                <a:solidFill>
                  <a:srgbClr val="C3CDD9"/>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linkedin.com/in/antonio-arbizzani-tonelli</a:t>
            </a:r>
            <a:endParaRPr lang="en-US" sz="1200" dirty="0"/>
          </a:p>
        </p:txBody>
      </p:sp>
      <p:sp>
        <p:nvSpPr>
          <p:cNvPr id="6" name="Text 4"/>
          <p:cNvSpPr/>
          <p:nvPr/>
        </p:nvSpPr>
        <p:spPr>
          <a:xfrm>
            <a:off x="812800" y="2438251"/>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DD9"/>
                </a:solidFill>
                <a:latin typeface="IBM Plex Sans" pitchFamily="34" charset="0"/>
                <a:ea typeface="IBM Plex Sans" pitchFamily="34" charset="-122"/>
                <a:cs typeface="IBM Plex Sans" pitchFamily="34" charset="-120"/>
              </a:rPr>
              <a:t>Eight notebooks document the baselines and revisions. Scenario READMEs explain configurations, paired comparisons and limitations.</a:t>
            </a:r>
            <a:endParaRPr lang="en-US" sz="1400" dirty="0"/>
          </a:p>
        </p:txBody>
      </p:sp>
      <p:sp>
        <p:nvSpPr>
          <p:cNvPr id="7" name="Shape 5"/>
          <p:cNvSpPr/>
          <p:nvPr/>
        </p:nvSpPr>
        <p:spPr>
          <a:xfrm>
            <a:off x="812800" y="3196382"/>
            <a:ext cx="2489200" cy="0"/>
          </a:xfrm>
          <a:prstGeom prst="line">
            <a:avLst/>
          </a:prstGeom>
          <a:noFill/>
          <a:ln w="12700">
            <a:solidFill>
              <a:srgbClr val="3A5272"/>
            </a:solidFill>
            <a:prstDash val="solid"/>
          </a:ln>
        </p:spPr>
      </p:sp>
      <p:sp>
        <p:nvSpPr>
          <p:cNvPr id="8" name="Text 6"/>
          <p:cNvSpPr/>
          <p:nvPr/>
        </p:nvSpPr>
        <p:spPr>
          <a:xfrm>
            <a:off x="812800" y="330433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7C8"/>
                </a:solidFill>
                <a:latin typeface="IBM Plex Mono" pitchFamily="49" charset="0"/>
                <a:ea typeface="IBM Plex Mono" pitchFamily="49" charset="-122"/>
                <a:cs typeface="IBM Plex Mono" pitchFamily="49" charset="-120"/>
              </a:rPr>
              <a:t>SCENARIO 1</a:t>
            </a:r>
            <a:endParaRPr lang="en-US" sz="1200" dirty="0"/>
          </a:p>
        </p:txBody>
      </p:sp>
      <p:sp>
        <p:nvSpPr>
          <p:cNvPr id="9" name="Text 7"/>
          <p:cNvSpPr/>
          <p:nvPr/>
        </p:nvSpPr>
        <p:spPr>
          <a:xfrm>
            <a:off x="812800" y="356845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IBM Plex Sans" pitchFamily="34" charset="0"/>
                <a:ea typeface="IBM Plex Sans" pitchFamily="34" charset="-122"/>
                <a:cs typeface="IBM Plex Sans" pitchFamily="34" charset="-120"/>
              </a:rPr>
              <a:t>B1 · baseline_ucb</a:t>
            </a:r>
            <a:endParaRPr lang="en-US" sz="1200" dirty="0"/>
          </a:p>
        </p:txBody>
      </p:sp>
      <p:sp>
        <p:nvSpPr>
          <p:cNvPr id="10" name="Text 8"/>
          <p:cNvSpPr/>
          <p:nvPr/>
        </p:nvSpPr>
        <p:spPr>
          <a:xfrm>
            <a:off x="812800" y="383257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IBM Plex Sans" pitchFamily="34" charset="0"/>
                <a:ea typeface="IBM Plex Sans" pitchFamily="34" charset="-122"/>
                <a:cs typeface="IBM Plex Sans" pitchFamily="34" charset="-120"/>
              </a:rPr>
              <a:t>R1 · budget_aware_kl_ucb</a:t>
            </a:r>
            <a:endParaRPr lang="en-US" sz="1200" dirty="0"/>
          </a:p>
        </p:txBody>
      </p:sp>
      <p:sp>
        <p:nvSpPr>
          <p:cNvPr id="11" name="Shape 9"/>
          <p:cNvSpPr/>
          <p:nvPr/>
        </p:nvSpPr>
        <p:spPr>
          <a:xfrm>
            <a:off x="3505200" y="3196382"/>
            <a:ext cx="2489200" cy="0"/>
          </a:xfrm>
          <a:prstGeom prst="line">
            <a:avLst/>
          </a:prstGeom>
          <a:noFill/>
          <a:ln w="12700">
            <a:solidFill>
              <a:srgbClr val="3A5272"/>
            </a:solidFill>
            <a:prstDash val="solid"/>
          </a:ln>
        </p:spPr>
      </p:sp>
      <p:sp>
        <p:nvSpPr>
          <p:cNvPr id="12" name="Text 10"/>
          <p:cNvSpPr/>
          <p:nvPr/>
        </p:nvSpPr>
        <p:spPr>
          <a:xfrm>
            <a:off x="3505200" y="330433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7C8"/>
                </a:solidFill>
                <a:latin typeface="IBM Plex Mono" pitchFamily="49" charset="0"/>
                <a:ea typeface="IBM Plex Mono" pitchFamily="49" charset="-122"/>
                <a:cs typeface="IBM Plex Mono" pitchFamily="49" charset="-120"/>
              </a:rPr>
              <a:t>SCENARIO 2</a:t>
            </a:r>
            <a:endParaRPr lang="en-US" sz="1200" dirty="0"/>
          </a:p>
        </p:txBody>
      </p:sp>
      <p:sp>
        <p:nvSpPr>
          <p:cNvPr id="13" name="Text 11"/>
          <p:cNvSpPr/>
          <p:nvPr/>
        </p:nvSpPr>
        <p:spPr>
          <a:xfrm>
            <a:off x="3505200" y="356845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IBM Plex Sans" pitchFamily="34" charset="0"/>
                <a:ea typeface="IBM Plex Sans" pitchFamily="34" charset="-122"/>
                <a:cs typeface="IBM Plex Sans" pitchFamily="34" charset="-120"/>
              </a:rPr>
              <a:t>B2 · baseline_combinatorial_ucb</a:t>
            </a:r>
            <a:endParaRPr lang="en-US" sz="1200" dirty="0"/>
          </a:p>
        </p:txBody>
      </p:sp>
      <p:sp>
        <p:nvSpPr>
          <p:cNvPr id="14" name="Text 12"/>
          <p:cNvSpPr/>
          <p:nvPr/>
        </p:nvSpPr>
        <p:spPr>
          <a:xfrm>
            <a:off x="3505200" y="383257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IBM Plex Sans" pitchFamily="34" charset="0"/>
                <a:ea typeface="IBM Plex Sans" pitchFamily="34" charset="-122"/>
                <a:cs typeface="IBM Plex Sans" pitchFamily="34" charset="-120"/>
              </a:rPr>
              <a:t>R2 · dynamic_budget_pacing</a:t>
            </a:r>
            <a:endParaRPr lang="en-US" sz="1200" dirty="0"/>
          </a:p>
        </p:txBody>
      </p:sp>
      <p:sp>
        <p:nvSpPr>
          <p:cNvPr id="15" name="Shape 13"/>
          <p:cNvSpPr/>
          <p:nvPr/>
        </p:nvSpPr>
        <p:spPr>
          <a:xfrm>
            <a:off x="6197600" y="3196382"/>
            <a:ext cx="2489200" cy="0"/>
          </a:xfrm>
          <a:prstGeom prst="line">
            <a:avLst/>
          </a:prstGeom>
          <a:noFill/>
          <a:ln w="12700">
            <a:solidFill>
              <a:srgbClr val="3A5272"/>
            </a:solidFill>
            <a:prstDash val="solid"/>
          </a:ln>
        </p:spPr>
      </p:sp>
      <p:sp>
        <p:nvSpPr>
          <p:cNvPr id="16" name="Text 14"/>
          <p:cNvSpPr/>
          <p:nvPr/>
        </p:nvSpPr>
        <p:spPr>
          <a:xfrm>
            <a:off x="6197600" y="330433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7C8"/>
                </a:solidFill>
                <a:latin typeface="IBM Plex Mono" pitchFamily="49" charset="0"/>
                <a:ea typeface="IBM Plex Mono" pitchFamily="49" charset="-122"/>
                <a:cs typeface="IBM Plex Mono" pitchFamily="49" charset="-120"/>
              </a:rPr>
              <a:t>SCENARIO 3</a:t>
            </a:r>
            <a:endParaRPr lang="en-US" sz="1200" dirty="0"/>
          </a:p>
        </p:txBody>
      </p:sp>
      <p:sp>
        <p:nvSpPr>
          <p:cNvPr id="17" name="Text 15"/>
          <p:cNvSpPr/>
          <p:nvPr/>
        </p:nvSpPr>
        <p:spPr>
          <a:xfrm>
            <a:off x="6197600" y="356845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IBM Plex Sans" pitchFamily="34" charset="0"/>
                <a:ea typeface="IBM Plex Sans" pitchFamily="34" charset="-122"/>
                <a:cs typeface="IBM Plex Sans" pitchFamily="34" charset="-120"/>
              </a:rPr>
              <a:t>B3 · baseline_primal_dual</a:t>
            </a:r>
            <a:endParaRPr lang="en-US" sz="1200" dirty="0"/>
          </a:p>
        </p:txBody>
      </p:sp>
      <p:sp>
        <p:nvSpPr>
          <p:cNvPr id="18" name="Text 16"/>
          <p:cNvSpPr/>
          <p:nvPr/>
        </p:nvSpPr>
        <p:spPr>
          <a:xfrm>
            <a:off x="6197600" y="383257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IBM Plex Sans" pitchFamily="34" charset="0"/>
                <a:ea typeface="IBM Plex Sans" pitchFamily="34" charset="-122"/>
                <a:cs typeface="IBM Plex Sans" pitchFamily="34" charset="-120"/>
              </a:rPr>
              <a:t>R3 · calibrated_primal_dual</a:t>
            </a:r>
            <a:endParaRPr lang="en-US" sz="1200" dirty="0"/>
          </a:p>
        </p:txBody>
      </p:sp>
      <p:sp>
        <p:nvSpPr>
          <p:cNvPr id="19" name="Shape 17"/>
          <p:cNvSpPr/>
          <p:nvPr/>
        </p:nvSpPr>
        <p:spPr>
          <a:xfrm>
            <a:off x="8890000" y="3196382"/>
            <a:ext cx="2489200" cy="0"/>
          </a:xfrm>
          <a:prstGeom prst="line">
            <a:avLst/>
          </a:prstGeom>
          <a:noFill/>
          <a:ln w="12700">
            <a:solidFill>
              <a:srgbClr val="3A5272"/>
            </a:solidFill>
            <a:prstDash val="solid"/>
          </a:ln>
        </p:spPr>
      </p:sp>
      <p:sp>
        <p:nvSpPr>
          <p:cNvPr id="20" name="Text 18"/>
          <p:cNvSpPr/>
          <p:nvPr/>
        </p:nvSpPr>
        <p:spPr>
          <a:xfrm>
            <a:off x="8890000" y="330433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7C8"/>
                </a:solidFill>
                <a:latin typeface="IBM Plex Mono" pitchFamily="49" charset="0"/>
                <a:ea typeface="IBM Plex Mono" pitchFamily="49" charset="-122"/>
                <a:cs typeface="IBM Plex Mono" pitchFamily="49" charset="-120"/>
              </a:rPr>
              <a:t>SCENARIO 4</a:t>
            </a:r>
            <a:endParaRPr lang="en-US" sz="1200" dirty="0"/>
          </a:p>
        </p:txBody>
      </p:sp>
      <p:sp>
        <p:nvSpPr>
          <p:cNvPr id="21" name="Text 19"/>
          <p:cNvSpPr/>
          <p:nvPr/>
        </p:nvSpPr>
        <p:spPr>
          <a:xfrm>
            <a:off x="8890000" y="356845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IBM Plex Sans" pitchFamily="34" charset="0"/>
                <a:ea typeface="IBM Plex Sans" pitchFamily="34" charset="-122"/>
                <a:cs typeface="IBM Plex Sans" pitchFamily="34" charset="-120"/>
              </a:rPr>
              <a:t>B4 · baseline_adaptive_learners</a:t>
            </a:r>
            <a:endParaRPr lang="en-US" sz="1200" dirty="0"/>
          </a:p>
        </p:txBody>
      </p:sp>
      <p:sp>
        <p:nvSpPr>
          <p:cNvPr id="22" name="Text 20"/>
          <p:cNvSpPr/>
          <p:nvPr/>
        </p:nvSpPr>
        <p:spPr>
          <a:xfrm>
            <a:off x="8890000" y="3832572"/>
            <a:ext cx="25638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EFE8"/>
                </a:solidFill>
                <a:latin typeface="IBM Plex Sans" pitchFamily="34" charset="0"/>
                <a:ea typeface="IBM Plex Sans" pitchFamily="34" charset="-122"/>
                <a:cs typeface="IBM Plex Sans" pitchFamily="34" charset="-120"/>
              </a:rPr>
              <a:t>R4 · change_detection_and_pacing</a:t>
            </a:r>
            <a:endParaRPr lang="en-US" sz="1200" dirty="0"/>
          </a:p>
        </p:txBody>
      </p:sp>
      <p:sp>
        <p:nvSpPr>
          <p:cNvPr id="23" name="Text 21"/>
          <p:cNvSpPr/>
          <p:nvPr/>
        </p:nvSpPr>
        <p:spPr>
          <a:xfrm>
            <a:off x="812800" y="429989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9"/>
                </a:solidFill>
                <a:latin typeface="IBM Plex Sans" pitchFamily="34" charset="0"/>
                <a:ea typeface="IBM Plex Sans" pitchFamily="34" charset="-122"/>
                <a:cs typeface="IBM Plex Sans" pitchFamily="34" charset="-120"/>
              </a:rPr>
              <a:t>Evidence reference: commit 38a050b32a6bd757c0c2c4db18c029caa039e919 · cell indices are zero-based and count markdown cells</a:t>
            </a:r>
            <a:endParaRPr lang="en-US" sz="1200" dirty="0"/>
          </a:p>
        </p:txBody>
      </p:sp>
      <p:sp>
        <p:nvSpPr>
          <p:cNvPr id="24" name="Text 22"/>
          <p:cNvSpPr/>
          <p:nvPr/>
        </p:nvSpPr>
        <p:spPr>
          <a:xfrm>
            <a:off x="812800" y="456401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CDD9"/>
                </a:solidFill>
                <a:latin typeface="IBM Plex Sans" pitchFamily="34" charset="0"/>
                <a:ea typeface="IBM Plex Sans" pitchFamily="34" charset="-122"/>
                <a:cs typeface="IBM Plex Sans" pitchFamily="34" charset="-120"/>
              </a:rPr>
              <a:t>Notebook guide: notebooks/README.md · Source map: docs/presentation-sources.md · Snapshot: docs/presentation-data.json</a:t>
            </a:r>
            <a:endParaRPr lang="en-US" sz="1200" dirty="0"/>
          </a:p>
        </p:txBody>
      </p:sp>
      <p:sp>
        <p:nvSpPr>
          <p:cNvPr id="25" name="Text 23"/>
          <p:cNvSpPr/>
          <p:nvPr/>
        </p:nvSpPr>
        <p:spPr>
          <a:xfrm>
            <a:off x="812800" y="579631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Antonio Arbizzani Tonelli · Leonardo Arisi · Claudia Berra · Gaia Di Paolo</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6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58A66"/>
                </a:solidFill>
                <a:latin typeface="IBM Plex Mono" pitchFamily="49" charset="0"/>
                <a:ea typeface="IBM Plex Mono" pitchFamily="49" charset="-122"/>
                <a:cs typeface="IBM Plex Mono" pitchFamily="49" charset="-120"/>
              </a:rPr>
              <a:t>APPENDIX</a:t>
            </a:r>
            <a:endParaRPr lang="en-US" sz="1200" dirty="0"/>
          </a:p>
        </p:txBody>
      </p:sp>
      <p:sp>
        <p:nvSpPr>
          <p:cNvPr id="3" name="Text 1"/>
          <p:cNvSpPr/>
          <p:nvPr>
            <p:ph type="title"/>
          </p:nvPr>
        </p:nvSpPr>
        <p:spPr>
          <a:xfrm>
            <a:off x="812800" y="11277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F2EFE8"/>
                </a:solidFill>
                <a:latin typeface="IBM Plex Sans" pitchFamily="34" charset="0"/>
                <a:ea typeface="IBM Plex Sans" pitchFamily="34" charset="-122"/>
                <a:cs typeface="IBM Plex Sans" pitchFamily="34" charset="-120"/>
              </a:rPr>
              <a:t>Technical backup for questions</a:t>
            </a:r>
            <a:endParaRPr lang="en-US" sz="2800" dirty="0"/>
          </a:p>
        </p:txBody>
      </p:sp>
      <p:sp>
        <p:nvSpPr>
          <p:cNvPr id="4" name="Shape 2"/>
          <p:cNvSpPr/>
          <p:nvPr/>
        </p:nvSpPr>
        <p:spPr>
          <a:xfrm>
            <a:off x="812800" y="1880791"/>
            <a:ext cx="5156200" cy="0"/>
          </a:xfrm>
          <a:prstGeom prst="line">
            <a:avLst/>
          </a:prstGeom>
          <a:noFill/>
          <a:ln w="12700">
            <a:solidFill>
              <a:srgbClr val="3A5272"/>
            </a:solidFill>
            <a:prstDash val="solid"/>
          </a:ln>
        </p:spPr>
      </p:sp>
      <p:sp>
        <p:nvSpPr>
          <p:cNvPr id="5" name="Text 3"/>
          <p:cNvSpPr/>
          <p:nvPr/>
        </p:nvSpPr>
        <p:spPr>
          <a:xfrm>
            <a:off x="812800" y="2014141"/>
            <a:ext cx="457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58A66"/>
                </a:solidFill>
                <a:latin typeface="IBM Plex Mono" pitchFamily="49" charset="0"/>
                <a:ea typeface="IBM Plex Mono" pitchFamily="49" charset="-122"/>
                <a:cs typeface="IBM Plex Mono" pitchFamily="49" charset="-120"/>
              </a:rPr>
              <a:t>A1</a:t>
            </a:r>
            <a:endParaRPr lang="en-US" sz="1400" dirty="0"/>
          </a:p>
        </p:txBody>
      </p:sp>
      <p:sp>
        <p:nvSpPr>
          <p:cNvPr id="6" name="Text 4"/>
          <p:cNvSpPr/>
          <p:nvPr/>
        </p:nvSpPr>
        <p:spPr>
          <a:xfrm>
            <a:off x="1371600" y="2014141"/>
            <a:ext cx="473532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Benchmarks define what each difference means</a:t>
            </a:r>
            <a:endParaRPr lang="en-US" sz="1400" dirty="0"/>
          </a:p>
        </p:txBody>
      </p:sp>
      <p:sp>
        <p:nvSpPr>
          <p:cNvPr id="7" name="Shape 5"/>
          <p:cNvSpPr/>
          <p:nvPr/>
        </p:nvSpPr>
        <p:spPr>
          <a:xfrm>
            <a:off x="6223000" y="1880791"/>
            <a:ext cx="5156200" cy="0"/>
          </a:xfrm>
          <a:prstGeom prst="line">
            <a:avLst/>
          </a:prstGeom>
          <a:noFill/>
          <a:ln w="12700">
            <a:solidFill>
              <a:srgbClr val="3A5272"/>
            </a:solidFill>
            <a:prstDash val="solid"/>
          </a:ln>
        </p:spPr>
      </p:sp>
      <p:sp>
        <p:nvSpPr>
          <p:cNvPr id="8" name="Text 6"/>
          <p:cNvSpPr/>
          <p:nvPr/>
        </p:nvSpPr>
        <p:spPr>
          <a:xfrm>
            <a:off x="6223000" y="2014141"/>
            <a:ext cx="457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58A66"/>
                </a:solidFill>
                <a:latin typeface="IBM Plex Mono" pitchFamily="49" charset="0"/>
                <a:ea typeface="IBM Plex Mono" pitchFamily="49" charset="-122"/>
                <a:cs typeface="IBM Plex Mono" pitchFamily="49" charset="-120"/>
              </a:rPr>
              <a:t>A2</a:t>
            </a:r>
            <a:endParaRPr lang="en-US" sz="1400" dirty="0"/>
          </a:p>
        </p:txBody>
      </p:sp>
      <p:sp>
        <p:nvSpPr>
          <p:cNvPr id="9" name="Text 7"/>
          <p:cNvSpPr/>
          <p:nvPr/>
        </p:nvSpPr>
        <p:spPr>
          <a:xfrm>
            <a:off x="6781800" y="2014141"/>
            <a:ext cx="473532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Scenario 1: confidence-bound ablation</a:t>
            </a:r>
            <a:endParaRPr lang="en-US" sz="1400" dirty="0"/>
          </a:p>
        </p:txBody>
      </p:sp>
      <p:sp>
        <p:nvSpPr>
          <p:cNvPr id="10" name="Shape 8"/>
          <p:cNvSpPr/>
          <p:nvPr/>
        </p:nvSpPr>
        <p:spPr>
          <a:xfrm>
            <a:off x="812800" y="2523381"/>
            <a:ext cx="5156200" cy="0"/>
          </a:xfrm>
          <a:prstGeom prst="line">
            <a:avLst/>
          </a:prstGeom>
          <a:noFill/>
          <a:ln w="12700">
            <a:solidFill>
              <a:srgbClr val="3A5272"/>
            </a:solidFill>
            <a:prstDash val="solid"/>
          </a:ln>
        </p:spPr>
      </p:sp>
      <p:sp>
        <p:nvSpPr>
          <p:cNvPr id="11" name="Text 9"/>
          <p:cNvSpPr/>
          <p:nvPr/>
        </p:nvSpPr>
        <p:spPr>
          <a:xfrm>
            <a:off x="812800" y="2656731"/>
            <a:ext cx="457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58A66"/>
                </a:solidFill>
                <a:latin typeface="IBM Plex Mono" pitchFamily="49" charset="0"/>
                <a:ea typeface="IBM Plex Mono" pitchFamily="49" charset="-122"/>
                <a:cs typeface="IBM Plex Mono" pitchFamily="49" charset="-120"/>
              </a:rPr>
              <a:t>A3</a:t>
            </a:r>
            <a:endParaRPr lang="en-US" sz="1400" dirty="0"/>
          </a:p>
        </p:txBody>
      </p:sp>
      <p:sp>
        <p:nvSpPr>
          <p:cNvPr id="12" name="Text 10"/>
          <p:cNvSpPr/>
          <p:nvPr/>
        </p:nvSpPr>
        <p:spPr>
          <a:xfrm>
            <a:off x="1371600" y="2656731"/>
            <a:ext cx="473532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Scenario 2: confidence and cost ablations</a:t>
            </a:r>
            <a:endParaRPr lang="en-US" sz="1400" dirty="0"/>
          </a:p>
        </p:txBody>
      </p:sp>
      <p:sp>
        <p:nvSpPr>
          <p:cNvPr id="13" name="Shape 11"/>
          <p:cNvSpPr/>
          <p:nvPr/>
        </p:nvSpPr>
        <p:spPr>
          <a:xfrm>
            <a:off x="6223000" y="2523381"/>
            <a:ext cx="5156200" cy="0"/>
          </a:xfrm>
          <a:prstGeom prst="line">
            <a:avLst/>
          </a:prstGeom>
          <a:noFill/>
          <a:ln w="12700">
            <a:solidFill>
              <a:srgbClr val="3A5272"/>
            </a:solidFill>
            <a:prstDash val="solid"/>
          </a:ln>
        </p:spPr>
      </p:sp>
      <p:sp>
        <p:nvSpPr>
          <p:cNvPr id="14" name="Text 12"/>
          <p:cNvSpPr/>
          <p:nvPr/>
        </p:nvSpPr>
        <p:spPr>
          <a:xfrm>
            <a:off x="6223000" y="2656731"/>
            <a:ext cx="457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58A66"/>
                </a:solidFill>
                <a:latin typeface="IBM Plex Mono" pitchFamily="49" charset="0"/>
                <a:ea typeface="IBM Plex Mono" pitchFamily="49" charset="-122"/>
                <a:cs typeface="IBM Plex Mono" pitchFamily="49" charset="-120"/>
              </a:rPr>
              <a:t>A4</a:t>
            </a:r>
            <a:endParaRPr lang="en-US" sz="1400" dirty="0"/>
          </a:p>
        </p:txBody>
      </p:sp>
      <p:sp>
        <p:nvSpPr>
          <p:cNvPr id="15" name="Text 13"/>
          <p:cNvSpPr/>
          <p:nvPr/>
        </p:nvSpPr>
        <p:spPr>
          <a:xfrm>
            <a:off x="6781800" y="2656731"/>
            <a:ext cx="473532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Scenario 3: guard ablation</a:t>
            </a:r>
            <a:endParaRPr lang="en-US" sz="1400" dirty="0"/>
          </a:p>
        </p:txBody>
      </p:sp>
      <p:sp>
        <p:nvSpPr>
          <p:cNvPr id="16" name="Shape 14"/>
          <p:cNvSpPr/>
          <p:nvPr/>
        </p:nvSpPr>
        <p:spPr>
          <a:xfrm>
            <a:off x="812800" y="3165971"/>
            <a:ext cx="5156200" cy="0"/>
          </a:xfrm>
          <a:prstGeom prst="line">
            <a:avLst/>
          </a:prstGeom>
          <a:noFill/>
          <a:ln w="12700">
            <a:solidFill>
              <a:srgbClr val="3A5272"/>
            </a:solidFill>
            <a:prstDash val="solid"/>
          </a:ln>
        </p:spPr>
      </p:sp>
      <p:sp>
        <p:nvSpPr>
          <p:cNvPr id="17" name="Text 15"/>
          <p:cNvSpPr/>
          <p:nvPr/>
        </p:nvSpPr>
        <p:spPr>
          <a:xfrm>
            <a:off x="812800" y="3299321"/>
            <a:ext cx="457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58A66"/>
                </a:solidFill>
                <a:latin typeface="IBM Plex Mono" pitchFamily="49" charset="0"/>
                <a:ea typeface="IBM Plex Mono" pitchFamily="49" charset="-122"/>
                <a:cs typeface="IBM Plex Mono" pitchFamily="49" charset="-120"/>
              </a:rPr>
              <a:t>A5</a:t>
            </a:r>
            <a:endParaRPr lang="en-US" sz="1400" dirty="0"/>
          </a:p>
        </p:txBody>
      </p:sp>
      <p:sp>
        <p:nvSpPr>
          <p:cNvPr id="18" name="Text 16"/>
          <p:cNvSpPr/>
          <p:nvPr/>
        </p:nvSpPr>
        <p:spPr>
          <a:xfrm>
            <a:off x="1371600" y="3299321"/>
            <a:ext cx="473532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Scenario 3: pseudo-regret across tested horizons</a:t>
            </a:r>
            <a:endParaRPr lang="en-US" sz="1400" dirty="0"/>
          </a:p>
        </p:txBody>
      </p:sp>
      <p:sp>
        <p:nvSpPr>
          <p:cNvPr id="19" name="Shape 17"/>
          <p:cNvSpPr/>
          <p:nvPr/>
        </p:nvSpPr>
        <p:spPr>
          <a:xfrm>
            <a:off x="6223000" y="3165971"/>
            <a:ext cx="5156200" cy="0"/>
          </a:xfrm>
          <a:prstGeom prst="line">
            <a:avLst/>
          </a:prstGeom>
          <a:noFill/>
          <a:ln w="12700">
            <a:solidFill>
              <a:srgbClr val="3A5272"/>
            </a:solidFill>
            <a:prstDash val="solid"/>
          </a:ln>
        </p:spPr>
      </p:sp>
      <p:sp>
        <p:nvSpPr>
          <p:cNvPr id="20" name="Text 18"/>
          <p:cNvSpPr/>
          <p:nvPr/>
        </p:nvSpPr>
        <p:spPr>
          <a:xfrm>
            <a:off x="6223000" y="3299321"/>
            <a:ext cx="4572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58A66"/>
                </a:solidFill>
                <a:latin typeface="IBM Plex Mono" pitchFamily="49" charset="0"/>
                <a:ea typeface="IBM Plex Mono" pitchFamily="49" charset="-122"/>
                <a:cs typeface="IBM Plex Mono" pitchFamily="49" charset="-120"/>
              </a:rPr>
              <a:t>A6</a:t>
            </a:r>
            <a:endParaRPr lang="en-US" sz="1400" dirty="0"/>
          </a:p>
        </p:txBody>
      </p:sp>
      <p:sp>
        <p:nvSpPr>
          <p:cNvPr id="21" name="Text 19"/>
          <p:cNvSpPr/>
          <p:nvPr/>
        </p:nvSpPr>
        <p:spPr>
          <a:xfrm>
            <a:off x="6781800" y="3299321"/>
            <a:ext cx="473532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Scenario 4: window width and expenditure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APPENDIX A1 · MEASURES</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Benchmarks define what each difference means</a:t>
            </a:r>
            <a:endParaRPr lang="en-US" sz="2800" dirty="0"/>
          </a:p>
        </p:txBody>
      </p:sp>
      <p:sp>
        <p:nvSpPr>
          <p:cNvPr id="4" name="Shape 2"/>
          <p:cNvSpPr/>
          <p:nvPr/>
        </p:nvSpPr>
        <p:spPr>
          <a:xfrm>
            <a:off x="11376025" y="1671241"/>
            <a:ext cx="0" cy="2695773"/>
          </a:xfrm>
          <a:prstGeom prst="line">
            <a:avLst/>
          </a:prstGeom>
          <a:noFill/>
          <a:ln w="6350">
            <a:solidFill>
              <a:srgbClr val="DCD8CF"/>
            </a:solidFill>
            <a:prstDash val="solid"/>
          </a:ln>
        </p:spPr>
      </p:sp>
      <p:sp>
        <p:nvSpPr>
          <p:cNvPr id="5" name="Shape 3"/>
          <p:cNvSpPr/>
          <p:nvPr/>
        </p:nvSpPr>
        <p:spPr>
          <a:xfrm>
            <a:off x="812800" y="4363839"/>
            <a:ext cx="10566400" cy="0"/>
          </a:xfrm>
          <a:prstGeom prst="line">
            <a:avLst/>
          </a:prstGeom>
          <a:noFill/>
          <a:ln w="6350">
            <a:solidFill>
              <a:srgbClr val="DCD8CF"/>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1683941"/>
          <a:ext cx="10547350" cy="2676723"/>
        </p:xfrm>
        <a:graphic>
          <a:graphicData uri="http://schemas.openxmlformats.org/drawingml/2006/table">
            <a:tbl>
              <a:tblPr/>
              <a:tblGrid>
                <a:gridCol w="843788"/>
                <a:gridCol w="3797046"/>
                <a:gridCol w="4007993"/>
                <a:gridCol w="1898523"/>
              </a:tblGrid>
              <a:tr h="386011">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Scen.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Benchmark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Reported difference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Name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True-mean LP over a fixed bid distribution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Expected oracle utility − realized learner utility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Regret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63490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True-mean LP over a fixed super-action distribution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Expected oracle utility − true expected utility of selected actions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Pseudo-regret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63490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Best fixed distribution fitted to the complete realized sequence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Reward-vector difference between oracle and proposed learner distributions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Pseudo-regret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63490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One true-mean LP per stationary segment, each capped at B/T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Expected oracle utility − realized learner utility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Gap, segment-local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7" name="Text 4"/>
          <p:cNvSpPr/>
          <p:nvPr/>
        </p:nvSpPr>
        <p:spPr>
          <a:xfrm>
            <a:off x="812800" y="4621014"/>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Scenario 2 also stores realized regret and a sampled clairvoyant policy.</a:t>
            </a:r>
            <a:endParaRPr lang="en-US" sz="1400" dirty="0"/>
          </a:p>
        </p:txBody>
      </p:sp>
      <p:sp>
        <p:nvSpPr>
          <p:cNvPr id="8" name="Text 5"/>
          <p:cNvSpPr/>
          <p:nvPr/>
        </p:nvSpPr>
        <p:spPr>
          <a:xfrm>
            <a:off x="812800" y="4920704"/>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Scenario 4 also reports a stronger segment-global oracle that can move expected spending between segments.</a:t>
            </a:r>
            <a:endParaRPr lang="en-US" sz="1400" dirty="0"/>
          </a:p>
        </p:txBody>
      </p:sp>
      <p:sp>
        <p:nvSpPr>
          <p:cNvPr id="9" name="Text 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Sources: R1 cells 4, 6 · R2 cells 7, 12 · R3 cells 7, 12 · R4 cells 8, 17.</a:t>
            </a:r>
            <a:endParaRPr lang="en-US" sz="1200" dirty="0"/>
          </a:p>
        </p:txBody>
      </p:sp>
      <p:sp>
        <p:nvSpPr>
          <p:cNvPr id="10" name="Text 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A1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APPENDIX A2 · SCENARIO 1 · ABLATION</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The confidence-bound ablation isolates one decision</a:t>
            </a:r>
            <a:endParaRPr lang="en-US" sz="2800" dirty="0"/>
          </a:p>
        </p:txBody>
      </p:sp>
      <p:sp>
        <p:nvSpPr>
          <p:cNvPr id="4" name="Text 2"/>
          <p:cNvSpPr/>
          <p:nvPr/>
        </p:nvSpPr>
        <p:spPr>
          <a:xfrm>
            <a:off x="812800" y="167124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46A"/>
                </a:solidFill>
                <a:latin typeface="IBM Plex Sans" pitchFamily="34" charset="0"/>
                <a:ea typeface="IBM Plex Sans" pitchFamily="34" charset="-122"/>
                <a:cs typeface="IBM Plex Sans" pitchFamily="34" charset="-120"/>
              </a:rPr>
              <a:t>The ablation keeps the revised policy structure and changes only the confidence bound.</a:t>
            </a:r>
            <a:endParaRPr lang="en-US" sz="1400" dirty="0"/>
          </a:p>
        </p:txBody>
      </p:sp>
      <p:sp>
        <p:nvSpPr>
          <p:cNvPr id="5" name="Text 3"/>
          <p:cNvSpPr/>
          <p:nvPr/>
        </p:nvSpPr>
        <p:spPr>
          <a:xfrm>
            <a:off x="812800" y="2174131"/>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Mean final regret · lower is better</a:t>
            </a:r>
            <a:endParaRPr lang="en-US" sz="1200" dirty="0"/>
          </a:p>
        </p:txBody>
      </p:sp>
      <p:sp>
        <p:nvSpPr>
          <p:cNvPr id="6" name="Shape 4"/>
          <p:cNvSpPr/>
          <p:nvPr/>
        </p:nvSpPr>
        <p:spPr>
          <a:xfrm>
            <a:off x="812800" y="5022701"/>
            <a:ext cx="4826000" cy="0"/>
          </a:xfrm>
          <a:prstGeom prst="line">
            <a:avLst/>
          </a:prstGeom>
          <a:noFill/>
          <a:ln w="12700">
            <a:solidFill>
              <a:srgbClr val="14263D"/>
            </a:solidFill>
            <a:prstDash val="solid"/>
          </a:ln>
        </p:spPr>
      </p:sp>
      <p:sp>
        <p:nvSpPr>
          <p:cNvPr id="7" name="Text 5"/>
          <p:cNvSpPr/>
          <p:nvPr/>
        </p:nvSpPr>
        <p:spPr>
          <a:xfrm>
            <a:off x="1750680" y="4018161"/>
            <a:ext cx="740390" cy="299690"/>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B8492A"/>
                </a:solidFill>
                <a:latin typeface="IBM Plex Sans" pitchFamily="34" charset="0"/>
                <a:ea typeface="IBM Plex Sans" pitchFamily="34" charset="-122"/>
                <a:cs typeface="IBM Plex Sans" pitchFamily="34" charset="-120"/>
              </a:rPr>
              <a:t>11.37</a:t>
            </a:r>
            <a:endParaRPr lang="en-US" sz="1800" dirty="0"/>
          </a:p>
        </p:txBody>
      </p:sp>
      <p:sp>
        <p:nvSpPr>
          <p:cNvPr id="8" name="Shape 6"/>
          <p:cNvSpPr/>
          <p:nvPr/>
        </p:nvSpPr>
        <p:spPr>
          <a:xfrm>
            <a:off x="1422400" y="4368651"/>
            <a:ext cx="1397000" cy="647700"/>
          </a:xfrm>
          <a:prstGeom prst="rect">
            <a:avLst/>
          </a:prstGeom>
          <a:solidFill>
            <a:srgbClr val="B8492A"/>
          </a:solidFill>
          <a:ln/>
        </p:spPr>
      </p:sp>
      <p:sp>
        <p:nvSpPr>
          <p:cNvPr id="9" name="Text 7"/>
          <p:cNvSpPr/>
          <p:nvPr/>
        </p:nvSpPr>
        <p:spPr>
          <a:xfrm>
            <a:off x="3757280" y="2621161"/>
            <a:ext cx="740390" cy="299690"/>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5F6B7A"/>
                </a:solidFill>
                <a:latin typeface="IBM Plex Sans" pitchFamily="34" charset="0"/>
                <a:ea typeface="IBM Plex Sans" pitchFamily="34" charset="-122"/>
                <a:cs typeface="IBM Plex Sans" pitchFamily="34" charset="-120"/>
              </a:rPr>
              <a:t>35.72</a:t>
            </a:r>
            <a:endParaRPr lang="en-US" sz="1800" dirty="0"/>
          </a:p>
        </p:txBody>
      </p:sp>
      <p:sp>
        <p:nvSpPr>
          <p:cNvPr id="10" name="Shape 8"/>
          <p:cNvSpPr/>
          <p:nvPr/>
        </p:nvSpPr>
        <p:spPr>
          <a:xfrm>
            <a:off x="3429000" y="2971651"/>
            <a:ext cx="1397000" cy="2044700"/>
          </a:xfrm>
          <a:prstGeom prst="rect">
            <a:avLst/>
          </a:prstGeom>
          <a:solidFill>
            <a:srgbClr val="A9B4C2"/>
          </a:solidFill>
          <a:ln/>
        </p:spPr>
      </p:sp>
      <p:sp>
        <p:nvSpPr>
          <p:cNvPr id="11" name="Text 9"/>
          <p:cNvSpPr/>
          <p:nvPr/>
        </p:nvSpPr>
        <p:spPr>
          <a:xfrm>
            <a:off x="1397000" y="5130651"/>
            <a:ext cx="144780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B8492A"/>
                </a:solidFill>
                <a:latin typeface="IBM Plex Sans" pitchFamily="34" charset="0"/>
                <a:ea typeface="IBM Plex Sans" pitchFamily="34" charset="-122"/>
                <a:cs typeface="IBM Plex Sans" pitchFamily="34" charset="-120"/>
              </a:rPr>
              <a:t>KL bound</a:t>
            </a:r>
            <a:endParaRPr lang="en-US" sz="1400" dirty="0"/>
          </a:p>
        </p:txBody>
      </p:sp>
      <p:sp>
        <p:nvSpPr>
          <p:cNvPr id="12" name="Text 10"/>
          <p:cNvSpPr/>
          <p:nvPr/>
        </p:nvSpPr>
        <p:spPr>
          <a:xfrm>
            <a:off x="3289300" y="5130651"/>
            <a:ext cx="167640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5F6B7A"/>
                </a:solidFill>
                <a:latin typeface="IBM Plex Sans" pitchFamily="34" charset="0"/>
                <a:ea typeface="IBM Plex Sans" pitchFamily="34" charset="-122"/>
                <a:cs typeface="IBM Plex Sans" pitchFamily="34" charset="-120"/>
              </a:rPr>
              <a:t>Hoeffding bound</a:t>
            </a:r>
            <a:endParaRPr lang="en-US" sz="1400" dirty="0"/>
          </a:p>
        </p:txBody>
      </p:sp>
      <p:sp>
        <p:nvSpPr>
          <p:cNvPr id="13" name="Shape 11"/>
          <p:cNvSpPr/>
          <p:nvPr/>
        </p:nvSpPr>
        <p:spPr>
          <a:xfrm>
            <a:off x="11376025" y="2174131"/>
            <a:ext cx="0" cy="1177082"/>
          </a:xfrm>
          <a:prstGeom prst="line">
            <a:avLst/>
          </a:prstGeom>
          <a:noFill/>
          <a:ln w="6350">
            <a:solidFill>
              <a:srgbClr val="DCD8CF"/>
            </a:solidFill>
            <a:prstDash val="solid"/>
          </a:ln>
        </p:spPr>
      </p:sp>
      <p:sp>
        <p:nvSpPr>
          <p:cNvPr id="14" name="Shape 12"/>
          <p:cNvSpPr/>
          <p:nvPr/>
        </p:nvSpPr>
        <p:spPr>
          <a:xfrm>
            <a:off x="6045200" y="3348038"/>
            <a:ext cx="5334000" cy="0"/>
          </a:xfrm>
          <a:prstGeom prst="line">
            <a:avLst/>
          </a:prstGeom>
          <a:noFill/>
          <a:ln w="6350">
            <a:solidFill>
              <a:srgbClr val="DCD8CF"/>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057900" y="2186831"/>
          <a:ext cx="5314950" cy="1158032"/>
        </p:xfrm>
        <a:graphic>
          <a:graphicData uri="http://schemas.openxmlformats.org/drawingml/2006/table">
            <a:tbl>
              <a:tblPr/>
              <a:tblGrid>
                <a:gridCol w="1594485"/>
                <a:gridCol w="1913382"/>
                <a:gridCol w="1807083"/>
              </a:tblGrid>
              <a:tr h="386011">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Bound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Mean final regret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Mean spend / 125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KL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11.37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123.20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B8B1"/>
                      </a:solidFill>
                      <a:prstDash val="solid"/>
                      <a:round/>
                      <a:headEnd type="none" w="med" len="med"/>
                      <a:tailEnd type="none" w="med" len="med"/>
                    </a:lnL>
                    <a:lnR w="12700" cap="flat" cmpd="sng" algn="ctr">
                      <a:solidFill>
                        <a:srgbClr val="C4B8B1"/>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4B8B1"/>
                      </a:solidFill>
                      <a:prstDash val="solid"/>
                      <a:round/>
                      <a:headEnd type="none" w="med" len="med"/>
                      <a:tailEnd type="none" w="med" len="med"/>
                    </a:lnB>
                    <a:solidFill>
                      <a:srgbClr val="F6E6DE"/>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Hoeffding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B8B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35.72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B8B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45.55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4B8B1"/>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16" name="Text 13"/>
          <p:cNvSpPr/>
          <p:nvPr/>
        </p:nvSpPr>
        <p:spPr>
          <a:xfrm>
            <a:off x="6045200" y="3554413"/>
            <a:ext cx="549402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Wider intervals can also keep the policy choosing low bids that rarely win. The ablation supports KL bounds on this instance.</a:t>
            </a:r>
            <a:endParaRPr lang="en-US" sz="1400" dirty="0"/>
          </a:p>
        </p:txBody>
      </p:sp>
      <p:sp>
        <p:nvSpPr>
          <p:cNvPr id="17" name="Text 14"/>
          <p:cNvSpPr/>
          <p:nvPr/>
        </p:nvSpPr>
        <p:spPr>
          <a:xfrm>
            <a:off x="6045200" y="4255393"/>
            <a:ext cx="5494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This is a separate ablation, not the baseline comparison of slide 6.</a:t>
            </a:r>
            <a:endParaRPr lang="en-US" sz="1200" dirty="0"/>
          </a:p>
        </p:txBody>
      </p:sp>
      <p:sp>
        <p:nvSpPr>
          <p:cNvPr id="18" name="Text 15"/>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10-trial paired ablation: reuses the main KL runs and runs the matched Hoeffding variant. Source: R1 cells 16–17.</a:t>
            </a:r>
            <a:endParaRPr lang="en-US" sz="1200" dirty="0"/>
          </a:p>
        </p:txBody>
      </p:sp>
      <p:sp>
        <p:nvSpPr>
          <p:cNvPr id="19" name="Text 16"/>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A2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APPENDIX A3 · SCENARIO 2 · ABLATIONS</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Confidence and cost ablations support separate changes</a:t>
            </a:r>
            <a:endParaRPr lang="en-US" sz="2800" dirty="0"/>
          </a:p>
        </p:txBody>
      </p:sp>
      <p:sp>
        <p:nvSpPr>
          <p:cNvPr id="4" name="Text 2"/>
          <p:cNvSpPr/>
          <p:nvPr/>
        </p:nvSpPr>
        <p:spPr>
          <a:xfrm>
            <a:off x="812800" y="16712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Mean final pseudo-regret · lower is better · same scale in both panels</a:t>
            </a:r>
            <a:endParaRPr lang="en-US" sz="1200" dirty="0"/>
          </a:p>
        </p:txBody>
      </p:sp>
      <p:sp>
        <p:nvSpPr>
          <p:cNvPr id="5" name="Text 3"/>
          <p:cNvSpPr/>
          <p:nvPr/>
        </p:nvSpPr>
        <p:spPr>
          <a:xfrm>
            <a:off x="812800" y="2138561"/>
            <a:ext cx="523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Confidence bound</a:t>
            </a:r>
            <a:endParaRPr lang="en-US" sz="1400" dirty="0"/>
          </a:p>
        </p:txBody>
      </p:sp>
      <p:sp>
        <p:nvSpPr>
          <p:cNvPr id="6" name="Shape 4"/>
          <p:cNvSpPr/>
          <p:nvPr/>
        </p:nvSpPr>
        <p:spPr>
          <a:xfrm>
            <a:off x="812800" y="4552801"/>
            <a:ext cx="5080000" cy="0"/>
          </a:xfrm>
          <a:prstGeom prst="line">
            <a:avLst/>
          </a:prstGeom>
          <a:noFill/>
          <a:ln w="12700">
            <a:solidFill>
              <a:srgbClr val="14263D"/>
            </a:solidFill>
            <a:prstDash val="solid"/>
          </a:ln>
        </p:spPr>
      </p:sp>
      <p:sp>
        <p:nvSpPr>
          <p:cNvPr id="7" name="Text 5"/>
          <p:cNvSpPr/>
          <p:nvPr/>
        </p:nvSpPr>
        <p:spPr>
          <a:xfrm>
            <a:off x="1985352" y="3484761"/>
            <a:ext cx="575846" cy="299690"/>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B8492A"/>
                </a:solidFill>
                <a:latin typeface="IBM Plex Sans" pitchFamily="34" charset="0"/>
                <a:ea typeface="IBM Plex Sans" pitchFamily="34" charset="-122"/>
                <a:cs typeface="IBM Plex Sans" pitchFamily="34" charset="-120"/>
              </a:rPr>
              <a:t>70.1</a:t>
            </a:r>
            <a:endParaRPr lang="en-US" sz="1800" dirty="0"/>
          </a:p>
        </p:txBody>
      </p:sp>
      <p:sp>
        <p:nvSpPr>
          <p:cNvPr id="8" name="Shape 6"/>
          <p:cNvSpPr/>
          <p:nvPr/>
        </p:nvSpPr>
        <p:spPr>
          <a:xfrm>
            <a:off x="1574800" y="3835251"/>
            <a:ext cx="1397000" cy="711200"/>
          </a:xfrm>
          <a:prstGeom prst="rect">
            <a:avLst/>
          </a:prstGeom>
          <a:solidFill>
            <a:srgbClr val="B8492A"/>
          </a:solidFill>
          <a:ln/>
        </p:spPr>
      </p:sp>
      <p:sp>
        <p:nvSpPr>
          <p:cNvPr id="9" name="Text 7"/>
          <p:cNvSpPr/>
          <p:nvPr/>
        </p:nvSpPr>
        <p:spPr>
          <a:xfrm>
            <a:off x="3909680" y="3173611"/>
            <a:ext cx="740390" cy="299690"/>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5F6B7A"/>
                </a:solidFill>
                <a:latin typeface="IBM Plex Sans" pitchFamily="34" charset="0"/>
                <a:ea typeface="IBM Plex Sans" pitchFamily="34" charset="-122"/>
                <a:cs typeface="IBM Plex Sans" pitchFamily="34" charset="-120"/>
              </a:rPr>
              <a:t>100.5</a:t>
            </a:r>
            <a:endParaRPr lang="en-US" sz="1800" dirty="0"/>
          </a:p>
        </p:txBody>
      </p:sp>
      <p:sp>
        <p:nvSpPr>
          <p:cNvPr id="10" name="Shape 8"/>
          <p:cNvSpPr/>
          <p:nvPr/>
        </p:nvSpPr>
        <p:spPr>
          <a:xfrm>
            <a:off x="3581400" y="3524101"/>
            <a:ext cx="1397000" cy="1022350"/>
          </a:xfrm>
          <a:prstGeom prst="rect">
            <a:avLst/>
          </a:prstGeom>
          <a:solidFill>
            <a:srgbClr val="A9B4C2"/>
          </a:solidFill>
          <a:ln/>
        </p:spPr>
      </p:sp>
      <p:sp>
        <p:nvSpPr>
          <p:cNvPr id="11" name="Text 9"/>
          <p:cNvSpPr/>
          <p:nvPr/>
        </p:nvSpPr>
        <p:spPr>
          <a:xfrm>
            <a:off x="1549400" y="4635351"/>
            <a:ext cx="144780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B8492A"/>
                </a:solidFill>
                <a:latin typeface="IBM Plex Sans" pitchFamily="34" charset="0"/>
                <a:ea typeface="IBM Plex Sans" pitchFamily="34" charset="-122"/>
                <a:cs typeface="IBM Plex Sans" pitchFamily="34" charset="-120"/>
              </a:rPr>
              <a:t>KL</a:t>
            </a:r>
            <a:endParaRPr lang="en-US" sz="1400" dirty="0"/>
          </a:p>
        </p:txBody>
      </p:sp>
      <p:sp>
        <p:nvSpPr>
          <p:cNvPr id="12" name="Text 10"/>
          <p:cNvSpPr/>
          <p:nvPr/>
        </p:nvSpPr>
        <p:spPr>
          <a:xfrm>
            <a:off x="3556000" y="4635351"/>
            <a:ext cx="144780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5F6B7A"/>
                </a:solidFill>
                <a:latin typeface="IBM Plex Sans" pitchFamily="34" charset="0"/>
                <a:ea typeface="IBM Plex Sans" pitchFamily="34" charset="-122"/>
                <a:cs typeface="IBM Plex Sans" pitchFamily="34" charset="-120"/>
              </a:rPr>
              <a:t>Hoeffding</a:t>
            </a:r>
            <a:endParaRPr lang="en-US" sz="1400" dirty="0"/>
          </a:p>
        </p:txBody>
      </p:sp>
      <p:sp>
        <p:nvSpPr>
          <p:cNvPr id="13" name="Text 11"/>
          <p:cNvSpPr/>
          <p:nvPr/>
        </p:nvSpPr>
        <p:spPr>
          <a:xfrm>
            <a:off x="812800" y="4960441"/>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46A"/>
                </a:solidFill>
                <a:latin typeface="IBM Plex Sans" pitchFamily="34" charset="0"/>
                <a:ea typeface="IBM Plex Sans" pitchFamily="34" charset="-122"/>
                <a:cs typeface="IBM Plex Sans" pitchFamily="34" charset="-120"/>
              </a:rPr>
              <a:t>Only the confidence bound changes.</a:t>
            </a:r>
            <a:endParaRPr lang="en-US" sz="1200" dirty="0"/>
          </a:p>
        </p:txBody>
      </p:sp>
      <p:sp>
        <p:nvSpPr>
          <p:cNvPr id="14" name="Text 12"/>
          <p:cNvSpPr/>
          <p:nvPr/>
        </p:nvSpPr>
        <p:spPr>
          <a:xfrm>
            <a:off x="6299200" y="2138561"/>
            <a:ext cx="52324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Cost estimate in the LP</a:t>
            </a:r>
            <a:endParaRPr lang="en-US" sz="1400" dirty="0"/>
          </a:p>
        </p:txBody>
      </p:sp>
      <p:sp>
        <p:nvSpPr>
          <p:cNvPr id="15" name="Shape 13"/>
          <p:cNvSpPr/>
          <p:nvPr/>
        </p:nvSpPr>
        <p:spPr>
          <a:xfrm>
            <a:off x="6299200" y="4552801"/>
            <a:ext cx="5080000" cy="0"/>
          </a:xfrm>
          <a:prstGeom prst="line">
            <a:avLst/>
          </a:prstGeom>
          <a:noFill/>
          <a:ln w="12700">
            <a:solidFill>
              <a:srgbClr val="14263D"/>
            </a:solidFill>
            <a:prstDash val="solid"/>
          </a:ln>
        </p:spPr>
      </p:sp>
      <p:sp>
        <p:nvSpPr>
          <p:cNvPr id="16" name="Text 14"/>
          <p:cNvSpPr/>
          <p:nvPr/>
        </p:nvSpPr>
        <p:spPr>
          <a:xfrm>
            <a:off x="7471752" y="3484761"/>
            <a:ext cx="575846" cy="299690"/>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B8492A"/>
                </a:solidFill>
                <a:latin typeface="IBM Plex Sans" pitchFamily="34" charset="0"/>
                <a:ea typeface="IBM Plex Sans" pitchFamily="34" charset="-122"/>
                <a:cs typeface="IBM Plex Sans" pitchFamily="34" charset="-120"/>
              </a:rPr>
              <a:t>70.1</a:t>
            </a:r>
            <a:endParaRPr lang="en-US" sz="1800" dirty="0"/>
          </a:p>
        </p:txBody>
      </p:sp>
      <p:sp>
        <p:nvSpPr>
          <p:cNvPr id="17" name="Shape 15"/>
          <p:cNvSpPr/>
          <p:nvPr/>
        </p:nvSpPr>
        <p:spPr>
          <a:xfrm>
            <a:off x="7061200" y="3835251"/>
            <a:ext cx="1397000" cy="711200"/>
          </a:xfrm>
          <a:prstGeom prst="rect">
            <a:avLst/>
          </a:prstGeom>
          <a:solidFill>
            <a:srgbClr val="B8492A"/>
          </a:solidFill>
          <a:ln/>
        </p:spPr>
      </p:sp>
      <p:sp>
        <p:nvSpPr>
          <p:cNvPr id="18" name="Text 16"/>
          <p:cNvSpPr/>
          <p:nvPr/>
        </p:nvSpPr>
        <p:spPr>
          <a:xfrm>
            <a:off x="9396080" y="2506861"/>
            <a:ext cx="740390" cy="299690"/>
          </a:xfrm>
          <a:prstGeom prst="rect">
            <a:avLst/>
          </a:prstGeom>
          <a:noFill/>
          <a:ln/>
        </p:spPr>
        <p:txBody>
          <a:bodyPr wrap="square" lIns="0" tIns="0" rIns="0" bIns="0" rtlCol="0" anchor="t">
            <a:normAutofit/>
          </a:bodyPr>
          <a:lstStyle/>
          <a:p>
            <a:pPr algn="ctr" indent="0" marL="0">
              <a:lnSpc>
                <a:spcPts val="2160"/>
              </a:lnSpc>
              <a:buNone/>
            </a:pPr>
            <a:r>
              <a:rPr lang="en-US" sz="1800" b="1" dirty="0">
                <a:solidFill>
                  <a:srgbClr val="5F6B7A"/>
                </a:solidFill>
                <a:latin typeface="IBM Plex Sans" pitchFamily="34" charset="0"/>
                <a:ea typeface="IBM Plex Sans" pitchFamily="34" charset="-122"/>
                <a:cs typeface="IBM Plex Sans" pitchFamily="34" charset="-120"/>
              </a:rPr>
              <a:t>166.2</a:t>
            </a:r>
            <a:endParaRPr lang="en-US" sz="1800" dirty="0"/>
          </a:p>
        </p:txBody>
      </p:sp>
      <p:sp>
        <p:nvSpPr>
          <p:cNvPr id="19" name="Shape 17"/>
          <p:cNvSpPr/>
          <p:nvPr/>
        </p:nvSpPr>
        <p:spPr>
          <a:xfrm>
            <a:off x="9067800" y="2857351"/>
            <a:ext cx="1397000" cy="1689100"/>
          </a:xfrm>
          <a:prstGeom prst="rect">
            <a:avLst/>
          </a:prstGeom>
          <a:solidFill>
            <a:srgbClr val="A9B4C2"/>
          </a:solidFill>
          <a:ln/>
        </p:spPr>
      </p:sp>
      <p:sp>
        <p:nvSpPr>
          <p:cNvPr id="20" name="Text 18"/>
          <p:cNvSpPr/>
          <p:nvPr/>
        </p:nvSpPr>
        <p:spPr>
          <a:xfrm>
            <a:off x="7035800" y="4635351"/>
            <a:ext cx="144780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B8492A"/>
                </a:solidFill>
                <a:latin typeface="IBM Plex Sans" pitchFamily="34" charset="0"/>
                <a:ea typeface="IBM Plex Sans" pitchFamily="34" charset="-122"/>
                <a:cs typeface="IBM Plex Sans" pitchFamily="34" charset="-120"/>
              </a:rPr>
              <a:t>Empirical cost</a:t>
            </a:r>
            <a:endParaRPr lang="en-US" sz="1400" dirty="0"/>
          </a:p>
        </p:txBody>
      </p:sp>
      <p:sp>
        <p:nvSpPr>
          <p:cNvPr id="21" name="Text 19"/>
          <p:cNvSpPr/>
          <p:nvPr/>
        </p:nvSpPr>
        <p:spPr>
          <a:xfrm>
            <a:off x="9042400" y="4635351"/>
            <a:ext cx="1447800" cy="274290"/>
          </a:xfrm>
          <a:prstGeom prst="rect">
            <a:avLst/>
          </a:prstGeom>
          <a:noFill/>
          <a:ln/>
        </p:spPr>
        <p:txBody>
          <a:bodyPr wrap="square" lIns="0" tIns="0" rIns="0" bIns="0" rtlCol="0" anchor="t">
            <a:normAutofit/>
          </a:bodyPr>
          <a:lstStyle/>
          <a:p>
            <a:pPr algn="ctr" indent="0" marL="0">
              <a:lnSpc>
                <a:spcPts val="1960"/>
              </a:lnSpc>
              <a:buNone/>
            </a:pPr>
            <a:r>
              <a:rPr lang="en-US" sz="1400" b="1" dirty="0">
                <a:solidFill>
                  <a:srgbClr val="5F6B7A"/>
                </a:solidFill>
                <a:latin typeface="IBM Plex Sans" pitchFamily="34" charset="0"/>
                <a:ea typeface="IBM Plex Sans" pitchFamily="34" charset="-122"/>
                <a:cs typeface="IBM Plex Sans" pitchFamily="34" charset="-120"/>
              </a:rPr>
              <a:t>Cost LCB</a:t>
            </a:r>
            <a:endParaRPr lang="en-US" sz="1400" dirty="0"/>
          </a:p>
        </p:txBody>
      </p:sp>
      <p:sp>
        <p:nvSpPr>
          <p:cNvPr id="22" name="Text 20"/>
          <p:cNvSpPr/>
          <p:nvPr/>
        </p:nvSpPr>
        <p:spPr>
          <a:xfrm>
            <a:off x="6299200" y="4960441"/>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46A"/>
                </a:solidFill>
                <a:latin typeface="IBM Plex Sans" pitchFamily="34" charset="0"/>
                <a:ea typeface="IBM Plex Sans" pitchFamily="34" charset="-122"/>
                <a:cs typeface="IBM Plex Sans" pitchFamily="34" charset="-120"/>
              </a:rPr>
              <a:t>Mean spend at T/4: 176.0 (empirical) vs 241.4 (cost LCB) of 700.</a:t>
            </a:r>
            <a:endParaRPr lang="en-US" sz="1200" dirty="0"/>
          </a:p>
        </p:txBody>
      </p:sp>
      <p:sp>
        <p:nvSpPr>
          <p:cNvPr id="23" name="Text 21"/>
          <p:cNvSpPr/>
          <p:nvPr/>
        </p:nvSpPr>
        <p:spPr>
          <a:xfrm>
            <a:off x="812800" y="542776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20 paired trials, one decimal as saved. Each comparison holds the other revised components fixed; neither isolates pacing.</a:t>
            </a:r>
            <a:endParaRPr lang="en-US" sz="1200" dirty="0"/>
          </a:p>
        </p:txBody>
      </p:sp>
      <p:sp>
        <p:nvSpPr>
          <p:cNvPr id="24" name="Text 22"/>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Sources: R2 cell 17 (KL vs Hoeffding), cell 18 (empirical cost vs cost LCB, spend at T/4).</a:t>
            </a:r>
            <a:endParaRPr lang="en-US" sz="1200" dirty="0"/>
          </a:p>
        </p:txBody>
      </p:sp>
      <p:sp>
        <p:nvSpPr>
          <p:cNvPr id="25" name="Text 23"/>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A3</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APPENDIX A4 · SCENARIO 3 · ABLATION</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The guard ablation shows no measured performance gain</a:t>
            </a:r>
            <a:endParaRPr lang="en-US" sz="2800" dirty="0"/>
          </a:p>
        </p:txBody>
      </p:sp>
      <p:sp>
        <p:nvSpPr>
          <p:cNvPr id="4" name="Text 2"/>
          <p:cNvSpPr/>
          <p:nvPr/>
        </p:nvSpPr>
        <p:spPr>
          <a:xfrm>
            <a:off x="812800" y="167124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With calibrated rates held fixed, the two guards have identical displayed outcomes over eight paired trials.</a:t>
            </a:r>
            <a:endParaRPr lang="en-US" sz="1400" dirty="0"/>
          </a:p>
        </p:txBody>
      </p:sp>
      <p:sp>
        <p:nvSpPr>
          <p:cNvPr id="5" name="Shape 3"/>
          <p:cNvSpPr/>
          <p:nvPr/>
        </p:nvSpPr>
        <p:spPr>
          <a:xfrm>
            <a:off x="11376025" y="2174131"/>
            <a:ext cx="0" cy="1949103"/>
          </a:xfrm>
          <a:prstGeom prst="line">
            <a:avLst/>
          </a:prstGeom>
          <a:noFill/>
          <a:ln w="6350">
            <a:solidFill>
              <a:srgbClr val="DCD8CF"/>
            </a:solidFill>
            <a:prstDash val="solid"/>
          </a:ln>
        </p:spPr>
      </p:sp>
      <p:sp>
        <p:nvSpPr>
          <p:cNvPr id="6" name="Shape 4"/>
          <p:cNvSpPr/>
          <p:nvPr/>
        </p:nvSpPr>
        <p:spPr>
          <a:xfrm>
            <a:off x="812800" y="4120059"/>
            <a:ext cx="10566400" cy="0"/>
          </a:xfrm>
          <a:prstGeom prst="line">
            <a:avLst/>
          </a:prstGeom>
          <a:noFill/>
          <a:ln w="6350">
            <a:solidFill>
              <a:srgbClr val="DCD8CF"/>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5500" y="2186831"/>
          <a:ext cx="10547350" cy="1930053"/>
        </p:xfrm>
        <a:graphic>
          <a:graphicData uri="http://schemas.openxmlformats.org/drawingml/2006/table">
            <a:tbl>
              <a:tblPr/>
              <a:tblGrid>
                <a:gridCol w="2531364"/>
                <a:gridCol w="1898523"/>
                <a:gridCol w="1898523"/>
                <a:gridCol w="2320417"/>
                <a:gridCol w="1898523"/>
              </a:tblGrid>
              <a:tr h="386011">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Environment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Guard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Utility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Pseudo-regret / round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Spend / 700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Stochastic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Global stop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1286.3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0.121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674.5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Stochastic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Per action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1286.3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0.121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674.5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Changing sequence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Global stop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1100.3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0.134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597.2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Changing sequence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Per action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1100.3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0.134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597.2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FBCB7"/>
                      </a:solidFill>
                      <a:prstDash val="solid"/>
                      <a:round/>
                      <a:headEnd type="none" w="med" len="med"/>
                      <a:tailEnd type="none" w="med" len="med"/>
                    </a:lnL>
                    <a:lnR w="12700" cap="flat" cmpd="sng" algn="ctr">
                      <a:solidFill>
                        <a:srgbClr val="BFBCB7"/>
                      </a:solidFill>
                      <a:prstDash val="solid"/>
                      <a:round/>
                      <a:headEnd type="none" w="med" len="med"/>
                      <a:tailEnd type="none" w="med" len="med"/>
                    </a:lnR>
                    <a:lnT w="12700" cap="flat" cmpd="sng" algn="ctr">
                      <a:solidFill>
                        <a:srgbClr val="BFBCB7"/>
                      </a:solidFill>
                      <a:prstDash val="solid"/>
                      <a:round/>
                      <a:headEnd type="none" w="med" len="med"/>
                      <a:tailEnd type="none" w="med" len="med"/>
                    </a:lnT>
                    <a:lnB w="12700" cap="flat" cmpd="sng" algn="ctr">
                      <a:solidFill>
                        <a:srgbClr val="BFBCB7"/>
                      </a:solidFill>
                      <a:prstDash val="solid"/>
                      <a:round/>
                      <a:headEnd type="none" w="med" len="med"/>
                      <a:tailEnd type="none" w="med" len="med"/>
                    </a:lnB>
                    <a:solidFill>
                      <a:srgbClr val="EFECE5"/>
                    </a:solidFill>
                  </a:tcPr>
                </a:tc>
              </a:tr>
            </a:tbl>
          </a:graphicData>
        </a:graphic>
      </p:graphicFrame>
      <p:sp>
        <p:nvSpPr>
          <p:cNvPr id="8" name="Text 5"/>
          <p:cNvSpPr/>
          <p:nvPr/>
        </p:nvSpPr>
        <p:spPr>
          <a:xfrm>
            <a:off x="812800" y="4377234"/>
            <a:ext cx="10566400" cy="853380"/>
          </a:xfrm>
          <a:prstGeom prst="roundRect">
            <a:avLst>
              <a:gd name="adj" fmla="val 8929"/>
            </a:avLst>
          </a:prstGeom>
          <a:solidFill>
            <a:srgbClr val="14263D"/>
          </a:solidFill>
          <a:ln/>
        </p:spPr>
        <p:txBody>
          <a:bodyPr wrap="square" lIns="206282" tIns="155482" rIns="0" bIns="130082" rtlCol="0" anchor="t">
            <a:normAutofit/>
          </a:bodyPr>
          <a:lstStyle/>
          <a:p>
            <a:pPr algn="l" indent="0" marL="0">
              <a:lnSpc>
                <a:spcPts val="1960"/>
              </a:lnSpc>
              <a:buNone/>
            </a:pPr>
            <a:r>
              <a:rPr lang="en-US" sz="1400" dirty="0">
                <a:solidFill>
                  <a:srgbClr val="F2EFE8"/>
                </a:solidFill>
                <a:latin typeface="IBM Plex Sans" pitchFamily="34" charset="0"/>
                <a:ea typeface="IBM Plex Sans" pitchFamily="34" charset="-122"/>
                <a:cs typeface="IBM Plex Sans" pitchFamily="34" charset="-120"/>
              </a:rPr>
              <a:t>The saved ablation supports rate calibration as the source of the observed improvement on these instances. It does not demonstrate a performance benefit from the guard change.</a:t>
            </a:r>
            <a:endParaRPr lang="en-US" sz="1400" dirty="0"/>
          </a:p>
        </p:txBody>
      </p:sp>
      <p:sp>
        <p:nvSpPr>
          <p:cNvPr id="9" name="Text 6"/>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8-trial ablation means, separate from the 10-trial main means. Source: R3 cells 18–19.</a:t>
            </a:r>
            <a:endParaRPr lang="en-US" sz="1200" dirty="0"/>
          </a:p>
        </p:txBody>
      </p:sp>
      <p:sp>
        <p:nvSpPr>
          <p:cNvPr id="10" name="Text 7"/>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A4</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APPENDIX A5 · SCENARIO 3 · HORIZON SWEEP</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Primal-dual pseudo-regret across tested horizons</a:t>
            </a:r>
            <a:endParaRPr lang="en-US" sz="2800" dirty="0"/>
          </a:p>
        </p:txBody>
      </p:sp>
      <p:sp>
        <p:nvSpPr>
          <p:cNvPr id="4" name="Text 2"/>
          <p:cNvSpPr/>
          <p:nvPr/>
        </p:nvSpPr>
        <p:spPr>
          <a:xfrm>
            <a:off x="812800" y="1671241"/>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Calibrated primal-dual · pseudo-regret per round at each tested horizon</a:t>
            </a:r>
            <a:endParaRPr lang="en-US" sz="1200" dirty="0"/>
          </a:p>
        </p:txBody>
      </p:sp>
      <p:pic>
        <p:nvPicPr>
          <p:cNvPr id="5" name="Image 0" descr="Two marker series at nine horizons from 100 to 3,000 rounds. Stochastic falls from 0.2650 to 0.1209; the changing sequence rises slightly from 0.2335 to 0.2357, then falls to 0.1337.">    </p:cNvPr>
          <p:cNvPicPr>
            <a:picLocks noChangeAspect="1"/>
          </p:cNvPicPr>
          <p:nvPr/>
        </p:nvPicPr>
        <p:blipFill>
          <a:blip r:embed="rId1"/>
          <a:srcRect l="0" r="0" t="-12" b="-12"/>
          <a:stretch/>
        </p:blipFill>
        <p:spPr>
          <a:xfrm>
            <a:off x="812800" y="1986161"/>
            <a:ext cx="6985000" cy="2794000"/>
          </a:xfrm>
          <a:prstGeom prst="rect">
            <a:avLst/>
          </a:prstGeom>
        </p:spPr>
      </p:pic>
      <p:sp>
        <p:nvSpPr>
          <p:cNvPr id="6" name="Text 3"/>
          <p:cNvSpPr/>
          <p:nvPr/>
        </p:nvSpPr>
        <p:spPr>
          <a:xfrm>
            <a:off x="762000" y="2398911"/>
            <a:ext cx="622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0.25</a:t>
            </a:r>
            <a:endParaRPr lang="en-US" sz="1200" dirty="0"/>
          </a:p>
        </p:txBody>
      </p:sp>
      <p:sp>
        <p:nvSpPr>
          <p:cNvPr id="7" name="Text 4"/>
          <p:cNvSpPr/>
          <p:nvPr/>
        </p:nvSpPr>
        <p:spPr>
          <a:xfrm>
            <a:off x="762000" y="3046611"/>
            <a:ext cx="622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0.20</a:t>
            </a:r>
            <a:endParaRPr lang="en-US" sz="1200" dirty="0"/>
          </a:p>
        </p:txBody>
      </p:sp>
      <p:sp>
        <p:nvSpPr>
          <p:cNvPr id="8" name="Text 5"/>
          <p:cNvSpPr/>
          <p:nvPr/>
        </p:nvSpPr>
        <p:spPr>
          <a:xfrm>
            <a:off x="762000" y="3700661"/>
            <a:ext cx="622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0.15</a:t>
            </a:r>
            <a:endParaRPr lang="en-US" sz="1200" dirty="0"/>
          </a:p>
        </p:txBody>
      </p:sp>
      <p:sp>
        <p:nvSpPr>
          <p:cNvPr id="9" name="Text 6"/>
          <p:cNvSpPr/>
          <p:nvPr/>
        </p:nvSpPr>
        <p:spPr>
          <a:xfrm>
            <a:off x="762000" y="4354711"/>
            <a:ext cx="6223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0.10</a:t>
            </a:r>
            <a:endParaRPr lang="en-US" sz="1200" dirty="0"/>
          </a:p>
        </p:txBody>
      </p:sp>
      <p:sp>
        <p:nvSpPr>
          <p:cNvPr id="10" name="Text 7"/>
          <p:cNvSpPr/>
          <p:nvPr/>
        </p:nvSpPr>
        <p:spPr>
          <a:xfrm>
            <a:off x="1898650" y="455156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500</a:t>
            </a:r>
            <a:endParaRPr lang="en-US" sz="1200" dirty="0"/>
          </a:p>
        </p:txBody>
      </p:sp>
      <p:sp>
        <p:nvSpPr>
          <p:cNvPr id="11" name="Text 8"/>
          <p:cNvSpPr/>
          <p:nvPr/>
        </p:nvSpPr>
        <p:spPr>
          <a:xfrm>
            <a:off x="2692400" y="455156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1,000</a:t>
            </a:r>
            <a:endParaRPr lang="en-US" sz="1200" dirty="0"/>
          </a:p>
        </p:txBody>
      </p:sp>
      <p:sp>
        <p:nvSpPr>
          <p:cNvPr id="12" name="Text 9"/>
          <p:cNvSpPr/>
          <p:nvPr/>
        </p:nvSpPr>
        <p:spPr>
          <a:xfrm>
            <a:off x="3486150" y="455156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1,500</a:t>
            </a:r>
            <a:endParaRPr lang="en-US" sz="1200" dirty="0"/>
          </a:p>
        </p:txBody>
      </p:sp>
      <p:sp>
        <p:nvSpPr>
          <p:cNvPr id="13" name="Text 10"/>
          <p:cNvSpPr/>
          <p:nvPr/>
        </p:nvSpPr>
        <p:spPr>
          <a:xfrm>
            <a:off x="4279900" y="455156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2,000</a:t>
            </a:r>
            <a:endParaRPr lang="en-US" sz="1200" dirty="0"/>
          </a:p>
        </p:txBody>
      </p:sp>
      <p:sp>
        <p:nvSpPr>
          <p:cNvPr id="14" name="Text 11"/>
          <p:cNvSpPr/>
          <p:nvPr/>
        </p:nvSpPr>
        <p:spPr>
          <a:xfrm>
            <a:off x="5073650" y="455156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2,500</a:t>
            </a:r>
            <a:endParaRPr lang="en-US" sz="1200" dirty="0"/>
          </a:p>
        </p:txBody>
      </p:sp>
      <p:sp>
        <p:nvSpPr>
          <p:cNvPr id="15" name="Text 12"/>
          <p:cNvSpPr/>
          <p:nvPr/>
        </p:nvSpPr>
        <p:spPr>
          <a:xfrm>
            <a:off x="5867400" y="4551561"/>
            <a:ext cx="812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3,000</a:t>
            </a:r>
            <a:endParaRPr lang="en-US" sz="1200" dirty="0"/>
          </a:p>
        </p:txBody>
      </p:sp>
      <p:sp>
        <p:nvSpPr>
          <p:cNvPr id="16" name="Text 13"/>
          <p:cNvSpPr/>
          <p:nvPr/>
        </p:nvSpPr>
        <p:spPr>
          <a:xfrm>
            <a:off x="5283200" y="2157611"/>
            <a:ext cx="255079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63D"/>
                </a:solidFill>
                <a:latin typeface="IBM Plex Sans" pitchFamily="34" charset="0"/>
                <a:ea typeface="IBM Plex Sans" pitchFamily="34" charset="-122"/>
                <a:cs typeface="IBM Plex Sans" pitchFamily="34" charset="-120"/>
              </a:rPr>
              <a:t>Stochastic</a:t>
            </a:r>
            <a:endParaRPr lang="en-US" sz="1200" dirty="0"/>
          </a:p>
        </p:txBody>
      </p:sp>
      <p:sp>
        <p:nvSpPr>
          <p:cNvPr id="17" name="Text 14"/>
          <p:cNvSpPr/>
          <p:nvPr/>
        </p:nvSpPr>
        <p:spPr>
          <a:xfrm>
            <a:off x="5283200" y="2475111"/>
            <a:ext cx="255079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7A80"/>
                </a:solidFill>
                <a:latin typeface="IBM Plex Sans" pitchFamily="34" charset="0"/>
                <a:ea typeface="IBM Plex Sans" pitchFamily="34" charset="-122"/>
                <a:cs typeface="IBM Plex Sans" pitchFamily="34" charset="-120"/>
              </a:rPr>
              <a:t>Changing sequence</a:t>
            </a:r>
            <a:endParaRPr lang="en-US" sz="1200" dirty="0"/>
          </a:p>
        </p:txBody>
      </p:sp>
      <p:sp>
        <p:nvSpPr>
          <p:cNvPr id="18" name="Text 15"/>
          <p:cNvSpPr/>
          <p:nvPr/>
        </p:nvSpPr>
        <p:spPr>
          <a:xfrm>
            <a:off x="6400800" y="381496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7A80"/>
                </a:solidFill>
                <a:latin typeface="IBM Plex Sans" pitchFamily="34" charset="0"/>
                <a:ea typeface="IBM Plex Sans" pitchFamily="34" charset="-122"/>
                <a:cs typeface="IBM Plex Sans" pitchFamily="34" charset="-120"/>
              </a:rPr>
              <a:t>0.1337</a:t>
            </a:r>
            <a:endParaRPr lang="en-US" sz="1200" dirty="0"/>
          </a:p>
        </p:txBody>
      </p:sp>
      <p:sp>
        <p:nvSpPr>
          <p:cNvPr id="19" name="Text 16"/>
          <p:cNvSpPr/>
          <p:nvPr/>
        </p:nvSpPr>
        <p:spPr>
          <a:xfrm>
            <a:off x="6400800" y="4145161"/>
            <a:ext cx="1447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63D"/>
                </a:solidFill>
                <a:latin typeface="IBM Plex Sans" pitchFamily="34" charset="0"/>
                <a:ea typeface="IBM Plex Sans" pitchFamily="34" charset="-122"/>
                <a:cs typeface="IBM Plex Sans" pitchFamily="34" charset="-120"/>
              </a:rPr>
              <a:t>0.1209</a:t>
            </a:r>
            <a:endParaRPr lang="en-US" sz="1200" dirty="0"/>
          </a:p>
        </p:txBody>
      </p:sp>
      <p:sp>
        <p:nvSpPr>
          <p:cNvPr id="20" name="Text 17"/>
          <p:cNvSpPr/>
          <p:nvPr/>
        </p:nvSpPr>
        <p:spPr>
          <a:xfrm>
            <a:off x="812800" y="4881761"/>
            <a:ext cx="7194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Horizon T (rounds). Markers at the nine tested horizons, 100 to 3,000.</a:t>
            </a:r>
            <a:endParaRPr lang="en-US" sz="1200" dirty="0"/>
          </a:p>
        </p:txBody>
      </p:sp>
      <p:sp>
        <p:nvSpPr>
          <p:cNvPr id="21" name="Text 18"/>
          <p:cNvSpPr/>
          <p:nvPr/>
        </p:nvSpPr>
        <p:spPr>
          <a:xfrm>
            <a:off x="8204200" y="1671241"/>
            <a:ext cx="3270250" cy="102096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Normalized pseudo-regret decreases overall across the tested horizons, with a small initial increase for the changing sequence.</a:t>
            </a:r>
            <a:endParaRPr lang="en-US" sz="1400" dirty="0"/>
          </a:p>
        </p:txBody>
      </p:sp>
      <p:sp>
        <p:nvSpPr>
          <p:cNvPr id="22" name="Text 19"/>
          <p:cNvSpPr/>
          <p:nvPr/>
        </p:nvSpPr>
        <p:spPr>
          <a:xfrm>
            <a:off x="8204200" y="2819202"/>
            <a:ext cx="32702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46A"/>
                </a:solidFill>
                <a:latin typeface="IBM Plex Sans" pitchFamily="34" charset="0"/>
                <a:ea typeface="IBM Plex Sans" pitchFamily="34" charset="-122"/>
                <a:cs typeface="IBM Plex Sans" pitchFamily="34" charset="-120"/>
              </a:rPr>
              <a:t>Eight trials per horizon; B/T held fixed at 700/3,000.</a:t>
            </a:r>
            <a:endParaRPr lang="en-US" sz="1200" dirty="0"/>
          </a:p>
        </p:txBody>
      </p:sp>
      <p:sp>
        <p:nvSpPr>
          <p:cNvPr id="23" name="Text 20"/>
          <p:cNvSpPr/>
          <p:nvPr/>
        </p:nvSpPr>
        <p:spPr>
          <a:xfrm>
            <a:off x="8204200" y="3398242"/>
            <a:ext cx="32702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6546A"/>
                </a:solidFill>
                <a:latin typeface="IBM Plex Sans" pitchFamily="34" charset="0"/>
                <a:ea typeface="IBM Plex Sans" pitchFamily="34" charset="-122"/>
                <a:cs typeface="IBM Plex Sans" pitchFamily="34" charset="-120"/>
              </a:rPr>
              <a:t>Finite-horizon evidence only: no fitted rate and no asymptotic guarantee.</a:t>
            </a:r>
            <a:endParaRPr lang="en-US" sz="1200" dirty="0"/>
          </a:p>
        </p:txBody>
      </p:sp>
      <p:sp>
        <p:nvSpPr>
          <p:cNvPr id="24" name="Text 2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Source: R3 cell 21 (printed horizon sweep). Comparator: best fixed distribution in hindsight.</a:t>
            </a:r>
            <a:endParaRPr lang="en-US" sz="1200" dirty="0"/>
          </a:p>
        </p:txBody>
      </p:sp>
      <p:sp>
        <p:nvSpPr>
          <p:cNvPr id="25"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A5</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3EE"/>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B8492A"/>
                </a:solidFill>
                <a:latin typeface="IBM Plex Mono" pitchFamily="49" charset="0"/>
                <a:ea typeface="IBM Plex Mono" pitchFamily="49" charset="-122"/>
                <a:cs typeface="IBM Plex Mono" pitchFamily="49" charset="-120"/>
              </a:rPr>
              <a:t>APPENDIX A6 · SCENARIO 4 · ABLATION AND SPENDING</a:t>
            </a:r>
            <a:endParaRPr lang="en-US" sz="1200" dirty="0"/>
          </a:p>
        </p:txBody>
      </p:sp>
      <p:sp>
        <p:nvSpPr>
          <p:cNvPr id="3" name="Text 1"/>
          <p:cNvSpPr/>
          <p:nvPr>
            <p:ph type="title"/>
          </p:nvPr>
        </p:nvSpPr>
        <p:spPr>
          <a:xfrm>
            <a:off x="812800" y="10261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spc="-50" kern="0" dirty="0">
                <a:solidFill>
                  <a:srgbClr val="14263D"/>
                </a:solidFill>
                <a:latin typeface="IBM Plex Sans" pitchFamily="34" charset="0"/>
                <a:ea typeface="IBM Plex Sans" pitchFamily="34" charset="-122"/>
                <a:cs typeface="IBM Plex Sans" pitchFamily="34" charset="-120"/>
              </a:rPr>
              <a:t>Window width and expenditure remain distinct effects</a:t>
            </a:r>
            <a:endParaRPr lang="en-US" sz="2800" dirty="0"/>
          </a:p>
        </p:txBody>
      </p:sp>
      <p:sp>
        <p:nvSpPr>
          <p:cNvPr id="4" name="Text 2"/>
          <p:cNvSpPr/>
          <p:nvPr/>
        </p:nvSpPr>
        <p:spPr>
          <a:xfrm>
            <a:off x="812800" y="1671241"/>
            <a:ext cx="510159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SW-UCB window ablation</a:t>
            </a:r>
            <a:endParaRPr lang="en-US" sz="1400" dirty="0"/>
          </a:p>
        </p:txBody>
      </p:sp>
      <p:sp>
        <p:nvSpPr>
          <p:cNvPr id="5" name="Text 3"/>
          <p:cNvSpPr/>
          <p:nvPr/>
        </p:nvSpPr>
        <p:spPr>
          <a:xfrm>
            <a:off x="812800" y="2021731"/>
            <a:ext cx="510159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Mean final local gap · lower is better · empirical costs and pacing held fixed</a:t>
            </a:r>
            <a:endParaRPr lang="en-US" sz="1200" dirty="0"/>
          </a:p>
        </p:txBody>
      </p:sp>
      <p:sp>
        <p:nvSpPr>
          <p:cNvPr id="6" name="Text 4"/>
          <p:cNvSpPr/>
          <p:nvPr/>
        </p:nvSpPr>
        <p:spPr>
          <a:xfrm>
            <a:off x="812800" y="2688382"/>
            <a:ext cx="1193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5F6B7A"/>
                </a:solidFill>
                <a:latin typeface="IBM Plex Sans" pitchFamily="34" charset="0"/>
                <a:ea typeface="IBM Plex Sans" pitchFamily="34" charset="-122"/>
                <a:cs typeface="IBM Plex Sans" pitchFamily="34" charset="-120"/>
              </a:rPr>
              <a:t>219 rounds</a:t>
            </a:r>
            <a:endParaRPr lang="en-US" sz="1400" dirty="0"/>
          </a:p>
        </p:txBody>
      </p:sp>
      <p:sp>
        <p:nvSpPr>
          <p:cNvPr id="7" name="Shape 5"/>
          <p:cNvSpPr/>
          <p:nvPr/>
        </p:nvSpPr>
        <p:spPr>
          <a:xfrm>
            <a:off x="2063750" y="2600771"/>
            <a:ext cx="0" cy="406400"/>
          </a:xfrm>
          <a:prstGeom prst="line">
            <a:avLst/>
          </a:prstGeom>
          <a:noFill/>
          <a:ln w="12700">
            <a:solidFill>
              <a:srgbClr val="14263D"/>
            </a:solidFill>
            <a:prstDash val="solid"/>
          </a:ln>
        </p:spPr>
      </p:sp>
      <p:sp>
        <p:nvSpPr>
          <p:cNvPr id="8" name="Shape 6"/>
          <p:cNvSpPr/>
          <p:nvPr/>
        </p:nvSpPr>
        <p:spPr>
          <a:xfrm>
            <a:off x="2070100" y="2600771"/>
            <a:ext cx="2520950" cy="406400"/>
          </a:xfrm>
          <a:prstGeom prst="rect">
            <a:avLst/>
          </a:prstGeom>
          <a:solidFill>
            <a:srgbClr val="A9B4C2"/>
          </a:solidFill>
          <a:ln/>
        </p:spPr>
      </p:sp>
      <p:sp>
        <p:nvSpPr>
          <p:cNvPr id="9" name="Text 7"/>
          <p:cNvSpPr/>
          <p:nvPr/>
        </p:nvSpPr>
        <p:spPr>
          <a:xfrm>
            <a:off x="4692650" y="2666802"/>
            <a:ext cx="66779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5F6B7A"/>
                </a:solidFill>
                <a:latin typeface="IBM Plex Sans" pitchFamily="34" charset="0"/>
                <a:ea typeface="IBM Plex Sans" pitchFamily="34" charset="-122"/>
                <a:cs typeface="IBM Plex Sans" pitchFamily="34" charset="-120"/>
              </a:rPr>
              <a:t>496.1</a:t>
            </a:r>
            <a:endParaRPr lang="en-US" sz="1800" dirty="0"/>
          </a:p>
        </p:txBody>
      </p:sp>
      <p:sp>
        <p:nvSpPr>
          <p:cNvPr id="10" name="Text 8"/>
          <p:cNvSpPr/>
          <p:nvPr/>
        </p:nvSpPr>
        <p:spPr>
          <a:xfrm>
            <a:off x="812800" y="3196382"/>
            <a:ext cx="1193800" cy="25653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B8492A"/>
                </a:solidFill>
                <a:latin typeface="IBM Plex Sans" pitchFamily="34" charset="0"/>
                <a:ea typeface="IBM Plex Sans" pitchFamily="34" charset="-122"/>
                <a:cs typeface="IBM Plex Sans" pitchFamily="34" charset="-120"/>
              </a:rPr>
              <a:t>500 rounds</a:t>
            </a:r>
            <a:endParaRPr lang="en-US" sz="1400" dirty="0"/>
          </a:p>
        </p:txBody>
      </p:sp>
      <p:sp>
        <p:nvSpPr>
          <p:cNvPr id="11" name="Shape 9"/>
          <p:cNvSpPr/>
          <p:nvPr/>
        </p:nvSpPr>
        <p:spPr>
          <a:xfrm>
            <a:off x="2063750" y="3108771"/>
            <a:ext cx="0" cy="406400"/>
          </a:xfrm>
          <a:prstGeom prst="line">
            <a:avLst/>
          </a:prstGeom>
          <a:noFill/>
          <a:ln w="12700">
            <a:solidFill>
              <a:srgbClr val="14263D"/>
            </a:solidFill>
            <a:prstDash val="solid"/>
          </a:ln>
        </p:spPr>
      </p:sp>
      <p:sp>
        <p:nvSpPr>
          <p:cNvPr id="12" name="Shape 10"/>
          <p:cNvSpPr/>
          <p:nvPr/>
        </p:nvSpPr>
        <p:spPr>
          <a:xfrm>
            <a:off x="2070100" y="3108771"/>
            <a:ext cx="2114550" cy="406400"/>
          </a:xfrm>
          <a:prstGeom prst="rect">
            <a:avLst/>
          </a:prstGeom>
          <a:solidFill>
            <a:srgbClr val="B8492A"/>
          </a:solidFill>
          <a:ln/>
        </p:spPr>
      </p:sp>
      <p:sp>
        <p:nvSpPr>
          <p:cNvPr id="13" name="Text 11"/>
          <p:cNvSpPr/>
          <p:nvPr/>
        </p:nvSpPr>
        <p:spPr>
          <a:xfrm>
            <a:off x="4286250" y="3174802"/>
            <a:ext cx="66779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8492A"/>
                </a:solidFill>
                <a:latin typeface="IBM Plex Sans" pitchFamily="34" charset="0"/>
                <a:ea typeface="IBM Plex Sans" pitchFamily="34" charset="-122"/>
                <a:cs typeface="IBM Plex Sans" pitchFamily="34" charset="-120"/>
              </a:rPr>
              <a:t>416.6</a:t>
            </a:r>
            <a:endParaRPr lang="en-US" sz="1800" dirty="0"/>
          </a:p>
        </p:txBody>
      </p:sp>
      <p:sp>
        <p:nvSpPr>
          <p:cNvPr id="14" name="Text 12"/>
          <p:cNvSpPr/>
          <p:nvPr/>
        </p:nvSpPr>
        <p:spPr>
          <a:xfrm>
            <a:off x="6172200" y="1671241"/>
            <a:ext cx="53632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Mean spend of 560</a:t>
            </a:r>
            <a:endParaRPr lang="en-US" sz="1400" dirty="0"/>
          </a:p>
        </p:txBody>
      </p:sp>
      <p:sp>
        <p:nvSpPr>
          <p:cNvPr id="15" name="Shape 13"/>
          <p:cNvSpPr/>
          <p:nvPr/>
        </p:nvSpPr>
        <p:spPr>
          <a:xfrm>
            <a:off x="11376025" y="2021731"/>
            <a:ext cx="0" cy="1563092"/>
          </a:xfrm>
          <a:prstGeom prst="line">
            <a:avLst/>
          </a:prstGeom>
          <a:noFill/>
          <a:ln w="6350">
            <a:solidFill>
              <a:srgbClr val="DCD8CF"/>
            </a:solidFill>
            <a:prstDash val="solid"/>
          </a:ln>
        </p:spPr>
      </p:sp>
      <p:sp>
        <p:nvSpPr>
          <p:cNvPr id="16" name="Shape 14"/>
          <p:cNvSpPr/>
          <p:nvPr/>
        </p:nvSpPr>
        <p:spPr>
          <a:xfrm>
            <a:off x="6172200" y="3581648"/>
            <a:ext cx="5207000" cy="0"/>
          </a:xfrm>
          <a:prstGeom prst="line">
            <a:avLst/>
          </a:prstGeom>
          <a:noFill/>
          <a:ln w="6350">
            <a:solidFill>
              <a:srgbClr val="DCD8CF"/>
            </a:solidFill>
            <a:prstDash val="solid"/>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184900" y="2034431"/>
          <a:ext cx="5187950" cy="1544042"/>
        </p:xfrm>
        <a:graphic>
          <a:graphicData uri="http://schemas.openxmlformats.org/drawingml/2006/table">
            <a:tbl>
              <a:tblPr/>
              <a:tblGrid>
                <a:gridCol w="2075180"/>
                <a:gridCol w="1556385"/>
                <a:gridCol w="1556385"/>
              </a:tblGrid>
              <a:tr h="386011">
                <a:tc>
                  <a:txBody>
                    <a:bodyPr/>
                    <a:lstStyle/>
                    <a:p>
                      <a:pP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Method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Baseline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c>
                  <a:txBody>
                    <a:bodyPr/>
                    <a:lstStyle/>
                    <a:p>
                      <a:pPr algn="r" indent="0" marL="0">
                        <a:lnSpc>
                          <a:spcPts val="1960"/>
                        </a:lnSpc>
                        <a:buNone/>
                      </a:pPr>
                      <a:r>
                        <a:rPr lang="en-US" sz="1400" b="1" dirty="0">
                          <a:solidFill>
                            <a:srgbClr val="14263D"/>
                          </a:solidFill>
                          <a:latin typeface="IBM Plex Sans" pitchFamily="34" charset="0"/>
                          <a:ea typeface="IBM Plex Sans" pitchFamily="34" charset="-122"/>
                          <a:cs typeface="IBM Plex Sans" pitchFamily="34" charset="-120"/>
                        </a:rPr>
                        <a:t>Revised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9B6AF"/>
                      </a:solidFill>
                      <a:prstDash val="solid"/>
                      <a:round/>
                      <a:headEnd type="none" w="med" len="med"/>
                      <a:tailEnd type="none" w="med" len="med"/>
                    </a:lnL>
                    <a:lnR w="12700" cap="flat" cmpd="sng" algn="ctr">
                      <a:solidFill>
                        <a:srgbClr val="B9B6AF"/>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9B6AF"/>
                      </a:solidFill>
                      <a:prstDash val="solid"/>
                      <a:round/>
                      <a:headEnd type="none" w="med" len="med"/>
                      <a:tailEnd type="none" w="med" len="med"/>
                    </a:lnB>
                    <a:solidFill>
                      <a:srgbClr val="E8E4DB"/>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SW-UCB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559.98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559.81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B9B6AF"/>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CUSUM-UCB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559.97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559.60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Primal-dual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2BE"/>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393.41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348.92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18" name="Shape 15"/>
          <p:cNvSpPr/>
          <p:nvPr/>
        </p:nvSpPr>
        <p:spPr>
          <a:xfrm>
            <a:off x="815975" y="3841998"/>
            <a:ext cx="5175250" cy="1123851"/>
          </a:xfrm>
          <a:prstGeom prst="roundRect">
            <a:avLst>
              <a:gd name="adj" fmla="val 6498"/>
            </a:avLst>
          </a:prstGeom>
          <a:solidFill>
            <a:srgbClr val="FCFBF8"/>
          </a:solidFill>
          <a:ln w="6350">
            <a:solidFill>
              <a:srgbClr val="DCD8CF"/>
            </a:solidFill>
            <a:prstDash val="solid"/>
          </a:ln>
        </p:spPr>
      </p:sp>
      <p:sp>
        <p:nvSpPr>
          <p:cNvPr id="19" name="Text 16"/>
          <p:cNvSpPr/>
          <p:nvPr/>
        </p:nvSpPr>
        <p:spPr>
          <a:xfrm>
            <a:off x="1022350" y="4022973"/>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PRIMAL-DUAL</a:t>
            </a:r>
            <a:endParaRPr lang="en-US" sz="1200" dirty="0"/>
          </a:p>
        </p:txBody>
      </p:sp>
      <p:sp>
        <p:nvSpPr>
          <p:cNvPr id="20" name="Text 17"/>
          <p:cNvSpPr/>
          <p:nvPr/>
        </p:nvSpPr>
        <p:spPr>
          <a:xfrm>
            <a:off x="1022350" y="4287093"/>
            <a:ext cx="490537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Improves utility while spending less, leaving 211.08 of 560 unused.</a:t>
            </a:r>
            <a:endParaRPr lang="en-US" sz="1400" dirty="0"/>
          </a:p>
        </p:txBody>
      </p:sp>
      <p:sp>
        <p:nvSpPr>
          <p:cNvPr id="21" name="Shape 18"/>
          <p:cNvSpPr/>
          <p:nvPr/>
        </p:nvSpPr>
        <p:spPr>
          <a:xfrm>
            <a:off x="6200775" y="3841998"/>
            <a:ext cx="5175250" cy="1123851"/>
          </a:xfrm>
          <a:prstGeom prst="roundRect">
            <a:avLst>
              <a:gd name="adj" fmla="val 6498"/>
            </a:avLst>
          </a:prstGeom>
          <a:solidFill>
            <a:srgbClr val="FCFBF8"/>
          </a:solidFill>
          <a:ln w="6350">
            <a:solidFill>
              <a:srgbClr val="DCD8CF"/>
            </a:solidFill>
            <a:prstDash val="solid"/>
          </a:ln>
        </p:spPr>
      </p:sp>
      <p:sp>
        <p:nvSpPr>
          <p:cNvPr id="22" name="Text 19"/>
          <p:cNvSpPr/>
          <p:nvPr/>
        </p:nvSpPr>
        <p:spPr>
          <a:xfrm>
            <a:off x="6407150" y="4022973"/>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CUSUM DIAGNOSTIC</a:t>
            </a:r>
            <a:endParaRPr lang="en-US" sz="1200" dirty="0"/>
          </a:p>
        </p:txBody>
      </p:sp>
      <p:sp>
        <p:nvSpPr>
          <p:cNvPr id="23" name="Text 20"/>
          <p:cNvSpPr/>
          <p:nvPr/>
        </p:nvSpPr>
        <p:spPr>
          <a:xfrm>
            <a:off x="6407150" y="4287093"/>
            <a:ext cx="4905375"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63D"/>
                </a:solidFill>
                <a:latin typeface="IBM Plex Sans" pitchFamily="34" charset="0"/>
                <a:ea typeface="IBM Plex Sans" pitchFamily="34" charset="-122"/>
                <a:cs typeface="IBM Plex Sans" pitchFamily="34" charset="-120"/>
              </a:rPr>
              <a:t>Mean resets rise from 18.2 to 32.0; reset counts do not measure detection accuracy.</a:t>
            </a:r>
            <a:endParaRPr lang="en-US" sz="1400" dirty="0"/>
          </a:p>
        </p:txBody>
      </p:sp>
      <p:sp>
        <p:nvSpPr>
          <p:cNvPr id="24" name="Text 2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A"/>
                </a:solidFill>
                <a:latin typeface="IBM Plex Sans" pitchFamily="34" charset="0"/>
                <a:ea typeface="IBM Plex Sans" pitchFamily="34" charset="-122"/>
                <a:cs typeface="IBM Plex Sans" pitchFamily="34" charset="-120"/>
              </a:rPr>
              <a:t>30 paired trials. Sources: R4 cells 19–20 (window); B4/R4 cell 17 (spend); B4 cell 20, R4 cell 22 (resets).</a:t>
            </a:r>
            <a:endParaRPr lang="en-US" sz="1200" dirty="0"/>
          </a:p>
        </p:txBody>
      </p:sp>
      <p:sp>
        <p:nvSpPr>
          <p:cNvPr id="25" name="Text 22"/>
          <p:cNvSpPr/>
          <p:nvPr/>
        </p:nvSpPr>
        <p:spPr>
          <a:xfrm>
            <a:off x="10566400" y="6238280"/>
            <a:ext cx="812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A"/>
                </a:solidFill>
                <a:latin typeface="IBM Plex Mono" pitchFamily="49" charset="0"/>
                <a:ea typeface="IBM Plex Mono" pitchFamily="49" charset="-122"/>
                <a:cs typeface="IBM Plex Mono" pitchFamily="49" charset="-120"/>
              </a:rPr>
              <a:t>A6</a:t>
            </a:r>
            <a:endParaRPr lang="en-US" sz="1200" dirty="0"/>
          </a:p>
        </p:txBody>
      </p:sp>
    </p:spTree>
  </p:cSld>
  <p:clrMapOvr>
    <a:masterClrMapping/>
  </p:clrMapOvr>
</p:sld>
</file>

<file path=ppt/theme/theme1.xml><?xml version="1.0" encoding="utf-8"?>
<a:theme xmlns:a="http://schemas.openxmlformats.org/drawingml/2006/main" name="Adaptive Budget Allocation for Online Advertising">
  <a:themeElements>
    <a:clrScheme name="Adaptive Budget Allocation for Online Advertising">
      <a:dk1>
        <a:srgbClr val="14263D"/>
      </a:dk1>
      <a:lt1>
        <a:srgbClr val="F5F3EE"/>
      </a:lt1>
      <a:dk2>
        <a:srgbClr val="4C5969"/>
      </a:dk2>
      <a:lt2>
        <a:srgbClr val="DFDFDC"/>
      </a:lt2>
      <a:accent1>
        <a:srgbClr val="B8492A"/>
      </a:accent1>
      <a:accent2>
        <a:srgbClr val="E58A66"/>
      </a:accent2>
      <a:accent3>
        <a:srgbClr val="2F7A80"/>
      </a:accent3>
      <a:accent4>
        <a:srgbClr val="5F6B7A"/>
      </a:accent4>
      <a:accent5>
        <a:srgbClr val="46546A"/>
      </a:accent5>
      <a:accent6>
        <a:srgbClr val="A9B4C2"/>
      </a:accent6>
      <a:hlink>
        <a:srgbClr val="0563C1"/>
      </a:hlink>
      <a:folHlink>
        <a:srgbClr val="954F72"/>
      </a:folHlink>
    </a:clrScheme>
    <a:fontScheme name="Adaptive Budget Allocation for Online Advertis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Budget Allocation for Online Advertising</dc:title>
  <dc:subject/>
  <dc:creator/>
  <cp:lastModifiedBy/>
  <cp:revision>1</cp:revision>
  <dcterms:created xsi:type="dcterms:W3CDTF">2026-10-15T03:29:32Z</dcterms:created>
  <dcterms:modified xsi:type="dcterms:W3CDTF">2026-10-15T03:29:32Z</dcterms:modified>
</cp:coreProperties>
</file>